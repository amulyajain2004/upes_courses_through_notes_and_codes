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7" r:id="rId2"/>
    <p:sldId id="259" r:id="rId3"/>
    <p:sldId id="260" r:id="rId4"/>
    <p:sldId id="261" r:id="rId5"/>
    <p:sldId id="266" r:id="rId6"/>
    <p:sldId id="267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113A9D2-9D6B-4929-AA2D-F23B5EE8CBE7}" styleName="Themed Style 2 –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8A107856-5554-42FB-B03E-39F5DBC370BA}" styleName="Medium Style 4 –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Medium Style 4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74"/>
  </p:normalViewPr>
  <p:slideViewPr>
    <p:cSldViewPr snapToGrid="0">
      <p:cViewPr varScale="1">
        <p:scale>
          <a:sx n="121" d="100"/>
          <a:sy n="121" d="100"/>
        </p:scale>
        <p:origin x="200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D228D-7F33-F341-8568-80C1D51FE85F}" type="datetimeFigureOut">
              <a:rPr lang="en-US" smtClean="0"/>
              <a:t>2/10/25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882B5-3A16-484D-989B-417D5DE279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054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D228D-7F33-F341-8568-80C1D51FE85F}" type="datetimeFigureOut">
              <a:rPr lang="en-US" smtClean="0"/>
              <a:t>2/10/25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882B5-3A16-484D-989B-417D5DE279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5773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D228D-7F33-F341-8568-80C1D51FE85F}" type="datetimeFigureOut">
              <a:rPr lang="en-US" smtClean="0"/>
              <a:t>2/10/25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882B5-3A16-484D-989B-417D5DE279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931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D228D-7F33-F341-8568-80C1D51FE85F}" type="datetimeFigureOut">
              <a:rPr lang="en-US" smtClean="0"/>
              <a:t>2/10/25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882B5-3A16-484D-989B-417D5DE279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351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D228D-7F33-F341-8568-80C1D51FE85F}" type="datetimeFigureOut">
              <a:rPr lang="en-US" smtClean="0"/>
              <a:t>2/10/25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882B5-3A16-484D-989B-417D5DE279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373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D228D-7F33-F341-8568-80C1D51FE85F}" type="datetimeFigureOut">
              <a:rPr lang="en-US" smtClean="0"/>
              <a:t>2/10/25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882B5-3A16-484D-989B-417D5DE279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4007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D228D-7F33-F341-8568-80C1D51FE85F}" type="datetimeFigureOut">
              <a:rPr lang="en-US" smtClean="0"/>
              <a:t>2/10/25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882B5-3A16-484D-989B-417D5DE279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693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D228D-7F33-F341-8568-80C1D51FE85F}" type="datetimeFigureOut">
              <a:rPr lang="en-US" smtClean="0"/>
              <a:t>2/10/25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882B5-3A16-484D-989B-417D5DE279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8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D228D-7F33-F341-8568-80C1D51FE85F}" type="datetimeFigureOut">
              <a:rPr lang="en-US" smtClean="0"/>
              <a:t>2/10/25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882B5-3A16-484D-989B-417D5DE279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945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D228D-7F33-F341-8568-80C1D51FE85F}" type="datetimeFigureOut">
              <a:rPr lang="en-US" smtClean="0"/>
              <a:t>2/10/25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882B5-3A16-484D-989B-417D5DE279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1234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D228D-7F33-F341-8568-80C1D51FE85F}" type="datetimeFigureOut">
              <a:rPr lang="en-US" smtClean="0"/>
              <a:t>2/10/25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882B5-3A16-484D-989B-417D5DE27953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928543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D228D-7F33-F341-8568-80C1D51FE85F}" type="datetimeFigureOut">
              <a:rPr lang="en-US" smtClean="0"/>
              <a:t>2/10/25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882B5-3A16-484D-989B-417D5DE279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8805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D228D-7F33-F341-8568-80C1D51FE85F}" type="datetimeFigureOut">
              <a:rPr lang="en-US" smtClean="0"/>
              <a:t>2/10/25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882B5-3A16-484D-989B-417D5DE27953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114736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D228D-7F33-F341-8568-80C1D51FE85F}" type="datetimeFigureOut">
              <a:rPr lang="en-US" smtClean="0"/>
              <a:t>2/10/25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882B5-3A16-484D-989B-417D5DE279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1767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D228D-7F33-F341-8568-80C1D51FE85F}" type="datetimeFigureOut">
              <a:rPr lang="en-US" smtClean="0"/>
              <a:t>2/10/25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882B5-3A16-484D-989B-417D5DE279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5686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D228D-7F33-F341-8568-80C1D51FE85F}" type="datetimeFigureOut">
              <a:rPr lang="en-US" smtClean="0"/>
              <a:t>2/10/25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882B5-3A16-484D-989B-417D5DE279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472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9D228D-7F33-F341-8568-80C1D51FE85F}" type="datetimeFigureOut">
              <a:rPr lang="en-US" smtClean="0"/>
              <a:t>2/10/25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FA882B5-3A16-484D-989B-417D5DE279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599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4A1B6-9886-2905-A346-AD7213DC7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Network Virtualization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B92E52-DA19-8F64-9143-1A6B564BB5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Network virtualization can be categorized into </a:t>
            </a:r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External Virtualization</a:t>
            </a:r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(combining multiple networks) and </a:t>
            </a:r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Internal Virtualization</a:t>
            </a:r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(creating logical networks within a single infrastructure).</a:t>
            </a:r>
          </a:p>
          <a:p>
            <a:endParaRPr lang="en-IN" dirty="0">
              <a:solidFill>
                <a:srgbClr val="000000"/>
              </a:solidFill>
              <a:latin typeface="-webkit-standard"/>
            </a:endParaRPr>
          </a:p>
          <a:p>
            <a:r>
              <a:rPr lang="en-IN" dirty="0">
                <a:solidFill>
                  <a:srgbClr val="000000"/>
                </a:solidFill>
                <a:latin typeface="-webkit-standard"/>
              </a:rPr>
              <a:t>Internal network virtualization creates </a:t>
            </a:r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multiple virtual networks (</a:t>
            </a:r>
            <a:r>
              <a:rPr lang="en-IN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VNets</a:t>
            </a:r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) on a shared physical infrastructure using software-defined methods.</a:t>
            </a:r>
          </a:p>
          <a:p>
            <a:endParaRPr lang="en-IN" dirty="0">
              <a:solidFill>
                <a:srgbClr val="000000"/>
              </a:solidFill>
              <a:latin typeface="-webkit-standard"/>
            </a:endParaRPr>
          </a:p>
          <a:p>
            <a:r>
              <a:rPr lang="en-IN" dirty="0">
                <a:solidFill>
                  <a:srgbClr val="000000"/>
                </a:solidFill>
                <a:latin typeface="-webkit-standard"/>
              </a:rPr>
              <a:t>It works at both Layer 2 (Data Link) and Layer 3 (Network) using virtualized network devices.</a:t>
            </a:r>
          </a:p>
          <a:p>
            <a:endParaRPr lang="en-IN" dirty="0">
              <a:solidFill>
                <a:srgbClr val="000000"/>
              </a:solidFill>
              <a:latin typeface="-webkit-standard"/>
            </a:endParaRPr>
          </a:p>
          <a:p>
            <a:r>
              <a:rPr lang="en-IN" dirty="0">
                <a:solidFill>
                  <a:srgbClr val="000000"/>
                </a:solidFill>
                <a:latin typeface="-webkit-standard"/>
              </a:rPr>
              <a:t>It provides complete network isolation between virtual networks, often with </a:t>
            </a:r>
            <a:r>
              <a:rPr lang="en-IN" dirty="0" err="1">
                <a:solidFill>
                  <a:srgbClr val="000000"/>
                </a:solidFill>
                <a:latin typeface="-webkit-standard"/>
              </a:rPr>
              <a:t>microsegmentation</a:t>
            </a:r>
            <a:r>
              <a:rPr lang="en-IN" dirty="0">
                <a:solidFill>
                  <a:srgbClr val="000000"/>
                </a:solidFill>
                <a:latin typeface="-webkit-standard"/>
              </a:rPr>
              <a:t> and firewalls.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95045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DDF7AC2-797D-DFAC-CA23-A48902D1EE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2099222"/>
              </p:ext>
            </p:extLst>
          </p:nvPr>
        </p:nvGraphicFramePr>
        <p:xfrm>
          <a:off x="977462" y="924910"/>
          <a:ext cx="7441323" cy="5559970"/>
        </p:xfrm>
        <a:graphic>
          <a:graphicData uri="http://schemas.openxmlformats.org/drawingml/2006/table">
            <a:tbl>
              <a:tblPr>
                <a:tableStyleId>{D113A9D2-9D6B-4929-AA2D-F23B5EE8CBE7}</a:tableStyleId>
              </a:tblPr>
              <a:tblGrid>
                <a:gridCol w="2480441">
                  <a:extLst>
                    <a:ext uri="{9D8B030D-6E8A-4147-A177-3AD203B41FA5}">
                      <a16:colId xmlns:a16="http://schemas.microsoft.com/office/drawing/2014/main" val="1600366518"/>
                    </a:ext>
                  </a:extLst>
                </a:gridCol>
                <a:gridCol w="2480441">
                  <a:extLst>
                    <a:ext uri="{9D8B030D-6E8A-4147-A177-3AD203B41FA5}">
                      <a16:colId xmlns:a16="http://schemas.microsoft.com/office/drawing/2014/main" val="4218144590"/>
                    </a:ext>
                  </a:extLst>
                </a:gridCol>
                <a:gridCol w="2480441">
                  <a:extLst>
                    <a:ext uri="{9D8B030D-6E8A-4147-A177-3AD203B41FA5}">
                      <a16:colId xmlns:a16="http://schemas.microsoft.com/office/drawing/2014/main" val="763467791"/>
                    </a:ext>
                  </a:extLst>
                </a:gridCol>
              </a:tblGrid>
              <a:tr h="313868">
                <a:tc>
                  <a:txBody>
                    <a:bodyPr/>
                    <a:lstStyle/>
                    <a:p>
                      <a:r>
                        <a:rPr lang="en-IN" sz="900" b="1" dirty="0"/>
                        <a:t>Feature</a:t>
                      </a:r>
                    </a:p>
                  </a:txBody>
                  <a:tcPr marL="23812" marR="23812" marT="11906" marB="11906" anchor="ctr"/>
                </a:tc>
                <a:tc>
                  <a:txBody>
                    <a:bodyPr/>
                    <a:lstStyle/>
                    <a:p>
                      <a:r>
                        <a:rPr lang="en-IN" sz="900" b="1" dirty="0"/>
                        <a:t>Physical Network Infrastructure</a:t>
                      </a:r>
                    </a:p>
                  </a:txBody>
                  <a:tcPr marL="23812" marR="23812" marT="11906" marB="11906" anchor="ctr"/>
                </a:tc>
                <a:tc>
                  <a:txBody>
                    <a:bodyPr/>
                    <a:lstStyle/>
                    <a:p>
                      <a:r>
                        <a:rPr lang="en-IN" sz="900" b="1" dirty="0"/>
                        <a:t>Virtual Network Infrastructure</a:t>
                      </a:r>
                    </a:p>
                  </a:txBody>
                  <a:tcPr marL="23812" marR="23812" marT="11906" marB="11906" anchor="ctr"/>
                </a:tc>
                <a:extLst>
                  <a:ext uri="{0D108BD9-81ED-4DB2-BD59-A6C34878D82A}">
                    <a16:rowId xmlns:a16="http://schemas.microsoft.com/office/drawing/2014/main" val="3439554421"/>
                  </a:ext>
                </a:extLst>
              </a:tr>
              <a:tr h="582900">
                <a:tc>
                  <a:txBody>
                    <a:bodyPr/>
                    <a:lstStyle/>
                    <a:p>
                      <a:r>
                        <a:rPr lang="en-IN" sz="900" b="1" dirty="0"/>
                        <a:t>Definition</a:t>
                      </a:r>
                      <a:endParaRPr lang="en-IN" sz="900" dirty="0"/>
                    </a:p>
                  </a:txBody>
                  <a:tcPr marL="23812" marR="23812" marT="11906" marB="11906" anchor="ctr"/>
                </a:tc>
                <a:tc>
                  <a:txBody>
                    <a:bodyPr/>
                    <a:lstStyle/>
                    <a:p>
                      <a:r>
                        <a:rPr lang="en-IN" sz="900" dirty="0"/>
                        <a:t>Traditional network setup using physical devices like routers, switches, and firewalls.</a:t>
                      </a:r>
                    </a:p>
                  </a:txBody>
                  <a:tcPr marL="23812" marR="23812" marT="11906" marB="11906" anchor="ctr"/>
                </a:tc>
                <a:tc>
                  <a:txBody>
                    <a:bodyPr/>
                    <a:lstStyle/>
                    <a:p>
                      <a:r>
                        <a:rPr lang="en-IN" sz="900"/>
                        <a:t>A software-defined network that abstracts physical hardware and creates virtual networks.</a:t>
                      </a:r>
                    </a:p>
                  </a:txBody>
                  <a:tcPr marL="23812" marR="23812" marT="11906" marB="11906" anchor="ctr"/>
                </a:tc>
                <a:extLst>
                  <a:ext uri="{0D108BD9-81ED-4DB2-BD59-A6C34878D82A}">
                    <a16:rowId xmlns:a16="http://schemas.microsoft.com/office/drawing/2014/main" val="3308202711"/>
                  </a:ext>
                </a:extLst>
              </a:tr>
              <a:tr h="717417">
                <a:tc>
                  <a:txBody>
                    <a:bodyPr/>
                    <a:lstStyle/>
                    <a:p>
                      <a:r>
                        <a:rPr lang="en-IN" sz="900" b="1" dirty="0"/>
                        <a:t>Components</a:t>
                      </a:r>
                      <a:endParaRPr lang="en-IN" sz="900" dirty="0"/>
                    </a:p>
                  </a:txBody>
                  <a:tcPr marL="23812" marR="23812" marT="11906" marB="11906" anchor="ctr"/>
                </a:tc>
                <a:tc>
                  <a:txBody>
                    <a:bodyPr/>
                    <a:lstStyle/>
                    <a:p>
                      <a:r>
                        <a:rPr lang="en-IN" sz="900"/>
                        <a:t>Uses physical hardware: routers, switches, cables, firewalls, and load balancers.</a:t>
                      </a:r>
                    </a:p>
                  </a:txBody>
                  <a:tcPr marL="23812" marR="23812" marT="11906" marB="11906" anchor="ctr"/>
                </a:tc>
                <a:tc>
                  <a:txBody>
                    <a:bodyPr/>
                    <a:lstStyle/>
                    <a:p>
                      <a:r>
                        <a:rPr lang="en-IN" sz="900"/>
                        <a:t>Uses virtual components: virtual routers, virtual switches, virtual firewalls, and SDN controllers.</a:t>
                      </a:r>
                    </a:p>
                  </a:txBody>
                  <a:tcPr marL="23812" marR="23812" marT="11906" marB="11906" anchor="ctr"/>
                </a:tc>
                <a:extLst>
                  <a:ext uri="{0D108BD9-81ED-4DB2-BD59-A6C34878D82A}">
                    <a16:rowId xmlns:a16="http://schemas.microsoft.com/office/drawing/2014/main" val="2593460296"/>
                  </a:ext>
                </a:extLst>
              </a:tr>
              <a:tr h="582900">
                <a:tc>
                  <a:txBody>
                    <a:bodyPr/>
                    <a:lstStyle/>
                    <a:p>
                      <a:r>
                        <a:rPr lang="en-IN" sz="900" b="1"/>
                        <a:t>Configuration &amp; Management</a:t>
                      </a:r>
                      <a:endParaRPr lang="en-IN" sz="900"/>
                    </a:p>
                  </a:txBody>
                  <a:tcPr marL="23812" marR="23812" marT="11906" marB="11906" anchor="ctr"/>
                </a:tc>
                <a:tc>
                  <a:txBody>
                    <a:bodyPr/>
                    <a:lstStyle/>
                    <a:p>
                      <a:r>
                        <a:rPr lang="en-IN" sz="900" dirty="0"/>
                        <a:t>Requires manual configuration of hardware devices.</a:t>
                      </a:r>
                    </a:p>
                  </a:txBody>
                  <a:tcPr marL="23812" marR="23812" marT="11906" marB="11906" anchor="ctr"/>
                </a:tc>
                <a:tc>
                  <a:txBody>
                    <a:bodyPr/>
                    <a:lstStyle/>
                    <a:p>
                      <a:r>
                        <a:rPr lang="en-IN" sz="900" dirty="0"/>
                        <a:t>Managed through software-defined networking (SDN) and automated provisioning.</a:t>
                      </a:r>
                    </a:p>
                  </a:txBody>
                  <a:tcPr marL="23812" marR="23812" marT="11906" marB="11906" anchor="ctr"/>
                </a:tc>
                <a:extLst>
                  <a:ext uri="{0D108BD9-81ED-4DB2-BD59-A6C34878D82A}">
                    <a16:rowId xmlns:a16="http://schemas.microsoft.com/office/drawing/2014/main" val="3631809346"/>
                  </a:ext>
                </a:extLst>
              </a:tr>
              <a:tr h="582900">
                <a:tc>
                  <a:txBody>
                    <a:bodyPr/>
                    <a:lstStyle/>
                    <a:p>
                      <a:r>
                        <a:rPr lang="en-IN" sz="900" b="1"/>
                        <a:t>Scalability</a:t>
                      </a:r>
                      <a:endParaRPr lang="en-IN" sz="900"/>
                    </a:p>
                  </a:txBody>
                  <a:tcPr marL="23812" marR="23812" marT="11906" marB="11906" anchor="ctr"/>
                </a:tc>
                <a:tc>
                  <a:txBody>
                    <a:bodyPr/>
                    <a:lstStyle/>
                    <a:p>
                      <a:r>
                        <a:rPr lang="en-IN" sz="900" dirty="0"/>
                        <a:t>Limited by physical hardware; adding capacity requires more devices.</a:t>
                      </a:r>
                    </a:p>
                  </a:txBody>
                  <a:tcPr marL="23812" marR="23812" marT="11906" marB="11906" anchor="ctr"/>
                </a:tc>
                <a:tc>
                  <a:txBody>
                    <a:bodyPr/>
                    <a:lstStyle/>
                    <a:p>
                      <a:r>
                        <a:rPr lang="en-IN" sz="900"/>
                        <a:t>Highly scalable; virtual resources can be provisioned on demand.</a:t>
                      </a:r>
                    </a:p>
                  </a:txBody>
                  <a:tcPr marL="23812" marR="23812" marT="11906" marB="11906" anchor="ctr"/>
                </a:tc>
                <a:extLst>
                  <a:ext uri="{0D108BD9-81ED-4DB2-BD59-A6C34878D82A}">
                    <a16:rowId xmlns:a16="http://schemas.microsoft.com/office/drawing/2014/main" val="1322331320"/>
                  </a:ext>
                </a:extLst>
              </a:tr>
              <a:tr h="448385">
                <a:tc>
                  <a:txBody>
                    <a:bodyPr/>
                    <a:lstStyle/>
                    <a:p>
                      <a:r>
                        <a:rPr lang="en-IN" sz="900" b="1"/>
                        <a:t>Flexibility</a:t>
                      </a:r>
                      <a:endParaRPr lang="en-IN" sz="900"/>
                    </a:p>
                  </a:txBody>
                  <a:tcPr marL="23812" marR="23812" marT="11906" marB="11906" anchor="ctr"/>
                </a:tc>
                <a:tc>
                  <a:txBody>
                    <a:bodyPr/>
                    <a:lstStyle/>
                    <a:p>
                      <a:r>
                        <a:rPr lang="en-IN" sz="900"/>
                        <a:t>Fixed topology; changes require physical modifications.</a:t>
                      </a:r>
                    </a:p>
                  </a:txBody>
                  <a:tcPr marL="23812" marR="23812" marT="11906" marB="11906" anchor="ctr"/>
                </a:tc>
                <a:tc>
                  <a:txBody>
                    <a:bodyPr/>
                    <a:lstStyle/>
                    <a:p>
                      <a:r>
                        <a:rPr lang="en-IN" sz="900"/>
                        <a:t>Dynamic topology; can be reconfigured instantly via software.</a:t>
                      </a:r>
                    </a:p>
                  </a:txBody>
                  <a:tcPr marL="23812" marR="23812" marT="11906" marB="11906" anchor="ctr"/>
                </a:tc>
                <a:extLst>
                  <a:ext uri="{0D108BD9-81ED-4DB2-BD59-A6C34878D82A}">
                    <a16:rowId xmlns:a16="http://schemas.microsoft.com/office/drawing/2014/main" val="3929407843"/>
                  </a:ext>
                </a:extLst>
              </a:tr>
              <a:tr h="582900">
                <a:tc>
                  <a:txBody>
                    <a:bodyPr/>
                    <a:lstStyle/>
                    <a:p>
                      <a:r>
                        <a:rPr lang="en-IN" sz="900" b="1" dirty="0"/>
                        <a:t>Deployment Time</a:t>
                      </a:r>
                      <a:endParaRPr lang="en-IN" sz="900" dirty="0"/>
                    </a:p>
                  </a:txBody>
                  <a:tcPr marL="23812" marR="23812" marT="11906" marB="11906" anchor="ctr"/>
                </a:tc>
                <a:tc>
                  <a:txBody>
                    <a:bodyPr/>
                    <a:lstStyle/>
                    <a:p>
                      <a:r>
                        <a:rPr lang="en-IN" sz="900"/>
                        <a:t>Slow; setting up new networks requires hardware installation.</a:t>
                      </a:r>
                    </a:p>
                  </a:txBody>
                  <a:tcPr marL="23812" marR="23812" marT="11906" marB="11906" anchor="ctr"/>
                </a:tc>
                <a:tc>
                  <a:txBody>
                    <a:bodyPr/>
                    <a:lstStyle/>
                    <a:p>
                      <a:r>
                        <a:rPr lang="en-IN" sz="900" dirty="0"/>
                        <a:t>Fast; virtual networks can be deployed in minutes using cloud or SDN controllers.</a:t>
                      </a:r>
                    </a:p>
                  </a:txBody>
                  <a:tcPr marL="23812" marR="23812" marT="11906" marB="11906" anchor="ctr"/>
                </a:tc>
                <a:extLst>
                  <a:ext uri="{0D108BD9-81ED-4DB2-BD59-A6C34878D82A}">
                    <a16:rowId xmlns:a16="http://schemas.microsoft.com/office/drawing/2014/main" val="2442373410"/>
                  </a:ext>
                </a:extLst>
              </a:tr>
              <a:tr h="582900">
                <a:tc>
                  <a:txBody>
                    <a:bodyPr/>
                    <a:lstStyle/>
                    <a:p>
                      <a:r>
                        <a:rPr lang="en-IN" sz="900" b="1" dirty="0"/>
                        <a:t>Cost</a:t>
                      </a:r>
                      <a:endParaRPr lang="en-IN" sz="900" dirty="0"/>
                    </a:p>
                  </a:txBody>
                  <a:tcPr marL="23812" marR="23812" marT="11906" marB="11906" anchor="ctr"/>
                </a:tc>
                <a:tc>
                  <a:txBody>
                    <a:bodyPr/>
                    <a:lstStyle/>
                    <a:p>
                      <a:r>
                        <a:rPr lang="en-IN" sz="900"/>
                        <a:t>High CAPEX (Capital Expenditure) due to hardware purchases and maintenance.</a:t>
                      </a:r>
                    </a:p>
                  </a:txBody>
                  <a:tcPr marL="23812" marR="23812" marT="11906" marB="11906" anchor="ctr"/>
                </a:tc>
                <a:tc>
                  <a:txBody>
                    <a:bodyPr/>
                    <a:lstStyle/>
                    <a:p>
                      <a:r>
                        <a:rPr lang="en-IN" sz="900"/>
                        <a:t>Lower cost; reduces hardware dependency by using virtualization.</a:t>
                      </a:r>
                    </a:p>
                  </a:txBody>
                  <a:tcPr marL="23812" marR="23812" marT="11906" marB="11906" anchor="ctr"/>
                </a:tc>
                <a:extLst>
                  <a:ext uri="{0D108BD9-81ED-4DB2-BD59-A6C34878D82A}">
                    <a16:rowId xmlns:a16="http://schemas.microsoft.com/office/drawing/2014/main" val="697157591"/>
                  </a:ext>
                </a:extLst>
              </a:tr>
              <a:tr h="582900">
                <a:tc>
                  <a:txBody>
                    <a:bodyPr/>
                    <a:lstStyle/>
                    <a:p>
                      <a:r>
                        <a:rPr lang="en-IN" sz="900" b="1" dirty="0"/>
                        <a:t>Performance</a:t>
                      </a:r>
                      <a:endParaRPr lang="en-IN" sz="900" dirty="0"/>
                    </a:p>
                  </a:txBody>
                  <a:tcPr marL="23812" marR="23812" marT="11906" marB="11906" anchor="ctr"/>
                </a:tc>
                <a:tc>
                  <a:txBody>
                    <a:bodyPr/>
                    <a:lstStyle/>
                    <a:p>
                      <a:r>
                        <a:rPr lang="en-IN" sz="900"/>
                        <a:t>Dedicated hardware may offer better raw performance.</a:t>
                      </a:r>
                    </a:p>
                  </a:txBody>
                  <a:tcPr marL="23812" marR="23812" marT="11906" marB="11906" anchor="ctr"/>
                </a:tc>
                <a:tc>
                  <a:txBody>
                    <a:bodyPr/>
                    <a:lstStyle/>
                    <a:p>
                      <a:r>
                        <a:rPr lang="en-IN" sz="900" dirty="0"/>
                        <a:t>Performance depends on underlying hardware but is optimized through resource allocation.</a:t>
                      </a:r>
                    </a:p>
                  </a:txBody>
                  <a:tcPr marL="23812" marR="23812" marT="11906" marB="11906" anchor="ctr"/>
                </a:tc>
                <a:extLst>
                  <a:ext uri="{0D108BD9-81ED-4DB2-BD59-A6C34878D82A}">
                    <a16:rowId xmlns:a16="http://schemas.microsoft.com/office/drawing/2014/main" val="1496793360"/>
                  </a:ext>
                </a:extLst>
              </a:tr>
              <a:tr h="582900">
                <a:tc>
                  <a:txBody>
                    <a:bodyPr/>
                    <a:lstStyle/>
                    <a:p>
                      <a:r>
                        <a:rPr lang="en-IN" sz="900" b="1" dirty="0"/>
                        <a:t>Use Cases</a:t>
                      </a:r>
                      <a:endParaRPr lang="en-IN" sz="900" dirty="0"/>
                    </a:p>
                  </a:txBody>
                  <a:tcPr marL="23812" marR="23812" marT="11906" marB="11906" anchor="ctr"/>
                </a:tc>
                <a:tc>
                  <a:txBody>
                    <a:bodyPr/>
                    <a:lstStyle/>
                    <a:p>
                      <a:r>
                        <a:rPr lang="en-IN" sz="900"/>
                        <a:t>Traditional data centers, on-premise enterprise networks, branch office setups.</a:t>
                      </a:r>
                    </a:p>
                  </a:txBody>
                  <a:tcPr marL="23812" marR="23812" marT="11906" marB="11906" anchor="ctr"/>
                </a:tc>
                <a:tc>
                  <a:txBody>
                    <a:bodyPr/>
                    <a:lstStyle/>
                    <a:p>
                      <a:r>
                        <a:rPr lang="en-IN" sz="900" dirty="0"/>
                        <a:t>Cloud computing, multi-tenant environments, SD-WAN, 5G networks.</a:t>
                      </a:r>
                    </a:p>
                  </a:txBody>
                  <a:tcPr marL="23812" marR="23812" marT="11906" marB="11906" anchor="ctr"/>
                </a:tc>
                <a:extLst>
                  <a:ext uri="{0D108BD9-81ED-4DB2-BD59-A6C34878D82A}">
                    <a16:rowId xmlns:a16="http://schemas.microsoft.com/office/drawing/2014/main" val="31706896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93539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F10EE-14A7-D9E6-B231-8ECF141DD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Role of Hypervisors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58367-E9D6-6E97-FAF0-4818C12F89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dirty="0"/>
              <a:t>A hypervisor is a key component in network virtualization as it enables multiple virtual machines (VMs) to run on a shared physical server while also virtualizing network resources.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Hypervisors virtualize network components, such as virtual switches, virtual NICs (</a:t>
            </a:r>
            <a:r>
              <a:rPr lang="en-US" dirty="0" err="1"/>
              <a:t>vNICs</a:t>
            </a:r>
            <a:r>
              <a:rPr lang="en-US" dirty="0"/>
              <a:t>), and virtual firewalls, allowing seamless communication between VMs and external networks.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Each VM is assigned a </a:t>
            </a:r>
            <a:r>
              <a:rPr lang="en-US" dirty="0" err="1"/>
              <a:t>vNIC</a:t>
            </a:r>
            <a:r>
              <a:rPr lang="en-US" dirty="0"/>
              <a:t>, which acts as a virtual adapter to communicate over the network.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Note: NAT allows multiple VMs to use a single external IP while having unique private IPs inside the network. The hypervisor translates VM private IPs to the host's public IP using NAT.</a:t>
            </a:r>
          </a:p>
        </p:txBody>
      </p:sp>
    </p:spTree>
    <p:extLst>
      <p:ext uri="{BB962C8B-B14F-4D97-AF65-F5344CB8AC3E}">
        <p14:creationId xmlns:p14="http://schemas.microsoft.com/office/powerpoint/2010/main" val="3603944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6BF94-72F2-8DC7-B7FC-B941BD935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Role of Hypervisors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A2FFD4-D197-D272-235B-ABD9437E99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just"/>
            <a:r>
              <a:rPr lang="en-US" dirty="0"/>
              <a:t>Hypervisors help run virtualized network functions (VNFs) like </a:t>
            </a:r>
            <a:r>
              <a:rPr lang="en-US" dirty="0" err="1"/>
              <a:t>vRouters</a:t>
            </a:r>
            <a:r>
              <a:rPr lang="en-US" dirty="0"/>
              <a:t>, </a:t>
            </a:r>
            <a:r>
              <a:rPr lang="en-US" dirty="0" err="1"/>
              <a:t>vFirewalls</a:t>
            </a:r>
            <a:r>
              <a:rPr lang="en-US" dirty="0"/>
              <a:t>, and </a:t>
            </a:r>
            <a:r>
              <a:rPr lang="en-US" dirty="0" err="1"/>
              <a:t>vLoad</a:t>
            </a:r>
            <a:r>
              <a:rPr lang="en-US" dirty="0"/>
              <a:t> Balancers.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Hypervisors enable isolation between virtual networks, preventing unauthorized access.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A company runs multiple applications (HR, Finance, DevOps) on VMware </a:t>
            </a:r>
            <a:r>
              <a:rPr lang="en-US" dirty="0" err="1"/>
              <a:t>ESXi</a:t>
            </a:r>
            <a:r>
              <a:rPr lang="en-US" dirty="0"/>
              <a:t> hosts.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The hypervisor creates isolated virtual networks using </a:t>
            </a:r>
            <a:r>
              <a:rPr lang="en-US" dirty="0" err="1"/>
              <a:t>vSwitches</a:t>
            </a:r>
            <a:r>
              <a:rPr lang="en-US" dirty="0"/>
              <a:t> and </a:t>
            </a:r>
            <a:r>
              <a:rPr lang="en-US" dirty="0" err="1"/>
              <a:t>vNICs</a:t>
            </a:r>
            <a:r>
              <a:rPr lang="en-US" dirty="0"/>
              <a:t>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VMware NSX manages </a:t>
            </a:r>
            <a:r>
              <a:rPr lang="en-US" dirty="0" err="1"/>
              <a:t>microsegmentation</a:t>
            </a:r>
            <a:r>
              <a:rPr lang="en-US" dirty="0"/>
              <a:t>, allowing secure communication between VMs.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The entire network infrastructure is software-defined and scalable without physical changes.</a:t>
            </a:r>
          </a:p>
        </p:txBody>
      </p:sp>
    </p:spTree>
    <p:extLst>
      <p:ext uri="{BB962C8B-B14F-4D97-AF65-F5344CB8AC3E}">
        <p14:creationId xmlns:p14="http://schemas.microsoft.com/office/powerpoint/2010/main" val="32288869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F1F8F-96C9-EF54-57BB-4A9F04157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vSwitch</a:t>
            </a:r>
            <a:r>
              <a:rPr lang="en-US" dirty="0"/>
              <a:t> &amp; </a:t>
            </a:r>
            <a:r>
              <a:rPr lang="en-US" dirty="0" err="1"/>
              <a:t>vRouter</a:t>
            </a:r>
            <a:r>
              <a:rPr lang="en-US" dirty="0"/>
              <a:t> &amp; Hypervisor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F07AF5-B02B-09C1-9EF8-B4A5AA9486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A </a:t>
            </a:r>
            <a:r>
              <a:rPr lang="en-US" dirty="0" err="1"/>
              <a:t>vSwitch</a:t>
            </a:r>
            <a:r>
              <a:rPr lang="en-US" dirty="0"/>
              <a:t> (Virtual Switch) is a software-based switch that operates inside a virtualized environment to manage network traffic between virtual machines (VMs), physical servers, and external networks.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Unlike a physical switch, which connects physical devices, a </a:t>
            </a:r>
            <a:r>
              <a:rPr lang="en-US" dirty="0" err="1"/>
              <a:t>vSwitch</a:t>
            </a:r>
            <a:r>
              <a:rPr lang="en-US" dirty="0"/>
              <a:t> operates at the hypervisor level (e.g., VMware </a:t>
            </a:r>
            <a:r>
              <a:rPr lang="en-US" dirty="0" err="1"/>
              <a:t>ESXi</a:t>
            </a:r>
            <a:r>
              <a:rPr lang="en-US" dirty="0"/>
              <a:t>, Microsoft Hyper-V, or KVM) and enables communication between VMs on the same or different hosts.</a:t>
            </a:r>
          </a:p>
          <a:p>
            <a:pPr algn="just"/>
            <a:endParaRPr lang="en-US" dirty="0"/>
          </a:p>
          <a:p>
            <a:pPr algn="just"/>
            <a:r>
              <a:rPr lang="en-US" dirty="0" err="1"/>
              <a:t>vRouter</a:t>
            </a:r>
            <a:r>
              <a:rPr lang="en-US" dirty="0"/>
              <a:t> (Virtual Router) is a software-based router that runs on virtualized infrastructure, rather than being a dedicated hardware device. It performs the same functions as a physical router, such as packet forwarding.</a:t>
            </a:r>
          </a:p>
        </p:txBody>
      </p:sp>
    </p:spTree>
    <p:extLst>
      <p:ext uri="{BB962C8B-B14F-4D97-AF65-F5344CB8AC3E}">
        <p14:creationId xmlns:p14="http://schemas.microsoft.com/office/powerpoint/2010/main" val="19695659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D367A-1095-46BA-5DBE-2F8F605F4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vSwitch</a:t>
            </a:r>
            <a:r>
              <a:rPr lang="en-US" dirty="0"/>
              <a:t> &amp; </a:t>
            </a:r>
            <a:r>
              <a:rPr lang="en-US" dirty="0" err="1"/>
              <a:t>vRouter</a:t>
            </a:r>
            <a:r>
              <a:rPr lang="en-US" dirty="0"/>
              <a:t> &amp; Hypervisor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4FC8F6-1961-3C41-3FD3-3AE79B1629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Multiple VLANs for network segmentation.</a:t>
            </a:r>
          </a:p>
          <a:p>
            <a:r>
              <a:rPr lang="en-US" dirty="0"/>
              <a:t>Segments Web, Database, and Admin networks.</a:t>
            </a:r>
          </a:p>
          <a:p>
            <a:endParaRPr lang="en-US" dirty="0"/>
          </a:p>
          <a:p>
            <a:r>
              <a:rPr lang="en-US" dirty="0" err="1"/>
              <a:t>vSwitches</a:t>
            </a:r>
            <a:r>
              <a:rPr lang="en-US" dirty="0"/>
              <a:t> to connect virtual machines (VMs) inside the hypervisor (</a:t>
            </a:r>
            <a:r>
              <a:rPr lang="en-US" dirty="0" err="1"/>
              <a:t>ESXi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 err="1"/>
              <a:t>vRouter</a:t>
            </a:r>
            <a:r>
              <a:rPr lang="en-US" dirty="0"/>
              <a:t> to route traffic between VLANs and provide internet access.</a:t>
            </a:r>
          </a:p>
          <a:p>
            <a:endParaRPr lang="en-US" dirty="0"/>
          </a:p>
          <a:p>
            <a:r>
              <a:rPr lang="en-US" dirty="0"/>
              <a:t>Hypervisor to run virtual machines for applications.</a:t>
            </a:r>
          </a:p>
          <a:p>
            <a:r>
              <a:rPr lang="en-US" dirty="0"/>
              <a:t>VMware </a:t>
            </a:r>
            <a:r>
              <a:rPr lang="en-US" dirty="0" err="1"/>
              <a:t>ESXi</a:t>
            </a:r>
            <a:r>
              <a:rPr lang="en-US" dirty="0"/>
              <a:t> allows you to create </a:t>
            </a:r>
            <a:r>
              <a:rPr lang="en-US" dirty="0" err="1"/>
              <a:t>vSwitches</a:t>
            </a:r>
            <a:r>
              <a:rPr lang="en-US" dirty="0"/>
              <a:t> for virtual machine connectivity and deploy a </a:t>
            </a:r>
            <a:r>
              <a:rPr lang="en-US" dirty="0" err="1"/>
              <a:t>vRouter</a:t>
            </a:r>
            <a:r>
              <a:rPr lang="en-US" dirty="0"/>
              <a:t> to handle inter-VLAN routing</a:t>
            </a:r>
          </a:p>
        </p:txBody>
      </p:sp>
    </p:spTree>
    <p:extLst>
      <p:ext uri="{BB962C8B-B14F-4D97-AF65-F5344CB8AC3E}">
        <p14:creationId xmlns:p14="http://schemas.microsoft.com/office/powerpoint/2010/main" val="40205314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35AE6-86CC-A433-71DE-FD1E3DD5A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VNFs (Virtual Network Functions)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BB6D24-988B-AB03-8D0C-994274A2D2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VNFs (Virtual Network Functions) are software-based network services that replace traditional hardware appliances like routers, firewalls, and load balancers.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VNFs enable flexibility, scalability, and cost savings by virtualizing network functions that were previously performed by dedicated physical devices.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VNFs run on standard servers or cloud environments and are managed using NFV (Network Function Virtualization) frameworks like ETSI NFV, OpenStack, and Kubernetes.</a:t>
            </a:r>
          </a:p>
        </p:txBody>
      </p:sp>
    </p:spTree>
    <p:extLst>
      <p:ext uri="{BB962C8B-B14F-4D97-AF65-F5344CB8AC3E}">
        <p14:creationId xmlns:p14="http://schemas.microsoft.com/office/powerpoint/2010/main" val="15790466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9530A-48AE-3F4B-2D51-0EEE3A601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VNFs (Virtual Network Functions)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D5043D-059A-12E4-1865-4B535A1DAB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Virtual Network Functions (VNFs) and Network Virtualization are closely related because VNFs operate within a virtualized network environment. Network virtualization provides the foundation and infrastructure needed to deploy and manage VNFs effectively.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Network Virtualization creates virtual network environments that enable multiple virtual networks to run over a shared physical infrastructure.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VNFs operate within these virtual networks, providing network services such as routing, firewalling, and load balancing.</a:t>
            </a:r>
          </a:p>
        </p:txBody>
      </p:sp>
    </p:spTree>
    <p:extLst>
      <p:ext uri="{BB962C8B-B14F-4D97-AF65-F5344CB8AC3E}">
        <p14:creationId xmlns:p14="http://schemas.microsoft.com/office/powerpoint/2010/main" val="32797714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C6061-ACDF-EF81-E8C8-E6DA24399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VNFs (Virtual Network Functions)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20977-3CB2-9F9F-03C7-C7EAE4BD39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dirty="0"/>
              <a:t>VNF communicate using Software-Defined Networking (SDN) and can be dynamically deployed, updated, or scaled as needed.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Examples: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A cloud data center hosting a banking application can use network virtualization to create isolated networks for different services, while VNFs like </a:t>
            </a:r>
            <a:r>
              <a:rPr lang="en-US" dirty="0" err="1"/>
              <a:t>vFirewalls</a:t>
            </a:r>
            <a:r>
              <a:rPr lang="en-US" dirty="0"/>
              <a:t> secure transactions and </a:t>
            </a:r>
            <a:r>
              <a:rPr lang="en-US" dirty="0" err="1"/>
              <a:t>vLoad</a:t>
            </a:r>
            <a:r>
              <a:rPr lang="en-US" dirty="0"/>
              <a:t> Balancers optimize performance.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A cloud provider like AWS uses network virtualization to create Virtual Private Clouds (VPCs), where VNFs such as virtual firewalls (AWS Network Firewall) and </a:t>
            </a:r>
            <a:r>
              <a:rPr lang="en-US" dirty="0" err="1"/>
              <a:t>vLoad</a:t>
            </a:r>
            <a:r>
              <a:rPr lang="en-US" dirty="0"/>
              <a:t> Balancers (AWS Elastic Load Balancer) provide network security and traffic distribution.</a:t>
            </a:r>
          </a:p>
        </p:txBody>
      </p:sp>
    </p:spTree>
    <p:extLst>
      <p:ext uri="{BB962C8B-B14F-4D97-AF65-F5344CB8AC3E}">
        <p14:creationId xmlns:p14="http://schemas.microsoft.com/office/powerpoint/2010/main" val="25440865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F1BFC-7AB8-341F-BF12-0E283DF17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 Stack for Network Virtualization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10D8B-E3E7-06EC-29FD-868C640A78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Physical Servers (Dell, HP, Cisco UCS)</a:t>
            </a:r>
          </a:p>
          <a:p>
            <a:r>
              <a:rPr lang="en-US" dirty="0"/>
              <a:t>Hypervisors (VMware </a:t>
            </a:r>
            <a:r>
              <a:rPr lang="en-US" dirty="0" err="1"/>
              <a:t>ESXi</a:t>
            </a:r>
            <a:r>
              <a:rPr lang="en-US" dirty="0"/>
              <a:t>, Microsoft Hyper-V, KVM)</a:t>
            </a:r>
          </a:p>
          <a:p>
            <a:endParaRPr lang="en-US" dirty="0"/>
          </a:p>
          <a:p>
            <a:r>
              <a:rPr lang="en-US" dirty="0"/>
              <a:t>VLANs (Virtual Local Area Networks)</a:t>
            </a:r>
          </a:p>
          <a:p>
            <a:r>
              <a:rPr lang="en-US" dirty="0" err="1"/>
              <a:t>vSwitches</a:t>
            </a:r>
            <a:r>
              <a:rPr lang="en-US" dirty="0"/>
              <a:t> (Open </a:t>
            </a:r>
            <a:r>
              <a:rPr lang="en-US" dirty="0" err="1"/>
              <a:t>vSwitch</a:t>
            </a:r>
            <a:r>
              <a:rPr lang="en-US" dirty="0"/>
              <a:t>)</a:t>
            </a:r>
          </a:p>
          <a:p>
            <a:r>
              <a:rPr lang="en-US" dirty="0"/>
              <a:t>Virtual Routers &amp; Gateways (Cisco </a:t>
            </a:r>
            <a:r>
              <a:rPr lang="en-US" dirty="0" err="1"/>
              <a:t>vEdge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Software-Defined Networking (SDN) Controllers</a:t>
            </a:r>
          </a:p>
          <a:p>
            <a:r>
              <a:rPr lang="en-US" dirty="0"/>
              <a:t>Cloud Networking Management (AWS VPC)</a:t>
            </a:r>
          </a:p>
          <a:p>
            <a:endParaRPr lang="en-US" dirty="0"/>
          </a:p>
          <a:p>
            <a:r>
              <a:rPr lang="en-US"/>
              <a:t>Virtual Network Functions (VNFs)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687878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{0DBC9465-C6FA-1948-B936-66CC95CDA27D}tf10001060</Template>
  <TotalTime>43</TotalTime>
  <Words>1031</Words>
  <Application>Microsoft Macintosh PowerPoint</Application>
  <PresentationFormat>Widescreen</PresentationFormat>
  <Paragraphs>106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-webkit-standard</vt:lpstr>
      <vt:lpstr>Arial</vt:lpstr>
      <vt:lpstr>Trebuchet MS</vt:lpstr>
      <vt:lpstr>Wingdings 3</vt:lpstr>
      <vt:lpstr>Facet</vt:lpstr>
      <vt:lpstr>Types of Network Virtualization</vt:lpstr>
      <vt:lpstr>PowerPoint Presentation</vt:lpstr>
      <vt:lpstr>Role of Hypervisors</vt:lpstr>
      <vt:lpstr>Role of Hypervisors</vt:lpstr>
      <vt:lpstr>vSwitch &amp; vRouter &amp; Hypervisor</vt:lpstr>
      <vt:lpstr>vSwitch &amp; vRouter &amp; Hypervisor</vt:lpstr>
      <vt:lpstr>VNFs (Virtual Network Functions)</vt:lpstr>
      <vt:lpstr>VNFs (Virtual Network Functions)</vt:lpstr>
      <vt:lpstr>VNFs (Virtual Network Functions)</vt:lpstr>
      <vt:lpstr>Tech Stack for Network Virtualization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Types of Network Virtualization</dc:title>
  <dc:creator>Abhirup Khanna</dc:creator>
  <cp:lastModifiedBy>Abhirup Khanna</cp:lastModifiedBy>
  <cp:revision>9</cp:revision>
  <dcterms:created xsi:type="dcterms:W3CDTF">2025-02-05T05:08:23Z</dcterms:created>
  <dcterms:modified xsi:type="dcterms:W3CDTF">2025-02-10T04:04:47Z</dcterms:modified>
</cp:coreProperties>
</file>