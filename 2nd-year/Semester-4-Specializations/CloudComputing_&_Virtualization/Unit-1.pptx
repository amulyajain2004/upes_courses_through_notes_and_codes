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>
        <p:scale>
          <a:sx n="120" d="100"/>
          <a:sy n="120" d="100"/>
        </p:scale>
        <p:origin x="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9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8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9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2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9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1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6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7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0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1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30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24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6400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88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13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7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E603F-7DFF-9541-BFA8-AC6D6650CE90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E7B9C3-A771-B742-AEFE-B3F7B7BBB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04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FC8F-CA6B-50F3-DF93-A58F8F5D2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D174A-6B5A-F3BB-6262-EAA7A2BC8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0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FB97-222D-5E79-AC50-8615F106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for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46B12-36B9-B7F9-C581-CC3537C27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Resource Optimization</a:t>
            </a:r>
            <a:r>
              <a:rPr lang="en-IN" dirty="0"/>
              <a:t>: Underutilization of physical servers, where hardware is not being used to its full potential, can prompt the need for virtualization to maximize efficiency.</a:t>
            </a:r>
          </a:p>
          <a:p>
            <a:endParaRPr lang="en-IN" b="1" dirty="0"/>
          </a:p>
          <a:p>
            <a:r>
              <a:rPr lang="en-IN" b="1" dirty="0"/>
              <a:t>Cost Reduction</a:t>
            </a:r>
            <a:r>
              <a:rPr lang="en-IN" dirty="0"/>
              <a:t>: Virtualization reduces the need for physical hardware, cooling, power, and space, significantly lowering operational costs.</a:t>
            </a:r>
          </a:p>
          <a:p>
            <a:endParaRPr lang="en-IN" b="1" dirty="0"/>
          </a:p>
          <a:p>
            <a:r>
              <a:rPr lang="en-IN" b="1" dirty="0"/>
              <a:t>Scalability and Flexibility</a:t>
            </a:r>
            <a:r>
              <a:rPr lang="en-IN" dirty="0"/>
              <a:t>: The need for dynamic scalability to handle fluctuating workloads can trigger virtualization adoption.</a:t>
            </a:r>
          </a:p>
          <a:p>
            <a:endParaRPr lang="en-IN" b="1" dirty="0"/>
          </a:p>
          <a:p>
            <a:r>
              <a:rPr lang="en-IN" b="1" dirty="0"/>
              <a:t>Disaster Recovery</a:t>
            </a:r>
            <a:r>
              <a:rPr lang="en-IN" dirty="0"/>
              <a:t>: Virtualization simplifies backup and recovery processes, providing faster disaster recovery capabilities.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22EF-C032-D28B-C41A-74D5F829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for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DCAE9-F854-E6EE-0FB5-6FA6FC30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Testing and Development Needs</a:t>
            </a:r>
            <a:r>
              <a:rPr lang="en-IN" dirty="0"/>
              <a:t>: Creating isolated environments for testing and development without needing multiple physical machines can drive virtualization.</a:t>
            </a:r>
          </a:p>
          <a:p>
            <a:endParaRPr lang="en-IN" b="1" dirty="0"/>
          </a:p>
          <a:p>
            <a:r>
              <a:rPr lang="en-IN" b="1" dirty="0"/>
              <a:t>Legacy System Support</a:t>
            </a:r>
            <a:r>
              <a:rPr lang="en-IN" dirty="0"/>
              <a:t>: Running outdated applications on newer virtualized platforms without modifying the hardware or software.</a:t>
            </a:r>
          </a:p>
          <a:p>
            <a:endParaRPr lang="en-IN" b="1" dirty="0"/>
          </a:p>
          <a:p>
            <a:r>
              <a:rPr lang="en-IN" b="1" dirty="0"/>
              <a:t>Data </a:t>
            </a:r>
            <a:r>
              <a:rPr lang="en-IN" b="1" dirty="0" err="1"/>
              <a:t>Center</a:t>
            </a:r>
            <a:r>
              <a:rPr lang="en-IN" b="1" dirty="0"/>
              <a:t> Consolidation</a:t>
            </a:r>
            <a:r>
              <a:rPr lang="en-IN" dirty="0"/>
              <a:t>: The desire to reduce the physical footprint of data </a:t>
            </a:r>
            <a:r>
              <a:rPr lang="en-IN" dirty="0" err="1"/>
              <a:t>centers</a:t>
            </a:r>
            <a:r>
              <a:rPr lang="en-IN" dirty="0"/>
              <a:t>, consolidate servers, and streamline management.</a:t>
            </a:r>
          </a:p>
          <a:p>
            <a:endParaRPr lang="en-IN" b="1" dirty="0"/>
          </a:p>
          <a:p>
            <a:r>
              <a:rPr lang="en-IN" b="1" dirty="0"/>
              <a:t>Environmental Considerations</a:t>
            </a:r>
            <a:r>
              <a:rPr lang="en-IN" dirty="0"/>
              <a:t>: Reducing energy consumption and the overall carbon footprint by running multiple virtual machines (VMs) on fewer physical servers.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1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A193E-3FF7-78C0-A8C9-36E5991F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Preparation for Virtualization: Server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61A62-5B98-2932-8695-843CA906D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Hardware Compatibility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Ensure the servers support virtualization technologies such as Intel VT-x or AMD-V.</a:t>
            </a:r>
          </a:p>
          <a:p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Performance Requirements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Assess the server's CPU, memory, storage, and network capacity to handle the expected virtual machine (VM) workload.</a:t>
            </a:r>
          </a:p>
          <a:p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Vendor Support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Choose servers supported by major virtualization platforms like VMware, Hyper-V, or Xen.</a:t>
            </a:r>
          </a:p>
          <a:p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Expandability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Select servers with the capability for future upgrades in terms of CPU, memory, and storage.</a:t>
            </a:r>
          </a:p>
          <a:p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Redundancy Features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Look for servers with redundant power supplies, network interfaces, and storage to minimize downtime.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1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3004-26F1-3B21-6E29-7D944B5A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Preparation for Virtualization: Server Sizing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4A3F-8C16-6EE5-AB3B-343647D55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Resource Calculation</a:t>
            </a:r>
            <a:r>
              <a:rPr lang="en-IN" dirty="0"/>
              <a:t>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 CPU, memory, storage, and I/O requirements for each VM.</a:t>
            </a:r>
          </a:p>
          <a:p>
            <a:endParaRPr lang="en-IN" b="1" dirty="0"/>
          </a:p>
          <a:p>
            <a:r>
              <a:rPr lang="en-IN" b="1" dirty="0"/>
              <a:t>Headroom for Growth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Factor in additional capacity for future scalability.</a:t>
            </a:r>
          </a:p>
          <a:p>
            <a:endParaRPr lang="en-IN" b="1" dirty="0"/>
          </a:p>
          <a:p>
            <a:r>
              <a:rPr lang="en-IN" b="1" dirty="0"/>
              <a:t>Workload Consolidation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Determine how many physical servers can be consolidated into a single virtual host based on workload profiles.</a:t>
            </a:r>
          </a:p>
          <a:p>
            <a:endParaRPr lang="en-IN" b="1" dirty="0"/>
          </a:p>
          <a:p>
            <a:r>
              <a:rPr lang="en-IN" b="1" dirty="0"/>
              <a:t>Peak Usage Consideration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Plan for peak usage scenarios to avoid performance bottlenecks.</a:t>
            </a:r>
          </a:p>
          <a:p>
            <a:endParaRPr lang="en-IN" b="1" dirty="0"/>
          </a:p>
          <a:p>
            <a:r>
              <a:rPr lang="en-IN" b="1" dirty="0"/>
              <a:t>Overcommitment Planning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Evaluate the extent to which resources like memory and CPU can be safely overcommitted.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04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AA77-9F01-5655-0236-4F1895D1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Preparation for Virtualization: Server Criticality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BBEF-F24A-782C-10C8-9683C6F01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Business Impact</a:t>
            </a:r>
            <a:r>
              <a:rPr lang="en-IN" dirty="0"/>
              <a:t>: Identify servers running mission-critical applications versus those hosting non-essential services.</a:t>
            </a:r>
          </a:p>
          <a:p>
            <a:endParaRPr lang="en-IN" b="1" dirty="0"/>
          </a:p>
          <a:p>
            <a:r>
              <a:rPr lang="en-IN" b="1" dirty="0"/>
              <a:t>Downtime Tolerance</a:t>
            </a:r>
            <a:r>
              <a:rPr lang="en-IN" dirty="0"/>
              <a:t>: Evaluate the acceptable downtime for each server or application.</a:t>
            </a:r>
          </a:p>
          <a:p>
            <a:endParaRPr lang="en-IN" b="1" dirty="0"/>
          </a:p>
          <a:p>
            <a:r>
              <a:rPr lang="en-IN" b="1" dirty="0"/>
              <a:t>Redundancy Requirements</a:t>
            </a:r>
            <a:r>
              <a:rPr lang="en-IN" dirty="0"/>
              <a:t>: Assess the need for high availability and failover capabilities.</a:t>
            </a:r>
          </a:p>
          <a:p>
            <a:endParaRPr lang="en-IN" b="1" dirty="0"/>
          </a:p>
          <a:p>
            <a:r>
              <a:rPr lang="en-IN" b="1" dirty="0"/>
              <a:t>Virtualization Risk Assessment</a:t>
            </a:r>
            <a:r>
              <a:rPr lang="en-IN" dirty="0"/>
              <a:t>: Understand the risks associated with virtualizing critical servers and plan mitigation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07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340D-8A9A-580F-1E35-78B6430F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Preparation for Virtualization: Provisioning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CD49-9890-33A8-5F7B-74F6E7DF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Resource Allocation</a:t>
            </a:r>
            <a:r>
              <a:rPr lang="en-IN" dirty="0"/>
              <a:t>: Define CPU, memory, storage, and network resources for each VM.</a:t>
            </a:r>
          </a:p>
          <a:p>
            <a:endParaRPr lang="en-IN" b="1" dirty="0"/>
          </a:p>
          <a:p>
            <a:r>
              <a:rPr lang="en-IN" b="1" dirty="0"/>
              <a:t>Automation Tools</a:t>
            </a:r>
            <a:r>
              <a:rPr lang="en-IN" dirty="0"/>
              <a:t>: Use provisioning tools to streamline the deployment process.</a:t>
            </a:r>
          </a:p>
          <a:p>
            <a:endParaRPr lang="en-IN" b="1" dirty="0"/>
          </a:p>
          <a:p>
            <a:r>
              <a:rPr lang="en-IN" b="1" dirty="0"/>
              <a:t>Templates</a:t>
            </a:r>
            <a:r>
              <a:rPr lang="en-IN" dirty="0"/>
              <a:t>: Create VM templates for consistent configurations and faster deployment.</a:t>
            </a:r>
          </a:p>
          <a:p>
            <a:endParaRPr lang="en-IN" b="1" dirty="0"/>
          </a:p>
          <a:p>
            <a:r>
              <a:rPr lang="en-IN" b="1" dirty="0"/>
              <a:t>Compliance Checks</a:t>
            </a:r>
            <a:r>
              <a:rPr lang="en-IN" dirty="0"/>
              <a:t>: Ensure provisioned VMs meet security, performance, and compliance standards.</a:t>
            </a:r>
          </a:p>
          <a:p>
            <a:endParaRPr lang="en-IN" b="1" dirty="0"/>
          </a:p>
          <a:p>
            <a:r>
              <a:rPr lang="en-IN" b="1" dirty="0"/>
              <a:t>User Access Control</a:t>
            </a:r>
            <a:r>
              <a:rPr lang="en-IN" dirty="0"/>
              <a:t>: Define roles and permissions for managing provisioned VMs.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8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C73B-5571-14A4-59C6-F1E07B16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Preparation for Virtualization: Proximity and Locality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9CBC7-ECF6-CDD9-3F65-F655EAC21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Data Proximity</a:t>
            </a:r>
            <a:r>
              <a:rPr lang="en-IN" dirty="0"/>
              <a:t>: Place VMs and associated data close to each other to minimize latency and improve performance.</a:t>
            </a:r>
          </a:p>
          <a:p>
            <a:endParaRPr lang="en-IN" b="1" dirty="0"/>
          </a:p>
          <a:p>
            <a:r>
              <a:rPr lang="en-IN" b="1" dirty="0"/>
              <a:t>Geographical Locality</a:t>
            </a:r>
            <a:r>
              <a:rPr lang="en-IN" dirty="0"/>
              <a:t>: Consider the physical location of servers and data </a:t>
            </a:r>
            <a:r>
              <a:rPr lang="en-IN" dirty="0" err="1"/>
              <a:t>centers</a:t>
            </a:r>
            <a:r>
              <a:rPr lang="en-IN" dirty="0"/>
              <a:t> to meet regulatory requirements and enhance disaster recovery.</a:t>
            </a:r>
          </a:p>
          <a:p>
            <a:endParaRPr lang="en-IN" b="1" dirty="0"/>
          </a:p>
          <a:p>
            <a:r>
              <a:rPr lang="en-IN" b="1" dirty="0"/>
              <a:t>Network Latency</a:t>
            </a:r>
            <a:r>
              <a:rPr lang="en-IN" dirty="0"/>
              <a:t>: Minimize network latency by ensuring virtual machines are placed near the users or systems they interact with most frequently.</a:t>
            </a:r>
          </a:p>
          <a:p>
            <a:endParaRPr lang="en-IN" b="1" dirty="0"/>
          </a:p>
          <a:p>
            <a:r>
              <a:rPr lang="en-IN" b="1" dirty="0"/>
              <a:t>Resource Availability</a:t>
            </a:r>
            <a:r>
              <a:rPr lang="en-IN" dirty="0"/>
              <a:t>: Ensure sufficient resources are available locally to handle workloads without relying heavily on remote systems.</a:t>
            </a:r>
          </a:p>
          <a:p>
            <a:endParaRPr lang="en-IN" b="1" dirty="0"/>
          </a:p>
          <a:p>
            <a:r>
              <a:rPr lang="en-IN" b="1" dirty="0"/>
              <a:t>High Availability Zones</a:t>
            </a:r>
            <a:r>
              <a:rPr lang="en-IN" dirty="0"/>
              <a:t>: Deploy VMs in multiple locations to ensure redundancy and avoid single points of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53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920F-737A-9E02-40D4-74AD89BD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Tools for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8CE20-0AD5-0DE4-64ED-3D74F9E68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Transition tools for virtualization assist organizations in migrating workloads, applications, and data from physical servers to virtual environments. These tools simplify, automate, and secure the transition process.</a:t>
            </a:r>
          </a:p>
          <a:p>
            <a:endParaRPr lang="en-US" dirty="0"/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Migration Tools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Examples: VMware vCenter Converter, Microsoft Virtual Machine Converter, and open-source tools like </a:t>
            </a:r>
            <a:r>
              <a:rPr lang="en-IN" sz="1800" dirty="0" err="1"/>
              <a:t>Clonezilla</a:t>
            </a:r>
            <a:r>
              <a:rPr lang="en-IN" sz="18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They convert physical machines (P2V) or other virtual machines (V2V) into formats compatible with the target virtual environment.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Automation Tools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Tools such as Ansible, Terraform, or VMware </a:t>
            </a:r>
            <a:r>
              <a:rPr lang="en-IN" sz="1800" dirty="0" err="1"/>
              <a:t>vRealize</a:t>
            </a:r>
            <a:r>
              <a:rPr lang="en-IN" sz="1800" dirty="0"/>
              <a:t> automate the deployment and management of VMs during and after the transition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141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25A23-5942-A9E9-24F5-D481BFDA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Savings with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9906F-E9D6-284A-E296-2D08DC30D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Virtualization can lead to significant cost savings for organizations by optimizing resources and reducing expenses.</a:t>
            </a:r>
          </a:p>
          <a:p>
            <a:endParaRPr lang="en-US" dirty="0"/>
          </a:p>
          <a:p>
            <a:r>
              <a:rPr lang="en-IN" b="1" dirty="0"/>
              <a:t>Hardware Savings</a:t>
            </a:r>
            <a:r>
              <a:rPr lang="en-IN" dirty="0"/>
              <a:t>: Reduce the need for physical servers by consolidating multiple workloads onto fewer machines.</a:t>
            </a:r>
          </a:p>
          <a:p>
            <a:endParaRPr lang="en-IN" b="1" dirty="0"/>
          </a:p>
          <a:p>
            <a:r>
              <a:rPr lang="en-IN" b="1" dirty="0"/>
              <a:t>Energy and Cooling</a:t>
            </a:r>
            <a:r>
              <a:rPr lang="en-IN" dirty="0"/>
              <a:t>: Lower power consumption and cooling requirements lead to reduced utility bills.</a:t>
            </a:r>
          </a:p>
          <a:p>
            <a:endParaRPr lang="en-IN" b="1" dirty="0"/>
          </a:p>
          <a:p>
            <a:r>
              <a:rPr lang="en-IN" b="1" dirty="0"/>
              <a:t>Space Optimization</a:t>
            </a:r>
            <a:r>
              <a:rPr lang="en-IN" dirty="0"/>
              <a:t>: Smaller data </a:t>
            </a:r>
            <a:r>
              <a:rPr lang="en-IN" dirty="0" err="1"/>
              <a:t>center</a:t>
            </a:r>
            <a:r>
              <a:rPr lang="en-IN" dirty="0"/>
              <a:t> footprints save on physical space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88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5210-4216-F54E-C17C-60CD43A2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Savings with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D2C59-13D3-B023-BB85-5177BC3B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Maintenance Costs</a:t>
            </a:r>
            <a:r>
              <a:rPr lang="en-IN" dirty="0"/>
              <a:t>: Simplified infrastructure results in reduced maintenance and repair costs.</a:t>
            </a:r>
          </a:p>
          <a:p>
            <a:endParaRPr lang="en-IN" b="1" dirty="0"/>
          </a:p>
          <a:p>
            <a:r>
              <a:rPr lang="en-IN" b="1" dirty="0"/>
              <a:t>Improved Utilization</a:t>
            </a:r>
            <a:r>
              <a:rPr lang="en-IN" dirty="0"/>
              <a:t>: Maximized hardware utilization prevents resource wastage.</a:t>
            </a:r>
          </a:p>
          <a:p>
            <a:endParaRPr lang="en-IN" b="1" dirty="0"/>
          </a:p>
          <a:p>
            <a:r>
              <a:rPr lang="en-IN" b="1" dirty="0"/>
              <a:t>Reduced Downtime Costs</a:t>
            </a:r>
            <a:r>
              <a:rPr lang="en-IN" dirty="0"/>
              <a:t>: Enhanced disaster recovery and high availability reduce costs associated with downtime.</a:t>
            </a:r>
          </a:p>
          <a:p>
            <a:endParaRPr lang="en-IN" b="1" dirty="0"/>
          </a:p>
          <a:p>
            <a:r>
              <a:rPr lang="en-IN" b="1" dirty="0"/>
              <a:t>License and Software Optimization</a:t>
            </a:r>
            <a:r>
              <a:rPr lang="en-IN" dirty="0"/>
              <a:t>: Pooling resources can reduce the number of software licenses required for physical servers.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77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22054-4D81-1B52-5F60-64431273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Hardware/Software Server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BC08-C492-2DB3-0B76-9C8B30705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Hardware Layer:</a:t>
            </a:r>
          </a:p>
          <a:p>
            <a:pPr lvl="1"/>
            <a:r>
              <a:rPr lang="en-US" dirty="0"/>
              <a:t>Physical Server: CPU, memory (RAM), storage (HDD/SSD), and network interface cards (NICs).</a:t>
            </a:r>
          </a:p>
          <a:p>
            <a:pPr lvl="1"/>
            <a:r>
              <a:rPr lang="en-US" dirty="0"/>
              <a:t>Peripheral Devices: RAID controllers, power supplies, and cooling systems.</a:t>
            </a:r>
          </a:p>
          <a:p>
            <a:endParaRPr lang="en-US" dirty="0"/>
          </a:p>
          <a:p>
            <a:r>
              <a:rPr lang="en-US" dirty="0"/>
              <a:t>Firmware: BIOS/UEFI for bootstrapping and hardware configuration.</a:t>
            </a:r>
          </a:p>
          <a:p>
            <a:endParaRPr lang="en-US" dirty="0"/>
          </a:p>
          <a:p>
            <a:r>
              <a:rPr lang="en-US" dirty="0"/>
              <a:t>Virtualization Layer: Hypervisor (e.g., VMware </a:t>
            </a:r>
            <a:r>
              <a:rPr lang="en-US" dirty="0" err="1"/>
              <a:t>ESXi</a:t>
            </a:r>
            <a:r>
              <a:rPr lang="en-US" dirty="0"/>
              <a:t>, Microsoft Hyper-V, KVM) for managing virtual machines.</a:t>
            </a:r>
          </a:p>
          <a:p>
            <a:endParaRPr lang="en-US" dirty="0"/>
          </a:p>
          <a:p>
            <a:r>
              <a:rPr lang="en-US" dirty="0"/>
              <a:t>Operating System: Windows Server, Linux distributions (e.g., Ubuntu Server, CentOS), or Unix variants.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82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4BBE-4057-DA31-F889-9B4AB721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Hardware/Software Server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461F2-A8FE-9F13-2B72-FBBBD9511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Middleware: Software that bridges the OS and applications (e.g., web servers, application servers).</a:t>
            </a:r>
          </a:p>
          <a:p>
            <a:endParaRPr lang="en-US" dirty="0"/>
          </a:p>
          <a:p>
            <a:r>
              <a:rPr lang="en-US" dirty="0"/>
              <a:t>Applications: Business applications, databases, and end-user software.</a:t>
            </a:r>
          </a:p>
          <a:p>
            <a:endParaRPr lang="en-US" dirty="0"/>
          </a:p>
          <a:p>
            <a:r>
              <a:rPr lang="en-US" dirty="0"/>
              <a:t>Management and Monitoring Tools: Tools for infrastructure monitoring, resource allocation, and performance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53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2E9A-21B6-4F4D-50DA-24A36F77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BFF42-AAAC-6233-1147-3A1C6212D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equivalence in the context of virtualization refers to maintaining the same functional behavior of applications and services after transitioning from physical to virtual environments. This ensures:</a:t>
            </a:r>
          </a:p>
          <a:p>
            <a:endParaRPr lang="en-US" dirty="0"/>
          </a:p>
          <a:p>
            <a:r>
              <a:rPr lang="en-US" dirty="0"/>
              <a:t>Application Behavior: Applications operate identically in the virtualized environment without requiring significant code changes.</a:t>
            </a:r>
          </a:p>
          <a:p>
            <a:endParaRPr lang="en-US" dirty="0"/>
          </a:p>
          <a:p>
            <a:r>
              <a:rPr lang="en-US" dirty="0"/>
              <a:t>Resource Equivalence: The virtual environment provides resources equivalent to those available in the physical setup.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588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E4F7-4A86-BD1D-B583-595941AD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E840-F6BF-1E51-B2AF-1FE8AFB71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Expectations: Virtual machines match or exceed the performance benchmarks of their physical counterparts.</a:t>
            </a:r>
          </a:p>
          <a:p>
            <a:endParaRPr lang="en-US" dirty="0"/>
          </a:p>
          <a:p>
            <a:r>
              <a:rPr lang="en-US" dirty="0"/>
              <a:t>Network and Security Policies: Logical network setups and security configurations mirror those in the physical environment.</a:t>
            </a:r>
          </a:p>
          <a:p>
            <a:endParaRPr lang="en-US" dirty="0"/>
          </a:p>
          <a:p>
            <a:r>
              <a:rPr lang="en-US" dirty="0"/>
              <a:t>User Experience: End-users perceive no difference in application responsiveness or availability.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0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88E1-42AF-EA2D-1411-362382EF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Pre-Virtualization Server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0173-AA50-6A9E-AD24-F31FEA4E4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Hardware-Centric:</a:t>
            </a:r>
          </a:p>
          <a:p>
            <a:pPr lvl="1"/>
            <a:r>
              <a:rPr lang="en-US" dirty="0"/>
              <a:t>One application per physical server to avoid conflicts.</a:t>
            </a:r>
          </a:p>
          <a:p>
            <a:pPr lvl="1"/>
            <a:r>
              <a:rPr lang="en-US" dirty="0"/>
              <a:t>Low resource utilization (CPU and memory often underutilized).</a:t>
            </a:r>
          </a:p>
          <a:p>
            <a:pPr lvl="1"/>
            <a:r>
              <a:rPr lang="en-US" dirty="0"/>
              <a:t>High energy and space costs due to dedicated hardware for each workload.</a:t>
            </a:r>
          </a:p>
          <a:p>
            <a:endParaRPr lang="en-US" dirty="0"/>
          </a:p>
          <a:p>
            <a:r>
              <a:rPr lang="en-US" dirty="0"/>
              <a:t>Complex Management: Separate management for each server, increasing operational overhead.</a:t>
            </a:r>
          </a:p>
          <a:p>
            <a:endParaRPr lang="en-US" dirty="0"/>
          </a:p>
          <a:p>
            <a:r>
              <a:rPr lang="en-US" dirty="0"/>
              <a:t>Limited Scalability: Adding workloads requires purchasing and provisioning new physical servers.</a:t>
            </a:r>
          </a:p>
          <a:p>
            <a:endParaRPr lang="en-US" dirty="0"/>
          </a:p>
          <a:p>
            <a:r>
              <a:rPr lang="en-US" dirty="0"/>
              <a:t>Disaster Recovery: Complex and slower recovery due to the need for identical hardware replacements.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7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A9AB-8B5E-A78B-958F-5389A95D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Post-Virtualization Server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3F76D-E4E8-24EA-5EE5-2F0D17623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Virtualized Hardware Layer</a:t>
            </a:r>
            <a:r>
              <a:rPr lang="en-IN" dirty="0"/>
              <a:t>: Physical servers host hypervisors to create multiple VMs.</a:t>
            </a:r>
          </a:p>
          <a:p>
            <a:endParaRPr lang="en-IN" b="1" dirty="0"/>
          </a:p>
          <a:p>
            <a:r>
              <a:rPr lang="en-IN" b="1" dirty="0"/>
              <a:t>Efficient Resource Utilization</a:t>
            </a:r>
            <a:r>
              <a:rPr lang="en-IN" dirty="0"/>
              <a:t>: Resources dynamically allocated among VMs based on demand.</a:t>
            </a:r>
          </a:p>
          <a:p>
            <a:endParaRPr lang="en-IN" b="1" dirty="0"/>
          </a:p>
          <a:p>
            <a:r>
              <a:rPr lang="en-IN" b="1" dirty="0"/>
              <a:t>Centralized Management</a:t>
            </a:r>
            <a:r>
              <a:rPr lang="en-IN" dirty="0"/>
              <a:t>: Tools like VMware vCenter or Microsoft System </a:t>
            </a:r>
            <a:r>
              <a:rPr lang="en-IN" dirty="0" err="1"/>
              <a:t>Center</a:t>
            </a:r>
            <a:r>
              <a:rPr lang="en-IN" dirty="0"/>
              <a:t> manage the entire virtual environment.</a:t>
            </a:r>
          </a:p>
          <a:p>
            <a:endParaRPr lang="en-IN" b="1" dirty="0"/>
          </a:p>
          <a:p>
            <a:r>
              <a:rPr lang="en-IN" b="1" dirty="0"/>
              <a:t>Scalability</a:t>
            </a:r>
            <a:r>
              <a:rPr lang="en-IN" dirty="0"/>
              <a:t>: New VMs can be quickly created without additional hardware.</a:t>
            </a:r>
          </a:p>
        </p:txBody>
      </p:sp>
    </p:spTree>
    <p:extLst>
      <p:ext uri="{BB962C8B-B14F-4D97-AF65-F5344CB8AC3E}">
        <p14:creationId xmlns:p14="http://schemas.microsoft.com/office/powerpoint/2010/main" val="96756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1C34-A10C-AB7E-4100-08982D7B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Post-Virtualization Server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31243-C681-4DDC-E1FA-88C5013D8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Cost Efficiency</a:t>
            </a:r>
            <a:r>
              <a:rPr lang="en-IN" dirty="0"/>
              <a:t>: Reduced hardware, energy, and maintenance costs.</a:t>
            </a:r>
          </a:p>
          <a:p>
            <a:endParaRPr lang="en-IN" b="1" dirty="0"/>
          </a:p>
          <a:p>
            <a:r>
              <a:rPr lang="en-IN" b="1" dirty="0"/>
              <a:t>Improved Disaster Recovery</a:t>
            </a:r>
            <a:r>
              <a:rPr lang="en-IN" dirty="0"/>
              <a:t>: Snapshot and replication features enable fast and flexible recovery.</a:t>
            </a:r>
          </a:p>
          <a:p>
            <a:endParaRPr lang="en-IN" b="1" dirty="0"/>
          </a:p>
          <a:p>
            <a:r>
              <a:rPr lang="en-IN" b="1" dirty="0"/>
              <a:t>Enhanced Flexibility</a:t>
            </a:r>
            <a:r>
              <a:rPr lang="en-IN" dirty="0"/>
              <a:t>: Applications are decoupled from physical hardware, allowing easier migration and scaling.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267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E9B6-6F19-92C7-8C5F-57B46F5A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Virtualization: Cost Impact, Manageability Impact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145F78B-4772-D15A-E064-1BB1C4753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417651"/>
              </p:ext>
            </p:extLst>
          </p:nvPr>
        </p:nvGraphicFramePr>
        <p:xfrm>
          <a:off x="1597572" y="1930400"/>
          <a:ext cx="6516415" cy="445989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03283">
                  <a:extLst>
                    <a:ext uri="{9D8B030D-6E8A-4147-A177-3AD203B41FA5}">
                      <a16:colId xmlns:a16="http://schemas.microsoft.com/office/drawing/2014/main" val="1310163107"/>
                    </a:ext>
                  </a:extLst>
                </a:gridCol>
                <a:gridCol w="1303283">
                  <a:extLst>
                    <a:ext uri="{9D8B030D-6E8A-4147-A177-3AD203B41FA5}">
                      <a16:colId xmlns:a16="http://schemas.microsoft.com/office/drawing/2014/main" val="2684950685"/>
                    </a:ext>
                  </a:extLst>
                </a:gridCol>
                <a:gridCol w="1303283">
                  <a:extLst>
                    <a:ext uri="{9D8B030D-6E8A-4147-A177-3AD203B41FA5}">
                      <a16:colId xmlns:a16="http://schemas.microsoft.com/office/drawing/2014/main" val="3277490505"/>
                    </a:ext>
                  </a:extLst>
                </a:gridCol>
                <a:gridCol w="1303283">
                  <a:extLst>
                    <a:ext uri="{9D8B030D-6E8A-4147-A177-3AD203B41FA5}">
                      <a16:colId xmlns:a16="http://schemas.microsoft.com/office/drawing/2014/main" val="822122121"/>
                    </a:ext>
                  </a:extLst>
                </a:gridCol>
                <a:gridCol w="1303283">
                  <a:extLst>
                    <a:ext uri="{9D8B030D-6E8A-4147-A177-3AD203B41FA5}">
                      <a16:colId xmlns:a16="http://schemas.microsoft.com/office/drawing/2014/main" val="199232230"/>
                    </a:ext>
                  </a:extLst>
                </a:gridCol>
              </a:tblGrid>
              <a:tr h="306070">
                <a:tc>
                  <a:txBody>
                    <a:bodyPr/>
                    <a:lstStyle/>
                    <a:p>
                      <a:r>
                        <a:rPr lang="en-IN" sz="700" b="1"/>
                        <a:t>Impact Category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Aspect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Details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CAPEX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OPEX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extLst>
                  <a:ext uri="{0D108BD9-81ED-4DB2-BD59-A6C34878D82A}">
                    <a16:rowId xmlns:a16="http://schemas.microsoft.com/office/drawing/2014/main" val="3181292997"/>
                  </a:ext>
                </a:extLst>
              </a:tr>
              <a:tr h="830764">
                <a:tc>
                  <a:txBody>
                    <a:bodyPr/>
                    <a:lstStyle/>
                    <a:p>
                      <a:r>
                        <a:rPr lang="en-IN" sz="700" b="1"/>
                        <a:t>Cost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Hardware Consolidation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Fewer physical servers reduce upfront hardware purchase costs.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Reduction</a:t>
                      </a:r>
                      <a:r>
                        <a:rPr lang="en-IN" sz="700"/>
                        <a:t>: Fewer servers needed.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Reduction</a:t>
                      </a:r>
                      <a:r>
                        <a:rPr lang="en-IN" sz="700"/>
                        <a:t>: Lower maintenance and power costs.</a:t>
                      </a:r>
                    </a:p>
                  </a:txBody>
                  <a:tcPr marL="38053" marR="38053" marT="19027" marB="19027" anchor="ctr"/>
                </a:tc>
                <a:extLst>
                  <a:ext uri="{0D108BD9-81ED-4DB2-BD59-A6C34878D82A}">
                    <a16:rowId xmlns:a16="http://schemas.microsoft.com/office/drawing/2014/main" val="3423166586"/>
                  </a:ext>
                </a:extLst>
              </a:tr>
              <a:tr h="830764">
                <a:tc>
                  <a:txBody>
                    <a:bodyPr/>
                    <a:lstStyle/>
                    <a:p>
                      <a:r>
                        <a:rPr lang="en-IN" sz="700" b="1"/>
                        <a:t>Manageability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Resource Utilization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Improved utilization of CPU, memory, and storage across virtual machines.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Neutral</a:t>
                      </a:r>
                      <a:r>
                        <a:rPr lang="en-IN" sz="700"/>
                        <a:t>: Initial investment in hypervisors and tools.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Reduction</a:t>
                      </a:r>
                      <a:r>
                        <a:rPr lang="en-IN" sz="700"/>
                        <a:t>: Higher efficiency reduces energy and waste.</a:t>
                      </a:r>
                    </a:p>
                  </a:txBody>
                  <a:tcPr marL="38053" marR="38053" marT="19027" marB="19027" anchor="ctr"/>
                </a:tc>
                <a:extLst>
                  <a:ext uri="{0D108BD9-81ED-4DB2-BD59-A6C34878D82A}">
                    <a16:rowId xmlns:a16="http://schemas.microsoft.com/office/drawing/2014/main" val="1937593045"/>
                  </a:ext>
                </a:extLst>
              </a:tr>
              <a:tr h="830764">
                <a:tc>
                  <a:txBody>
                    <a:bodyPr/>
                    <a:lstStyle/>
                    <a:p>
                      <a:r>
                        <a:rPr lang="en-IN" sz="700" b="1"/>
                        <a:t>Cost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Disaster Recovery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Simplified disaster recovery with snapshots and replication.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Increase</a:t>
                      </a:r>
                      <a:r>
                        <a:rPr lang="en-IN" sz="700"/>
                        <a:t>: Investment in storage and replication systems.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Reduction</a:t>
                      </a:r>
                      <a:r>
                        <a:rPr lang="en-IN" sz="700"/>
                        <a:t>: Faster recovery minimizes downtime costs.</a:t>
                      </a:r>
                    </a:p>
                  </a:txBody>
                  <a:tcPr marL="38053" marR="38053" marT="19027" marB="19027" anchor="ctr"/>
                </a:tc>
                <a:extLst>
                  <a:ext uri="{0D108BD9-81ED-4DB2-BD59-A6C34878D82A}">
                    <a16:rowId xmlns:a16="http://schemas.microsoft.com/office/drawing/2014/main" val="1988695747"/>
                  </a:ext>
                </a:extLst>
              </a:tr>
              <a:tr h="961937">
                <a:tc>
                  <a:txBody>
                    <a:bodyPr/>
                    <a:lstStyle/>
                    <a:p>
                      <a:r>
                        <a:rPr lang="en-IN" sz="700" b="1"/>
                        <a:t>Manageability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Centralized Management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Unified tools for managing virtual environments simplify IT administration.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Neutral</a:t>
                      </a:r>
                      <a:r>
                        <a:rPr lang="en-IN" sz="700"/>
                        <a:t>: One-time software and training costs.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Reduction</a:t>
                      </a:r>
                      <a:r>
                        <a:rPr lang="en-IN" sz="700"/>
                        <a:t>: Lower labor costs and increased automation.</a:t>
                      </a:r>
                    </a:p>
                  </a:txBody>
                  <a:tcPr marL="38053" marR="38053" marT="19027" marB="19027" anchor="ctr"/>
                </a:tc>
                <a:extLst>
                  <a:ext uri="{0D108BD9-81ED-4DB2-BD59-A6C34878D82A}">
                    <a16:rowId xmlns:a16="http://schemas.microsoft.com/office/drawing/2014/main" val="289821021"/>
                  </a:ext>
                </a:extLst>
              </a:tr>
              <a:tr h="699591">
                <a:tc>
                  <a:txBody>
                    <a:bodyPr/>
                    <a:lstStyle/>
                    <a:p>
                      <a:r>
                        <a:rPr lang="en-IN" sz="700" b="1"/>
                        <a:t>Cost Impact</a:t>
                      </a:r>
                      <a:endParaRPr lang="en-IN" sz="700"/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Scalability and Flexibility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Easy addition of VMs without hardware upgrades.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/>
                        <a:t>Reduction</a:t>
                      </a:r>
                      <a:r>
                        <a:rPr lang="en-IN" sz="700"/>
                        <a:t>: No need for constant hardware expansion.</a:t>
                      </a:r>
                    </a:p>
                  </a:txBody>
                  <a:tcPr marL="38053" marR="38053" marT="19027" marB="19027" anchor="ctr"/>
                </a:tc>
                <a:tc>
                  <a:txBody>
                    <a:bodyPr/>
                    <a:lstStyle/>
                    <a:p>
                      <a:r>
                        <a:rPr lang="en-IN" sz="700" b="1" dirty="0"/>
                        <a:t>Reduction</a:t>
                      </a:r>
                      <a:r>
                        <a:rPr lang="en-IN" sz="700" dirty="0"/>
                        <a:t>: Optimized resource allocation.</a:t>
                      </a:r>
                    </a:p>
                  </a:txBody>
                  <a:tcPr marL="38053" marR="38053" marT="19027" marB="19027" anchor="ctr"/>
                </a:tc>
                <a:extLst>
                  <a:ext uri="{0D108BD9-81ED-4DB2-BD59-A6C34878D82A}">
                    <a16:rowId xmlns:a16="http://schemas.microsoft.com/office/drawing/2014/main" val="96123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824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5EC-6612-42A1-AD9E-52F0173B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D2BE-7CE0-FFC7-D5E0-4D8EC9A0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4400" b="1"/>
              <a:t>						THANK </a:t>
            </a:r>
            <a:r>
              <a:rPr lang="en-US" sz="44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478554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76</TotalTime>
  <Words>1476</Words>
  <Application>Microsoft Macintosh PowerPoint</Application>
  <PresentationFormat>Widescreen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-webkit-standard</vt:lpstr>
      <vt:lpstr>Arial</vt:lpstr>
      <vt:lpstr>Trebuchet MS</vt:lpstr>
      <vt:lpstr>Wingdings 3</vt:lpstr>
      <vt:lpstr>Facet</vt:lpstr>
      <vt:lpstr>PowerPoint Presentation</vt:lpstr>
      <vt:lpstr>Triggers for Virtualization</vt:lpstr>
      <vt:lpstr>Triggers for Virtualization</vt:lpstr>
      <vt:lpstr>Preparation for Virtualization: Server Selection</vt:lpstr>
      <vt:lpstr>Preparation for Virtualization: Server Sizing</vt:lpstr>
      <vt:lpstr>Preparation for Virtualization: Server Criticality</vt:lpstr>
      <vt:lpstr>Preparation for Virtualization: Provisioning</vt:lpstr>
      <vt:lpstr>Preparation for Virtualization: Proximity and Locality</vt:lpstr>
      <vt:lpstr>Transition Tools for Virtualization</vt:lpstr>
      <vt:lpstr>Cost Savings with Virtualization</vt:lpstr>
      <vt:lpstr>Cost Savings with Virtualization</vt:lpstr>
      <vt:lpstr>A Typical Hardware/Software Server Stack</vt:lpstr>
      <vt:lpstr>A Typical Hardware/Software Server Stack</vt:lpstr>
      <vt:lpstr>Logical Equivalence</vt:lpstr>
      <vt:lpstr>Logical Equivalence</vt:lpstr>
      <vt:lpstr>Pre-Virtualization Server Stack</vt:lpstr>
      <vt:lpstr>Post-Virtualization Server Stack</vt:lpstr>
      <vt:lpstr>Post-Virtualization Server Stack</vt:lpstr>
      <vt:lpstr>Impact of Virtualization: Cost Impact, Manageability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Abhirup Khanna</dc:creator>
  <cp:lastModifiedBy>Abhirup Khanna</cp:lastModifiedBy>
  <cp:revision>26</cp:revision>
  <dcterms:created xsi:type="dcterms:W3CDTF">2025-01-13T09:01:16Z</dcterms:created>
  <dcterms:modified xsi:type="dcterms:W3CDTF">2025-01-20T03:49:53Z</dcterms:modified>
</cp:coreProperties>
</file>