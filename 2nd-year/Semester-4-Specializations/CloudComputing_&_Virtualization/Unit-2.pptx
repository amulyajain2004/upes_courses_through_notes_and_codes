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74"/>
  </p:normalViewPr>
  <p:slideViewPr>
    <p:cSldViewPr snapToGrid="0">
      <p:cViewPr varScale="1">
        <p:scale>
          <a:sx n="121" d="100"/>
          <a:sy n="121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EFA0-D44E-224F-BC52-E1BB3BC04AF9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877C0-E53F-504C-91A6-8E3127E19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32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EFA0-D44E-224F-BC52-E1BB3BC04AF9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877C0-E53F-504C-91A6-8E3127E19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829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EFA0-D44E-224F-BC52-E1BB3BC04AF9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877C0-E53F-504C-91A6-8E3127E19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20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EFA0-D44E-224F-BC52-E1BB3BC04AF9}" type="datetimeFigureOut">
              <a:rPr lang="en-US" smtClean="0"/>
              <a:t>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877C0-E53F-504C-91A6-8E3127E19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83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EFA0-D44E-224F-BC52-E1BB3BC04AF9}" type="datetimeFigureOut">
              <a:rPr lang="en-US" smtClean="0"/>
              <a:t>2/3/25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877C0-E53F-504C-91A6-8E3127E19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526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EFA0-D44E-224F-BC52-E1BB3BC04AF9}" type="datetimeFigureOut">
              <a:rPr lang="en-US" smtClean="0"/>
              <a:t>2/3/25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877C0-E53F-504C-91A6-8E3127E19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331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EFA0-D44E-224F-BC52-E1BB3BC04AF9}" type="datetimeFigureOut">
              <a:rPr lang="en-US" smtClean="0"/>
              <a:t>2/3/25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877C0-E53F-504C-91A6-8E3127E19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127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EFA0-D44E-224F-BC52-E1BB3BC04AF9}" type="datetimeFigureOut">
              <a:rPr lang="en-US" smtClean="0"/>
              <a:t>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877C0-E53F-504C-91A6-8E3127E19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68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EFA0-D44E-224F-BC52-E1BB3BC04AF9}" type="datetimeFigureOut">
              <a:rPr lang="en-US" smtClean="0"/>
              <a:t>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877C0-E53F-504C-91A6-8E3127E19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49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EFA0-D44E-224F-BC52-E1BB3BC04AF9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877C0-E53F-504C-91A6-8E3127E19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330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EFA0-D44E-224F-BC52-E1BB3BC04AF9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877C0-E53F-504C-91A6-8E3127E194C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0083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EFA0-D44E-224F-BC52-E1BB3BC04AF9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877C0-E53F-504C-91A6-8E3127E19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617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EFA0-D44E-224F-BC52-E1BB3BC04AF9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877C0-E53F-504C-91A6-8E3127E194C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54845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EFA0-D44E-224F-BC52-E1BB3BC04AF9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877C0-E53F-504C-91A6-8E3127E19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56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EFA0-D44E-224F-BC52-E1BB3BC04AF9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877C0-E53F-504C-91A6-8E3127E19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32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EFA0-D44E-224F-BC52-E1BB3BC04AF9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877C0-E53F-504C-91A6-8E3127E19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91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A8EFA0-D44E-224F-BC52-E1BB3BC04AF9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0A877C0-E53F-504C-91A6-8E3127E19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246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68FD2-CD86-94AA-C968-7006D3E20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A7836-F3BA-BCCA-80A1-72983C6BB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Converts physical storage devices into a unified, logical storage pool.</a:t>
            </a:r>
          </a:p>
          <a:p>
            <a:pPr algn="just"/>
            <a:endParaRPr lang="en-IN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algn="just"/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Simplifies administration by allowing a single point of control for diverse storage systems</a:t>
            </a:r>
            <a:r>
              <a:rPr lang="en-IN" dirty="0">
                <a:solidFill>
                  <a:srgbClr val="000000"/>
                </a:solidFill>
                <a:latin typeface="-webkit-standard"/>
              </a:rPr>
              <a:t>.</a:t>
            </a:r>
          </a:p>
          <a:p>
            <a:pPr algn="just"/>
            <a:endParaRPr lang="en-IN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algn="just"/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Enables dynamic allocation, scaling, and optimization of storage based on workload needs.</a:t>
            </a:r>
          </a:p>
          <a:p>
            <a:pPr algn="just"/>
            <a:endParaRPr lang="en-IN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algn="just"/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Decouples the storage hardware from applications and operating systems, making data management more adaptable.</a:t>
            </a:r>
            <a:endParaRPr lang="en-IN" dirty="0">
              <a:solidFill>
                <a:srgbClr val="000000"/>
              </a:solidFill>
              <a:latin typeface="-webkit-standard"/>
            </a:endParaRPr>
          </a:p>
          <a:p>
            <a:pPr algn="just"/>
            <a:endParaRPr lang="en-IN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algn="just"/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Maximizes resource use and reduces wasted capacity by aggregating and managing storage efficiently.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25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3308D-1C6F-1B1E-A357-016641DA6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Host-Level Storage Virtualization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741D3-6CF6-DAFE-9CA9-D8B711976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Virtualization is implemented through software installed directly on the host system, abstracting the underlying physical storage.</a:t>
            </a:r>
          </a:p>
          <a:p>
            <a:pPr algn="just"/>
            <a:endParaRPr lang="en-IN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algn="just"/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Combines multiple storage devices attached to a host into a single logical volume, simplifying management.</a:t>
            </a:r>
            <a:endParaRPr lang="en-IN" dirty="0">
              <a:solidFill>
                <a:srgbClr val="000000"/>
              </a:solidFill>
              <a:latin typeface="-webkit-standard"/>
            </a:endParaRPr>
          </a:p>
          <a:p>
            <a:pPr algn="just"/>
            <a:endParaRPr lang="en-IN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algn="just"/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Each host manages its own storage virtualization, which can lead to varying configurations across systems.</a:t>
            </a:r>
          </a:p>
          <a:p>
            <a:pPr algn="just"/>
            <a:endParaRPr lang="en-IN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algn="just"/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Suited for setups where centralized storage controllers are not available, offering a flexible solution without additional hardware investment.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544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B56E2-8981-71B2-6FFB-604CC0D61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F57E0-DFDC-1003-E79F-E464DD3D7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Linux Logical Volume Manager (LVM):</a:t>
            </a:r>
            <a:endParaRPr lang="en-IN" dirty="0"/>
          </a:p>
          <a:p>
            <a:pPr lvl="1"/>
            <a:r>
              <a:rPr lang="en-IN" dirty="0"/>
              <a:t>Allows administrators to create, resize, and manage logical volumes independent of physical storage constraints.</a:t>
            </a:r>
          </a:p>
          <a:p>
            <a:endParaRPr lang="en-IN" b="1" dirty="0"/>
          </a:p>
          <a:p>
            <a:r>
              <a:rPr lang="en-IN" b="1" dirty="0"/>
              <a:t>Microsoft Windows Storage Spaces / Disk Manager:</a:t>
            </a:r>
            <a:endParaRPr lang="en-IN" dirty="0"/>
          </a:p>
          <a:p>
            <a:pPr lvl="1"/>
            <a:r>
              <a:rPr lang="en-IN" dirty="0"/>
              <a:t>Enables users to group physical disks into storage pools and create virtual disks with features like resiliency and dynamic allocation.</a:t>
            </a:r>
          </a:p>
          <a:p>
            <a:endParaRPr lang="en-IN" b="1" dirty="0"/>
          </a:p>
          <a:p>
            <a:r>
              <a:rPr lang="en-IN" b="1" dirty="0"/>
              <a:t>Veritas Volume Manager (</a:t>
            </a:r>
            <a:r>
              <a:rPr lang="en-IN" b="1" dirty="0" err="1"/>
              <a:t>VxVM</a:t>
            </a:r>
            <a:r>
              <a:rPr lang="en-IN" b="1" dirty="0"/>
              <a:t>):</a:t>
            </a:r>
            <a:endParaRPr lang="en-IN" dirty="0"/>
          </a:p>
          <a:p>
            <a:pPr lvl="1"/>
            <a:r>
              <a:rPr lang="en-IN" dirty="0"/>
              <a:t>Provides a robust framework for managing and abstracting physical storage into logical volumes, enhancing flexibility and performance in enterprise environments.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93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10AFB-43CE-6623-042B-69A3A45DE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Host-Based Mirroring Virtualization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C5473-264E-4176-41DC-19A7E4D7C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Data mirroring is managed by the host system, creating duplicate copies of data for redundancy and protection.</a:t>
            </a:r>
          </a:p>
          <a:p>
            <a:endParaRPr lang="en-IN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Provides immediate failover options by keeping real-time replicas, ensuring high availability in case of storage failures.</a:t>
            </a:r>
            <a:endParaRPr lang="en-IN" dirty="0">
              <a:solidFill>
                <a:srgbClr val="000000"/>
              </a:solidFill>
              <a:latin typeface="-webkit-standard"/>
            </a:endParaRPr>
          </a:p>
          <a:p>
            <a:endParaRPr lang="en-IN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 replication process can introduce extra load on the host, potentially impacting system performance during peak operations.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326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06493-B6D8-0FB1-0616-2CE1164EB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Storage-Level Virtualization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E44C8-BC4B-DA68-341C-DC7C32BD7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Virtualization occurs within dedicated storage hardware or arrays, presenting a unified view of all storage resources.</a:t>
            </a:r>
          </a:p>
          <a:p>
            <a:endParaRPr lang="en-IN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Decouples storage management from the host, allowing various types of storage devices to be integrated and managed seamlessly</a:t>
            </a:r>
            <a:r>
              <a:rPr lang="en-IN" dirty="0">
                <a:solidFill>
                  <a:srgbClr val="000000"/>
                </a:solidFill>
                <a:latin typeface="-webkit-standard"/>
              </a:rPr>
              <a:t>.</a:t>
            </a:r>
          </a:p>
          <a:p>
            <a:endParaRPr lang="en-IN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Easily accommodates additional storage resources and supports advanced features like load balancing and automated tiering.</a:t>
            </a:r>
          </a:p>
          <a:p>
            <a:endParaRPr lang="en-IN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Optimizes data distribution and redundancy across the storage network, often leading to higher performance and greater fault tolerance</a:t>
            </a:r>
            <a:r>
              <a:rPr lang="en-IN" dirty="0">
                <a:solidFill>
                  <a:srgbClr val="000000"/>
                </a:solidFill>
                <a:latin typeface="-webkit-standard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938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B2403-725C-20D6-EB66-CE0BF4739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B9DB1-2312-6D96-8945-CF55EA4AF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IBM SAN Volume Controller (SVC):</a:t>
            </a:r>
            <a:endParaRPr lang="en-IN" dirty="0"/>
          </a:p>
          <a:p>
            <a:pPr lvl="1"/>
            <a:r>
              <a:rPr lang="en-IN" dirty="0"/>
              <a:t>Acts as an abstraction layer between hosts and heterogeneous storage arrays, pooling resources and enhancing data mobility.</a:t>
            </a:r>
          </a:p>
          <a:p>
            <a:endParaRPr lang="en-IN" b="1" dirty="0"/>
          </a:p>
          <a:p>
            <a:r>
              <a:rPr lang="en-IN" b="1" dirty="0"/>
              <a:t>Dell EMC VPLEX:</a:t>
            </a:r>
            <a:endParaRPr lang="en-IN" dirty="0"/>
          </a:p>
          <a:p>
            <a:pPr lvl="1"/>
            <a:r>
              <a:rPr lang="en-IN" dirty="0"/>
              <a:t>Provides a distributed storage virtualization platform that enables data access across multiple storage systems and locations.</a:t>
            </a:r>
          </a:p>
          <a:p>
            <a:endParaRPr lang="en-IN" b="1" dirty="0"/>
          </a:p>
          <a:p>
            <a:r>
              <a:rPr lang="en-IN" b="1" dirty="0"/>
              <a:t>HPE 3PAR </a:t>
            </a:r>
            <a:r>
              <a:rPr lang="en-IN" b="1" dirty="0" err="1"/>
              <a:t>StoreServ</a:t>
            </a:r>
            <a:r>
              <a:rPr lang="en-IN" b="1" dirty="0"/>
              <a:t>:</a:t>
            </a:r>
            <a:endParaRPr lang="en-IN" dirty="0"/>
          </a:p>
          <a:p>
            <a:pPr lvl="1"/>
            <a:r>
              <a:rPr lang="en-IN" dirty="0"/>
              <a:t>Incorporates advanced virtualization features that optimize storage performance and scalability while managing diverse storage resources.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53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3C6A-8EB1-4241-CB5A-C52288EB6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06ACB-F1CF-2F32-D9C8-88BCF5C7F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Data </a:t>
            </a:r>
            <a:r>
              <a:rPr lang="en-IN" b="1" dirty="0" err="1"/>
              <a:t>Center</a:t>
            </a:r>
            <a:r>
              <a:rPr lang="en-IN" b="1" dirty="0"/>
              <a:t> Consolidation:</a:t>
            </a:r>
            <a:endParaRPr lang="en-IN" dirty="0"/>
          </a:p>
          <a:p>
            <a:pPr lvl="1"/>
            <a:r>
              <a:rPr lang="en-IN" dirty="0"/>
              <a:t>Aggregates storage from multiple arrays into a single management interface, simplifying administration and reducing hardware costs.</a:t>
            </a:r>
          </a:p>
          <a:p>
            <a:endParaRPr lang="en-IN" b="1" dirty="0"/>
          </a:p>
          <a:p>
            <a:r>
              <a:rPr lang="en-IN" b="1" dirty="0"/>
              <a:t>Disaster Recovery and Business Continuity:</a:t>
            </a:r>
            <a:endParaRPr lang="en-IN" dirty="0"/>
          </a:p>
          <a:p>
            <a:pPr lvl="1"/>
            <a:r>
              <a:rPr lang="en-IN" dirty="0"/>
              <a:t>Enables rapid data replication and failover across different storage systems, ensuring minimal downtime during failures.</a:t>
            </a:r>
          </a:p>
          <a:p>
            <a:endParaRPr lang="en-IN" b="1" dirty="0"/>
          </a:p>
          <a:p>
            <a:r>
              <a:rPr lang="en-IN" b="1" dirty="0"/>
              <a:t>Hybrid Cloud Integration:</a:t>
            </a:r>
            <a:endParaRPr lang="en-IN" dirty="0"/>
          </a:p>
          <a:p>
            <a:pPr lvl="1"/>
            <a:r>
              <a:rPr lang="en-IN" dirty="0"/>
              <a:t>Seamlessly combines on-premises storage with cloud-based resources, providing flexible, scalable storage solutions for varying workloads.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717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D6222-CFF2-C1B4-4E2C-02CB47D06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00"/>
                </a:solidFill>
                <a:latin typeface="-webkit-standard"/>
              </a:rPr>
              <a:t>N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etwork-based storage virtualization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8EF0A-E782-48C4-DFBE-2AFD89F18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Uses a network-based controller or appliance to manage and consolidate storage resources across different devices.</a:t>
            </a:r>
          </a:p>
          <a:p>
            <a:endParaRPr lang="en-IN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Easily integrates additional storage arrays or devices into the network, enabling organizations to scale storage capacity without major reconfigurations. </a:t>
            </a:r>
          </a:p>
          <a:p>
            <a:endParaRPr lang="en-IN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Supports diverse storage technologies and vendors, providing a vendor-neutral platform that adapts to various enterprise environments.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08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790D1-0FB7-D75D-DDB3-0108DE44A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00"/>
                </a:solidFill>
                <a:latin typeface="-webkit-standard"/>
              </a:rPr>
              <a:t>N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etwork-based storage virtualization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D231C-0A77-8C99-AA7C-65E93F87B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Optimizes data flow and load balancing across the network, enhancing performance through efficient utilization of available storage resources.</a:t>
            </a: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Centralizes backup operations and disaster recovery processes, making it easier to implement consistent data protection strategies across the organization.</a:t>
            </a: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Provides fault tolerance through data mirroring and replication across the network, ensuring high availability in case of hardware failures.</a:t>
            </a: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513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D08F9-0C7F-85E0-189D-13C055537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Server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C5F62-6E11-45F2-8195-F3CBE6CA1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An application server is a software framework that creates an environment for running applications, simplifying heavy processing for client devices by managing server aspects.</a:t>
            </a:r>
          </a:p>
          <a:p>
            <a:endParaRPr lang="en-IN" dirty="0">
              <a:solidFill>
                <a:srgbClr val="000000"/>
              </a:solidFill>
              <a:latin typeface="-webkit-standard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An application server is a software framework that hosts and delivers business logic and applications to users or other systems.</a:t>
            </a:r>
          </a:p>
          <a:p>
            <a:endParaRPr lang="en-IN" dirty="0">
              <a:solidFill>
                <a:srgbClr val="000000"/>
              </a:solidFill>
              <a:latin typeface="-webkit-standard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Acts as an intermediary between client requests (e.g., web browsers or mobile apps) and backend databases or services, facilitating communication and data exchange.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657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6253F-DBA4-77FC-37EC-719CAEF2E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Server Vs Server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DC8AAC9-436B-F2B1-109F-CFD8EFB8D3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5407985"/>
              </p:ext>
            </p:extLst>
          </p:nvPr>
        </p:nvGraphicFramePr>
        <p:xfrm>
          <a:off x="677334" y="1644304"/>
          <a:ext cx="8897589" cy="4311940"/>
        </p:xfrm>
        <a:graphic>
          <a:graphicData uri="http://schemas.openxmlformats.org/drawingml/2006/table">
            <a:tbl>
              <a:tblPr/>
              <a:tblGrid>
                <a:gridCol w="2965863">
                  <a:extLst>
                    <a:ext uri="{9D8B030D-6E8A-4147-A177-3AD203B41FA5}">
                      <a16:colId xmlns:a16="http://schemas.microsoft.com/office/drawing/2014/main" val="677497676"/>
                    </a:ext>
                  </a:extLst>
                </a:gridCol>
                <a:gridCol w="2965863">
                  <a:extLst>
                    <a:ext uri="{9D8B030D-6E8A-4147-A177-3AD203B41FA5}">
                      <a16:colId xmlns:a16="http://schemas.microsoft.com/office/drawing/2014/main" val="1256965133"/>
                    </a:ext>
                  </a:extLst>
                </a:gridCol>
                <a:gridCol w="2965863">
                  <a:extLst>
                    <a:ext uri="{9D8B030D-6E8A-4147-A177-3AD203B41FA5}">
                      <a16:colId xmlns:a16="http://schemas.microsoft.com/office/drawing/2014/main" val="2008897192"/>
                    </a:ext>
                  </a:extLst>
                </a:gridCol>
              </a:tblGrid>
              <a:tr h="311505">
                <a:tc>
                  <a:txBody>
                    <a:bodyPr/>
                    <a:lstStyle/>
                    <a:p>
                      <a:r>
                        <a:rPr lang="en-IN" sz="1600" b="1"/>
                        <a:t>Aspect</a:t>
                      </a:r>
                      <a:endParaRPr lang="en-IN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Application Server</a:t>
                      </a:r>
                      <a:endParaRPr lang="en-IN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Server</a:t>
                      </a:r>
                      <a:endParaRPr lang="en-IN" sz="1600" dirty="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8651694"/>
                  </a:ext>
                </a:extLst>
              </a:tr>
              <a:tr h="778763">
                <a:tc>
                  <a:txBody>
                    <a:bodyPr/>
                    <a:lstStyle/>
                    <a:p>
                      <a:r>
                        <a:rPr lang="en-IN" sz="1600" b="1"/>
                        <a:t>Purpose/Functionality</a:t>
                      </a:r>
                      <a:endParaRPr lang="en-IN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Designed to execute business logic and host dynamic, multi-tier applications.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Primarily serves basic tasks like static content delivery or file hosting.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9870025"/>
                  </a:ext>
                </a:extLst>
              </a:tr>
              <a:tr h="1012392">
                <a:tc>
                  <a:txBody>
                    <a:bodyPr/>
                    <a:lstStyle/>
                    <a:p>
                      <a:r>
                        <a:rPr lang="en-IN" sz="1600" b="1"/>
                        <a:t>Processing Capability</a:t>
                      </a:r>
                      <a:endParaRPr lang="en-IN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Provides advanced processing features (transaction management, load balancing, connection pooling).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Offers standard processing capabilities for simple, specific functions.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817293"/>
                  </a:ext>
                </a:extLst>
              </a:tr>
              <a:tr h="1012392">
                <a:tc>
                  <a:txBody>
                    <a:bodyPr/>
                    <a:lstStyle/>
                    <a:p>
                      <a:r>
                        <a:rPr lang="en-IN" sz="1600" b="1"/>
                        <a:t>Middleware Role</a:t>
                      </a:r>
                      <a:endParaRPr lang="en-IN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Acts as middleware by interfacing between client requests and backend systems (e.g., databases, services).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Functions mainly as a resource host without extensive middleware integration.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2264335"/>
                  </a:ext>
                </a:extLst>
              </a:tr>
              <a:tr h="1012392">
                <a:tc>
                  <a:txBody>
                    <a:bodyPr/>
                    <a:lstStyle/>
                    <a:p>
                      <a:r>
                        <a:rPr lang="en-IN" sz="1600" b="1"/>
                        <a:t>Security &amp; Session Management</a:t>
                      </a:r>
                      <a:endParaRPr lang="en-IN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Includes integrated security features such as authentication, authorization, and session management.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Implements basic security measures without robust session handling.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4231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126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2844E-06EF-9954-EAFC-3BF97549A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Application Server Virtualization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DAD16-F056-9D45-ED9A-8F82E8464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Separates the application server's environment from the underlying physical hardware, allowing multiple virtual servers to run on a single physical machine.</a:t>
            </a:r>
          </a:p>
          <a:p>
            <a:endParaRPr lang="en-IN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Dynamically allocates CPU, memory, and storage resources among virtualized application servers to maximize efficiency and performance.</a:t>
            </a:r>
            <a:endParaRPr lang="en-IN" dirty="0">
              <a:solidFill>
                <a:srgbClr val="000000"/>
              </a:solidFill>
              <a:latin typeface="-webkit-standard"/>
            </a:endParaRPr>
          </a:p>
          <a:p>
            <a:endParaRPr lang="en-IN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Streamlines the deployment process using pre-configured templates or images, significantly reducing the time needed to launch new server instances.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621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8DE59-D29B-55F5-5F0E-32D0F51BA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Application Server Virtualization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1D2B7-599F-A0E4-4125-9B373B8E0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Provides a unified interface to monitor, manage, and update all virtualized application server instances, simplifying administration.</a:t>
            </a:r>
          </a:p>
          <a:p>
            <a:endParaRPr lang="en-IN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Enhances resilience with features such as snapshots, backups, and quick migration, ensuring minimal downtime in case of failures</a:t>
            </a:r>
            <a:r>
              <a:rPr lang="en-IN" dirty="0">
                <a:solidFill>
                  <a:srgbClr val="000000"/>
                </a:solidFill>
                <a:latin typeface="-webkit-standard"/>
              </a:rPr>
              <a:t>.</a:t>
            </a:r>
          </a:p>
          <a:p>
            <a:endParaRPr lang="en-IN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Supports dynamic distribution of workloads across multiple virtual servers, ensuring that no single server becomes a performance bottleneck.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179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2771E-8FD2-B323-1D10-71FACB018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FB327-9527-84F3-9A0E-39FE5AA6E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VMware vSphere:</a:t>
            </a:r>
            <a:endParaRPr lang="en-IN" dirty="0"/>
          </a:p>
          <a:p>
            <a:pPr lvl="1"/>
            <a:r>
              <a:rPr lang="en-IN" dirty="0"/>
              <a:t>A leading virtualization platform that enables the creation of multiple virtual machines (VMs) on physical hardware.</a:t>
            </a:r>
          </a:p>
          <a:p>
            <a:pPr lvl="1"/>
            <a:r>
              <a:rPr lang="en-IN" dirty="0"/>
              <a:t>Supports robust management and resource allocation for hosting application servers in isolated VMs.</a:t>
            </a:r>
          </a:p>
          <a:p>
            <a:endParaRPr lang="en-IN" b="1" dirty="0"/>
          </a:p>
          <a:p>
            <a:r>
              <a:rPr lang="en-IN" b="1" dirty="0"/>
              <a:t>Microsoft Hyper-V:</a:t>
            </a:r>
            <a:endParaRPr lang="en-IN" dirty="0"/>
          </a:p>
          <a:p>
            <a:pPr lvl="1"/>
            <a:r>
              <a:rPr lang="en-IN" dirty="0"/>
              <a:t>A native hypervisor for Windows that allows organizations to create and manage virtual machines.</a:t>
            </a:r>
          </a:p>
          <a:p>
            <a:pPr lvl="1"/>
            <a:r>
              <a:rPr lang="en-IN" dirty="0"/>
              <a:t>Provides features such as live migration and resource balancing, making it suitable for deploying application server environments.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61672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{0DBC9465-C6FA-1948-B936-66CC95CDA27D}tf10001060</Template>
  <TotalTime>29</TotalTime>
  <Words>1032</Words>
  <Application>Microsoft Macintosh PowerPoint</Application>
  <PresentationFormat>Widescreen</PresentationFormat>
  <Paragraphs>111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-webkit-standard</vt:lpstr>
      <vt:lpstr>Arial</vt:lpstr>
      <vt:lpstr>Trebuchet MS</vt:lpstr>
      <vt:lpstr>Wingdings 3</vt:lpstr>
      <vt:lpstr>Facet</vt:lpstr>
      <vt:lpstr>Storage Virtualization</vt:lpstr>
      <vt:lpstr>Host-Level Storage Virtualization</vt:lpstr>
      <vt:lpstr>Examples</vt:lpstr>
      <vt:lpstr>Host-Based Mirroring Virtualization</vt:lpstr>
      <vt:lpstr>Storage-Level Virtualization</vt:lpstr>
      <vt:lpstr>Example</vt:lpstr>
      <vt:lpstr>Use Cases</vt:lpstr>
      <vt:lpstr>Network-based storage virtualization</vt:lpstr>
      <vt:lpstr>Network-based storage virtualization</vt:lpstr>
      <vt:lpstr>Application Server Virtualization</vt:lpstr>
      <vt:lpstr>Application Server Vs Server</vt:lpstr>
      <vt:lpstr>Application Server Virtualization</vt:lpstr>
      <vt:lpstr>Application Server Virtualization</vt:lpstr>
      <vt:lpstr>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Storage Virtualization</dc:title>
  <dc:creator>Abhirup Khanna</dc:creator>
  <cp:lastModifiedBy>Abhirup Khanna</cp:lastModifiedBy>
  <cp:revision>1</cp:revision>
  <dcterms:created xsi:type="dcterms:W3CDTF">2025-02-03T05:23:09Z</dcterms:created>
  <dcterms:modified xsi:type="dcterms:W3CDTF">2025-02-03T05:52:30Z</dcterms:modified>
</cp:coreProperties>
</file>