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9" r:id="rId4"/>
    <p:sldId id="265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4"/>
  </p:normalViewPr>
  <p:slideViewPr>
    <p:cSldViewPr snapToGrid="0">
      <p:cViewPr varScale="1">
        <p:scale>
          <a:sx n="121" d="100"/>
          <a:sy n="121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FE1A-EF44-B446-8FAA-C509EB79C9CE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2E9A-8939-4B40-8A66-9147F9D27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322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FE1A-EF44-B446-8FAA-C509EB79C9CE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2E9A-8939-4B40-8A66-9147F9D27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FE1A-EF44-B446-8FAA-C509EB79C9CE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2E9A-8939-4B40-8A66-9147F9D27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971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FE1A-EF44-B446-8FAA-C509EB79C9CE}" type="datetimeFigureOut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2E9A-8939-4B40-8A66-9147F9D27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36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FE1A-EF44-B446-8FAA-C509EB79C9CE}" type="datetimeFigureOut">
              <a:rPr lang="en-US" smtClean="0"/>
              <a:t>4/15/25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2E9A-8939-4B40-8A66-9147F9D27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20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FE1A-EF44-B446-8FAA-C509EB79C9CE}" type="datetimeFigureOut">
              <a:rPr lang="en-US" smtClean="0"/>
              <a:t>4/15/25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2E9A-8939-4B40-8A66-9147F9D27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1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FE1A-EF44-B446-8FAA-C509EB79C9CE}" type="datetimeFigureOut">
              <a:rPr lang="en-US" smtClean="0"/>
              <a:t>4/15/25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2E9A-8939-4B40-8A66-9147F9D27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5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FE1A-EF44-B446-8FAA-C509EB79C9CE}" type="datetimeFigureOut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2E9A-8939-4B40-8A66-9147F9D27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6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FE1A-EF44-B446-8FAA-C509EB79C9CE}" type="datetimeFigureOut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2E9A-8939-4B40-8A66-9147F9D27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39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FE1A-EF44-B446-8FAA-C509EB79C9CE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2E9A-8939-4B40-8A66-9147F9D27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2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FE1A-EF44-B446-8FAA-C509EB79C9CE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2E9A-8939-4B40-8A66-9147F9D277A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2342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FE1A-EF44-B446-8FAA-C509EB79C9CE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2E9A-8939-4B40-8A66-9147F9D27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606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FE1A-EF44-B446-8FAA-C509EB79C9CE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2E9A-8939-4B40-8A66-9147F9D277A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2531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FE1A-EF44-B446-8FAA-C509EB79C9CE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2E9A-8939-4B40-8A66-9147F9D27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31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FE1A-EF44-B446-8FAA-C509EB79C9CE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2E9A-8939-4B40-8A66-9147F9D27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886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8FE1A-EF44-B446-8FAA-C509EB79C9CE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72E9A-8939-4B40-8A66-9147F9D27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00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8FE1A-EF44-B446-8FAA-C509EB79C9CE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3572E9A-8939-4B40-8A66-9147F9D27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7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13CF3-74E8-5BE5-5F6A-B8E7DAAB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Open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D908E-93F8-67A5-6053-7DC022AD3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Data Security and Privacy</a:t>
            </a:r>
          </a:p>
          <a:p>
            <a:pPr algn="just"/>
            <a:r>
              <a:rPr lang="en-US" dirty="0"/>
              <a:t>Protecting sensitive data stored and processed in the cloud from breaches, leaks, and unauthorized access.</a:t>
            </a:r>
          </a:p>
          <a:p>
            <a:pPr algn="just"/>
            <a:r>
              <a:rPr lang="en-US" dirty="0"/>
              <a:t>With increasing use of public and hybrid clouds, ensuring end-to-end encryption, secure multi-tenancy, and compliance with regulations like GDPR remains a critical challenge.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Multi-Cloud and Interoperability</a:t>
            </a:r>
          </a:p>
          <a:p>
            <a:pPr algn="just"/>
            <a:r>
              <a:rPr lang="en-US" dirty="0"/>
              <a:t>Managing applications and services across multiple cloud providers seamlessly.</a:t>
            </a:r>
          </a:p>
          <a:p>
            <a:pPr algn="just"/>
            <a:r>
              <a:rPr lang="en-US" dirty="0"/>
              <a:t>Many organizations use a multi-cloud strategy, but lack of standardization causes integration issues, vendor lock-in risks, and operational complexity.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026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85527-2623-8E5B-F567-6FEE460FE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Open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4D6F2-17AE-6455-2D41-DAFFAD3F8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Cost Optimization and Predictability</a:t>
            </a:r>
          </a:p>
          <a:p>
            <a:pPr algn="just"/>
            <a:r>
              <a:rPr lang="en-US" dirty="0"/>
              <a:t>Understanding and controlling dynamic cloud costs, especially with usage-based pricing models.</a:t>
            </a:r>
          </a:p>
          <a:p>
            <a:pPr algn="just"/>
            <a:r>
              <a:rPr lang="en-US" dirty="0"/>
              <a:t>Organizations often face unexpected bills due to auto-scaling, data transfer fees, and complex pricing structures.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Energy Efficiency and Sustainability</a:t>
            </a:r>
          </a:p>
          <a:p>
            <a:pPr algn="just"/>
            <a:r>
              <a:rPr lang="en-US" dirty="0"/>
              <a:t>Reducing the environmental impact of cloud data centers, which consume massive energy.</a:t>
            </a:r>
          </a:p>
          <a:p>
            <a:pPr algn="just"/>
            <a:r>
              <a:rPr lang="en-US" dirty="0"/>
              <a:t>There's growing pressure for cloud providers to reduce carbon footprints and use renewable energy, especially as cloud usage surges.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57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21861-002A-734F-10E2-DE1B912B3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Open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81748-CEBB-B097-7B29-9D05D01B7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Edge and Fog Computing Integration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Efficiently managing and processing data at the edge (closer to the user or device) while syncing with centralized cloud systems.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Emerging applications like IoT, autonomous vehicles, and real-time analytics require ultra-low latency and high reliability, pushing cloud infrastructure to evolve.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265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97DD-01D3-8012-10DD-BD098522D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Workloads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025D2-6F49-1440-11C2-CC1BB7FF0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Tasks or processes run on IT infrastructure – These include applications, services, and data operations executed on servers, networks, or cloud platforms.</a:t>
            </a:r>
          </a:p>
          <a:p>
            <a:pPr algn="just"/>
            <a:r>
              <a:rPr lang="en-US" dirty="0"/>
              <a:t>Can vary by resource demand: Workloads may be compute-heavy, memory-intensive, storage-bound, or network-dependent.</a:t>
            </a:r>
          </a:p>
          <a:p>
            <a:pPr algn="just"/>
            <a:r>
              <a:rPr lang="en-US" dirty="0"/>
              <a:t>Categorized by behavior: Examples include stateless vs. stateful, batch vs. real-time, or interactive vs. background workloads.</a:t>
            </a:r>
          </a:p>
          <a:p>
            <a:pPr algn="just"/>
            <a:r>
              <a:rPr lang="en-US" dirty="0"/>
              <a:t>Impact infrastructure planning and scaling – Understanding workload types helps optimize cost, performance, and reliability.</a:t>
            </a:r>
          </a:p>
          <a:p>
            <a:pPr algn="just"/>
            <a:r>
              <a:rPr lang="en-US" dirty="0"/>
              <a:t>Deployed across different environments – On-premises, cloud, hybrid, or edge setups, depending on business needs and workload characteristics.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629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90B7-F568-4B4B-5B95-53228D554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Stateful Workloads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8242-4D8B-D0D0-B61A-4790DE189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Maintain session or persistent data across transactions or user interactions (e.g., databases, chat apps).</a:t>
            </a:r>
          </a:p>
          <a:p>
            <a:pPr algn="just"/>
            <a:r>
              <a:rPr lang="en-US" dirty="0"/>
              <a:t>Require consistent storage (like volumes or databases) to retain state across restarts or crashes.</a:t>
            </a:r>
          </a:p>
          <a:p>
            <a:pPr algn="just"/>
            <a:r>
              <a:rPr lang="en-US" dirty="0"/>
              <a:t>Challenging to scale horizontally since state needs to be shared or replicated across nodes.</a:t>
            </a:r>
          </a:p>
          <a:p>
            <a:pPr algn="just"/>
            <a:r>
              <a:rPr lang="en-US" dirty="0"/>
              <a:t>Tightly coupled components often depend on each other’s current state or memory.</a:t>
            </a:r>
          </a:p>
          <a:p>
            <a:pPr algn="just"/>
            <a:r>
              <a:rPr lang="en-US" dirty="0"/>
              <a:t>More complex failover and recovery since state must be preserved or recovered properly.</a:t>
            </a:r>
          </a:p>
        </p:txBody>
      </p:sp>
    </p:spTree>
    <p:extLst>
      <p:ext uri="{BB962C8B-B14F-4D97-AF65-F5344CB8AC3E}">
        <p14:creationId xmlns:p14="http://schemas.microsoft.com/office/powerpoint/2010/main" val="4191507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5A1C-BC07-F800-CC23-ED1D5B00F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Stateless Workloads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FEC01-ED36-7222-BF94-CCE94D644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Do not retain data or state between requests (e.g., REST APIs, microservices).</a:t>
            </a:r>
          </a:p>
          <a:p>
            <a:pPr algn="just"/>
            <a:r>
              <a:rPr lang="en-US" dirty="0"/>
              <a:t>Easier to scale and load-balance, as any instance can handle any request.</a:t>
            </a:r>
          </a:p>
          <a:p>
            <a:pPr algn="just"/>
            <a:r>
              <a:rPr lang="en-US" dirty="0"/>
              <a:t>Often used in serverless or containerized environments for flexibility and speed.</a:t>
            </a:r>
          </a:p>
          <a:p>
            <a:pPr algn="just"/>
            <a:r>
              <a:rPr lang="en-US" dirty="0"/>
              <a:t>Crash recovery is simpler, since no state needs restoring.</a:t>
            </a:r>
          </a:p>
          <a:p>
            <a:pPr algn="just"/>
            <a:r>
              <a:rPr lang="en-US" dirty="0"/>
              <a:t>Ideal for high-throughput, distributed systems, like frontend API gateways.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792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E374D-DBDC-5D63-5AFF-A3C693EAC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Demand-Intensive Workloads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8B21D-6446-ECB7-CF9E-C1C7C431D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Have unpredictable or </a:t>
            </a:r>
            <a:r>
              <a:rPr lang="en-US" dirty="0" err="1"/>
              <a:t>bursty</a:t>
            </a:r>
            <a:r>
              <a:rPr lang="en-US" dirty="0"/>
              <a:t> usage patterns, often requiring dynamic scaling.</a:t>
            </a:r>
          </a:p>
          <a:p>
            <a:pPr algn="just"/>
            <a:r>
              <a:rPr lang="en-US" dirty="0"/>
              <a:t>Need auto-scaling capabilities to manage fluctuating user or process demand.</a:t>
            </a:r>
          </a:p>
          <a:p>
            <a:pPr algn="just"/>
            <a:r>
              <a:rPr lang="en-US" dirty="0"/>
              <a:t>Often served via serverless or elastic cloud environments (e.g., e-commerce sites, streaming apps).</a:t>
            </a:r>
          </a:p>
          <a:p>
            <a:pPr algn="just"/>
            <a:r>
              <a:rPr lang="en-US" dirty="0"/>
              <a:t>May require temporary resource over-provisioning to avoid latency or failure.</a:t>
            </a:r>
          </a:p>
          <a:p>
            <a:pPr algn="just"/>
            <a:r>
              <a:rPr lang="en-US" dirty="0"/>
              <a:t>Billing complexity can arise, especially with usage-based pricing during spikes.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027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6EA6A-BA90-A335-8697-07D29EE8A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Resource-Intensive Workloads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129A0-95FC-FAFC-D3E1-D57F3567F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Consume significant CPU, RAM, storage, or GPU resources (e.g., ML training, analytics).</a:t>
            </a:r>
          </a:p>
          <a:p>
            <a:pPr algn="just"/>
            <a:r>
              <a:rPr lang="en-US" dirty="0"/>
              <a:t>Require careful planning of infrastructure to avoid bottlenecks.</a:t>
            </a:r>
          </a:p>
          <a:p>
            <a:pPr algn="just"/>
            <a:r>
              <a:rPr lang="en-US" dirty="0"/>
              <a:t>Best suited for dedicated or high-tier instances, possibly with hardware acceleration.</a:t>
            </a:r>
          </a:p>
          <a:p>
            <a:pPr algn="just"/>
            <a:r>
              <a:rPr lang="en-US" dirty="0"/>
              <a:t>Monitoring is essential to avoid overloading and ensure performance SLAs.</a:t>
            </a:r>
          </a:p>
          <a:p>
            <a:pPr algn="just"/>
            <a:r>
              <a:rPr lang="en-US" dirty="0"/>
              <a:t>Can lead to high operational cost, especially without optimization.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885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2B7B-D812-238A-1068-6DE359EA4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High-Performance Computing (HPC) Workloads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D12E6-C9F1-B83E-CA7C-E527BA516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Designed for complex, compute-heavy tasks like simulations, genomics, or CFD.</a:t>
            </a:r>
          </a:p>
          <a:p>
            <a:pPr algn="just"/>
            <a:r>
              <a:rPr lang="en-US" dirty="0"/>
              <a:t>Require massive parallel processing and often use tightly coupled nodes (e.g., via MPI).</a:t>
            </a:r>
          </a:p>
          <a:p>
            <a:pPr algn="just"/>
            <a:r>
              <a:rPr lang="en-US" dirty="0"/>
              <a:t>Need high-speed networking and fast storage (e.g., InfiniBand, </a:t>
            </a:r>
            <a:r>
              <a:rPr lang="en-US" dirty="0" err="1"/>
              <a:t>NVMe</a:t>
            </a:r>
            <a:r>
              <a:rPr lang="en-US" dirty="0"/>
              <a:t>).</a:t>
            </a:r>
          </a:p>
          <a:p>
            <a:pPr algn="just"/>
            <a:r>
              <a:rPr lang="en-US" dirty="0"/>
              <a:t>Often run on specialized clusters or supercomputers, but cloud HPC is growing fast.</a:t>
            </a:r>
          </a:p>
          <a:p>
            <a:pPr algn="just"/>
            <a:r>
              <a:rPr lang="en-US" dirty="0"/>
              <a:t>Job scheduling, workload orchestration, and fault tolerance are critical for large-scale HPC.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194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6514-D1AE-F306-D375-8FBDC5B9A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in Cloud </a:t>
            </a:r>
            <a:r>
              <a:rPr lang="en-US" dirty="0" err="1"/>
              <a:t>Environemnts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878E9-1935-920B-91EB-C288D4180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To create a copy of data for restoration if lost.</a:t>
            </a:r>
          </a:p>
          <a:p>
            <a:pPr algn="just"/>
            <a:r>
              <a:rPr lang="en-US" dirty="0"/>
              <a:t>Focuses on data protection only.</a:t>
            </a:r>
          </a:p>
          <a:p>
            <a:pPr algn="just"/>
            <a:r>
              <a:rPr lang="en-US" dirty="0"/>
              <a:t>Typically for file-level recovery.</a:t>
            </a:r>
          </a:p>
          <a:p>
            <a:pPr algn="just"/>
            <a:r>
              <a:rPr lang="en-US" dirty="0"/>
              <a:t>Slower, can take hours to days depending on size.</a:t>
            </a:r>
          </a:p>
          <a:p>
            <a:pPr algn="just"/>
            <a:r>
              <a:rPr lang="en-US" dirty="0"/>
              <a:t>Use Case: 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Accidental deletions, corruption, minor data loss.</a:t>
            </a:r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just"/>
            <a:r>
              <a:rPr lang="en-US" dirty="0">
                <a:solidFill>
                  <a:srgbClr val="000000"/>
                </a:solidFill>
                <a:latin typeface="-webkit-standard"/>
              </a:rPr>
              <a:t>Tools: 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AWS Backup, Azure Backup, Google Cloud Backup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989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11F7A-7C74-A12F-7D66-59EB6C79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Disaster Recovery (DR) in Cloud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66287-C6C2-15F3-F0A4-4AA1E8202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To restore full systems and operations after a failure.</a:t>
            </a:r>
          </a:p>
          <a:p>
            <a:pPr algn="just"/>
            <a:r>
              <a:rPr lang="en-US" dirty="0"/>
              <a:t>Covers entire systems, including data, apps, config.</a:t>
            </a:r>
          </a:p>
          <a:p>
            <a:pPr algn="just"/>
            <a:r>
              <a:rPr lang="en-US" dirty="0"/>
              <a:t>Aims for full service or system recovery.</a:t>
            </a:r>
          </a:p>
          <a:p>
            <a:pPr algn="just"/>
            <a:r>
              <a:rPr lang="en-US" dirty="0"/>
              <a:t>Designed for quick recovery, often within minutes/hours.</a:t>
            </a:r>
          </a:p>
          <a:p>
            <a:pPr algn="just"/>
            <a:r>
              <a:rPr lang="en-US" dirty="0"/>
              <a:t>Use Case: 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Natural disasters, cyberattacks, total outages.</a:t>
            </a:r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just"/>
            <a:r>
              <a:rPr lang="en-US" dirty="0">
                <a:solidFill>
                  <a:srgbClr val="000000"/>
                </a:solidFill>
                <a:latin typeface="-webkit-standard"/>
              </a:rPr>
              <a:t>Tools: 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AWS Elastic DR, Azure Site Recovery, Google DR tools.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83503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{0DBC9465-C6FA-1948-B936-66CC95CDA27D}tf10001060</Template>
  <TotalTime>40</TotalTime>
  <Words>831</Words>
  <Application>Microsoft Macintosh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-webkit-standard</vt:lpstr>
      <vt:lpstr>Arial</vt:lpstr>
      <vt:lpstr>Trebuchet MS</vt:lpstr>
      <vt:lpstr>Wingdings 3</vt:lpstr>
      <vt:lpstr>Facet</vt:lpstr>
      <vt:lpstr>Cloud Open Challenges</vt:lpstr>
      <vt:lpstr>Cloud Open Challenges</vt:lpstr>
      <vt:lpstr>Cloud Open Challenges</vt:lpstr>
      <vt:lpstr>IT Workloads</vt:lpstr>
      <vt:lpstr>Stateful Workloads</vt:lpstr>
      <vt:lpstr>Stateless Workloads</vt:lpstr>
      <vt:lpstr>Demand-Intensive Workloads</vt:lpstr>
      <vt:lpstr>Resource-Intensive Workloads</vt:lpstr>
      <vt:lpstr>High-Performance Computing (HPC) Workloads</vt:lpstr>
      <vt:lpstr>Backup in Cloud Environemnts</vt:lpstr>
      <vt:lpstr>Disaster Recovery (DR) in Cloud Environments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Abhirup Khanna</dc:creator>
  <cp:lastModifiedBy>Abhirup Khanna</cp:lastModifiedBy>
  <cp:revision>7</cp:revision>
  <dcterms:created xsi:type="dcterms:W3CDTF">2025-04-15T02:45:04Z</dcterms:created>
  <dcterms:modified xsi:type="dcterms:W3CDTF">2025-04-15T03:25:08Z</dcterms:modified>
</cp:coreProperties>
</file>