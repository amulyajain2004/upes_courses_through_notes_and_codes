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2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5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4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7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1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6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638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6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4203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47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53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8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E9981-1041-524A-96E0-45BCB63B56F0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133179-6568-0349-9120-926C69F14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5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3402-2E8F-89DF-5DE1-FB222AC0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5B4A-0175-C47C-B846-BF6564843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Containerization is a technology that allows applications and their dependencies to be packaged together in isolated, lightweight, and portable units called containers.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Containers run consistently across different computing environments by encapsulating everything needed to run an application, including the code, runtime, libraries, and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147239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5530-950D-2D49-BE1D-3D860BA3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051-CF13-F378-F3E6-72F9A1EA5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Lightweight: Containers share the host OS kernel, making them more efficient than traditional virtual machines (VMs).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Portability: Containers can run across different environments (development, testing, production) without modification.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Isolation: Each container operates independently, preventing conflicts between applications.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Scalability: Containers can be easily replicated and scaled horizontally in cloud or microservices architectures.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Efficiency: They consume fewer resources than VMs since they don’t require an entire OS for each instance.</a:t>
            </a:r>
          </a:p>
        </p:txBody>
      </p:sp>
    </p:spTree>
    <p:extLst>
      <p:ext uri="{BB962C8B-B14F-4D97-AF65-F5344CB8AC3E}">
        <p14:creationId xmlns:p14="http://schemas.microsoft.com/office/powerpoint/2010/main" val="332370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1B0F-8EAA-2538-0E51-17096D45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 Virtualization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DB6050-B851-212D-1FA9-04CBEFFFA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814517"/>
              </p:ext>
            </p:extLst>
          </p:nvPr>
        </p:nvGraphicFramePr>
        <p:xfrm>
          <a:off x="1586405" y="1552357"/>
          <a:ext cx="6485538" cy="50166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61846">
                  <a:extLst>
                    <a:ext uri="{9D8B030D-6E8A-4147-A177-3AD203B41FA5}">
                      <a16:colId xmlns:a16="http://schemas.microsoft.com/office/drawing/2014/main" val="2883707484"/>
                    </a:ext>
                  </a:extLst>
                </a:gridCol>
                <a:gridCol w="2161846">
                  <a:extLst>
                    <a:ext uri="{9D8B030D-6E8A-4147-A177-3AD203B41FA5}">
                      <a16:colId xmlns:a16="http://schemas.microsoft.com/office/drawing/2014/main" val="1785504214"/>
                    </a:ext>
                  </a:extLst>
                </a:gridCol>
                <a:gridCol w="2161846">
                  <a:extLst>
                    <a:ext uri="{9D8B030D-6E8A-4147-A177-3AD203B41FA5}">
                      <a16:colId xmlns:a16="http://schemas.microsoft.com/office/drawing/2014/main" val="282688313"/>
                    </a:ext>
                  </a:extLst>
                </a:gridCol>
              </a:tblGrid>
              <a:tr h="213944">
                <a:tc>
                  <a:txBody>
                    <a:bodyPr/>
                    <a:lstStyle/>
                    <a:p>
                      <a:r>
                        <a:rPr lang="en-IN" sz="1000" dirty="0"/>
                        <a:t>Feature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Containerization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Virtualization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623781256"/>
                  </a:ext>
                </a:extLst>
              </a:tr>
              <a:tr h="695317">
                <a:tc>
                  <a:txBody>
                    <a:bodyPr/>
                    <a:lstStyle/>
                    <a:p>
                      <a:r>
                        <a:rPr lang="en-IN" sz="1000" b="1"/>
                        <a:t>Definition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Packages applications and their dependencies into lightweight, isolated units (containers) that share the host OS kernel.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Uses hypervisors to create full virtual machines (VMs) with their own OS instances, running on a single physical server.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39607852"/>
                  </a:ext>
                </a:extLst>
              </a:tr>
              <a:tr h="531171">
                <a:tc>
                  <a:txBody>
                    <a:bodyPr/>
                    <a:lstStyle/>
                    <a:p>
                      <a:r>
                        <a:rPr lang="en-IN" sz="1000" b="1"/>
                        <a:t>Isolation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Processes run in isolated containers but share the same OS kernel.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Each VM runs its own OS, fully isolated from others.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3710318689"/>
                  </a:ext>
                </a:extLst>
              </a:tr>
              <a:tr h="531171">
                <a:tc>
                  <a:txBody>
                    <a:bodyPr/>
                    <a:lstStyle/>
                    <a:p>
                      <a:r>
                        <a:rPr lang="en-IN" sz="1000" b="1" dirty="0"/>
                        <a:t>Resource Usage</a:t>
                      </a:r>
                      <a:endParaRPr lang="en-IN" sz="1000" dirty="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More efficient, as containers do not require a full OS for each instance.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More resource-intensive because each VM requires its own OS.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135796367"/>
                  </a:ext>
                </a:extLst>
              </a:tr>
              <a:tr h="374401">
                <a:tc>
                  <a:txBody>
                    <a:bodyPr/>
                    <a:lstStyle/>
                    <a:p>
                      <a:r>
                        <a:rPr lang="en-IN" sz="1000" b="1"/>
                        <a:t>Boot Time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Faster startup (seconds) since they do not include an OS.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Slower startup (minutes) due to full OS boot.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577552276"/>
                  </a:ext>
                </a:extLst>
              </a:tr>
              <a:tr h="534859">
                <a:tc>
                  <a:txBody>
                    <a:bodyPr/>
                    <a:lstStyle/>
                    <a:p>
                      <a:r>
                        <a:rPr lang="en-IN" sz="1000" b="1"/>
                        <a:t>Portability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Highly portable across environments (cloud, on-premise, dev/test/prod).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Less portable since VMs depend on specific hypervisors.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3423601287"/>
                  </a:ext>
                </a:extLst>
              </a:tr>
              <a:tr h="374401">
                <a:tc>
                  <a:txBody>
                    <a:bodyPr/>
                    <a:lstStyle/>
                    <a:p>
                      <a:r>
                        <a:rPr lang="en-IN" sz="1000" b="1"/>
                        <a:t>Performance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High performance with minimal overhead.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More overhead due to multiple OS instances running.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36293018"/>
                  </a:ext>
                </a:extLst>
              </a:tr>
              <a:tr h="531171">
                <a:tc>
                  <a:txBody>
                    <a:bodyPr/>
                    <a:lstStyle/>
                    <a:p>
                      <a:r>
                        <a:rPr lang="en-IN" sz="1000" b="1"/>
                        <a:t>Scalability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Easily scalable due to lightweight nature.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Less scalable due to resource demands of multiple OS instances.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4138613791"/>
                  </a:ext>
                </a:extLst>
              </a:tr>
              <a:tr h="534859">
                <a:tc>
                  <a:txBody>
                    <a:bodyPr/>
                    <a:lstStyle/>
                    <a:p>
                      <a:r>
                        <a:rPr lang="en-IN" sz="1000" b="1"/>
                        <a:t>Management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Managed via container runtimes like Docker and orchestrators like Kubernetes.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Managed via hypervisors like VMware, VirtualBox, and Hyper-V.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469793792"/>
                  </a:ext>
                </a:extLst>
              </a:tr>
              <a:tr h="695317">
                <a:tc>
                  <a:txBody>
                    <a:bodyPr/>
                    <a:lstStyle/>
                    <a:p>
                      <a:r>
                        <a:rPr lang="en-IN" sz="1000" b="1"/>
                        <a:t>Security</a:t>
                      </a:r>
                      <a:endParaRPr lang="en-IN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Less isolated than VMs since containers share the host OS kernel, making them more vulnerable.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Stronger isolation as each VM has a separate OS, making it more secure.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81673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68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8CB9-2E84-7872-0BCB-4CF690D1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A95E6-5455-B4F7-C5F4-017B025A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Hybrid virtualization is a virtualization approach that combines different types of virtualization techniques—such as full virtualization, paravirtualization, and containerization—to optimize performance, flexibility, and resource utilization.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allows organizations to run different workloads efficiently by leveraging the best aspects of each virtualization method.</a:t>
            </a:r>
          </a:p>
        </p:txBody>
      </p:sp>
    </p:spTree>
    <p:extLst>
      <p:ext uri="{BB962C8B-B14F-4D97-AF65-F5344CB8AC3E}">
        <p14:creationId xmlns:p14="http://schemas.microsoft.com/office/powerpoint/2010/main" val="361099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45FE-B77A-F536-FC5C-1C931937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Hybrid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C0D7-328F-6CD6-FAE0-8C6B75EA6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Full Virtualization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(e.g., VMware, KVM, Hyper-V)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Uses a hypervisor to create fully isolated Virtual Machines (VMs), each running its own 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Provides strong isolation but has higher overhead.</a:t>
            </a:r>
          </a:p>
          <a:p>
            <a:endParaRPr lang="en-US" dirty="0"/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Paravirtualization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(e.g., Xen, KVM)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Optimizes virtualization by allowing guest OSes to communicate directly with the hypervisor.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7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A18D7-0B0A-6A44-95B4-E19DA607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Hybrid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57C6-E1E9-6310-76CE-2A00F5057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Optimized Resource Utilization: Balances efficiency and isolation by using VMs for critical applications and containers for lightweight workloads.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Improved Performance: Reduces virtualization overhead where possible, using paravirtualization or containerization where appropriate.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Examples: </a:t>
            </a:r>
          </a:p>
          <a:p>
            <a:pPr algn="just"/>
            <a:r>
              <a:rPr lang="en-US" dirty="0"/>
              <a:t>Combining public and private cloud virtualization to create a hybrid cloud infrastructure.</a:t>
            </a:r>
          </a:p>
          <a:p>
            <a:pPr algn="just"/>
            <a:r>
              <a:rPr lang="en-US" dirty="0"/>
              <a:t>Optimizing edge computing environments</a:t>
            </a:r>
          </a:p>
        </p:txBody>
      </p:sp>
    </p:spTree>
    <p:extLst>
      <p:ext uri="{BB962C8B-B14F-4D97-AF65-F5344CB8AC3E}">
        <p14:creationId xmlns:p14="http://schemas.microsoft.com/office/powerpoint/2010/main" val="2854210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D10E-35E4-AD2E-6141-B13CBA3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Reference Model &amp;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6CA8-0EA6-8A38-86A8-8FD563C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Machine Reference Model is a conceptual or mathematical framework used to describe, simulate, or analyze the behavior, structure, and functionality of a computing system or machine.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serves as a blueprint or abstract representation of a machine, helping in system design, performance evaluation,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8938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2C10-99CB-E73A-340F-C51C8193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Reference Model &amp;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B088-7D06-2E4B-1B11-ADC34B67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 Machine Reference Model is closely related to virtualization because it provides a structured way to understand and design virtualized environments.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Virtualization essentially creates abstract representations of physical machines, and a reference model helps define how these virtual instances operate, interact, and optimize resource usage.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machine reference model helps in structuring how a Virtual Machine (VM) should behave, including memory management, CPU scheduling, and I/O handling.</a:t>
            </a:r>
          </a:p>
        </p:txBody>
      </p:sp>
    </p:spTree>
    <p:extLst>
      <p:ext uri="{BB962C8B-B14F-4D97-AF65-F5344CB8AC3E}">
        <p14:creationId xmlns:p14="http://schemas.microsoft.com/office/powerpoint/2010/main" val="308844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3AF0-253F-9E87-58F0-A1881770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Reference Model &amp;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8191-E601-B5BC-43BF-70E268DC9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MRM outlines how a hypervisor interacts with physical hardware and VMs.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specifies key operations like CPU scheduling, memory allocation, and I/O handling.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Hypervisors follow the principles of MRMs to efficiently allocate resources while maintaining isolation.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Different hypervisor types (Type 1 &amp; Type 2) implement virtualization differently but adhere to core reference model concepts.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6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AA14-870E-62CA-0A38-E559FE97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Reference Model &amp; Virtualization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6F6396-9BD2-2C7A-F24D-B566D324E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717996"/>
              </p:ext>
            </p:extLst>
          </p:nvPr>
        </p:nvGraphicFramePr>
        <p:xfrm>
          <a:off x="677334" y="2218214"/>
          <a:ext cx="8508708" cy="4389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54354">
                  <a:extLst>
                    <a:ext uri="{9D8B030D-6E8A-4147-A177-3AD203B41FA5}">
                      <a16:colId xmlns:a16="http://schemas.microsoft.com/office/drawing/2014/main" val="1306741108"/>
                    </a:ext>
                  </a:extLst>
                </a:gridCol>
                <a:gridCol w="4254354">
                  <a:extLst>
                    <a:ext uri="{9D8B030D-6E8A-4147-A177-3AD203B41FA5}">
                      <a16:colId xmlns:a16="http://schemas.microsoft.com/office/drawing/2014/main" val="4239966417"/>
                    </a:ext>
                  </a:extLst>
                </a:gridCol>
              </a:tblGrid>
              <a:tr h="319029">
                <a:tc>
                  <a:txBody>
                    <a:bodyPr/>
                    <a:lstStyle/>
                    <a:p>
                      <a:r>
                        <a:rPr lang="en-IN" b="1"/>
                        <a:t>Machine Reference Model Component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How VMware Workstation Implements It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647831"/>
                  </a:ext>
                </a:extLst>
              </a:tr>
              <a:tr h="558300">
                <a:tc>
                  <a:txBody>
                    <a:bodyPr/>
                    <a:lstStyle/>
                    <a:p>
                      <a:r>
                        <a:rPr lang="en-IN" b="1"/>
                        <a:t>Processor (CPU)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VMware Workstation virtualizes the CPU using Intel VT-x or AMD-V to allow guest OS execution.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615333"/>
                  </a:ext>
                </a:extLst>
              </a:tr>
              <a:tr h="558300">
                <a:tc>
                  <a:txBody>
                    <a:bodyPr/>
                    <a:lstStyle/>
                    <a:p>
                      <a:r>
                        <a:rPr lang="en-IN" b="1"/>
                        <a:t>Memory (RAM)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Allocates a portion of the host machine's RAM to each VM (e.g., 4GB for an Ubuntu VM).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514782"/>
                  </a:ext>
                </a:extLst>
              </a:tr>
              <a:tr h="558300">
                <a:tc>
                  <a:txBody>
                    <a:bodyPr/>
                    <a:lstStyle/>
                    <a:p>
                      <a:r>
                        <a:rPr lang="en-IN" b="1"/>
                        <a:t>Storage (Disk)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Uses a virtual hard disk file (VMDK) to emulate a physical HDD/SSD.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199809"/>
                  </a:ext>
                </a:extLst>
              </a:tr>
              <a:tr h="558300">
                <a:tc>
                  <a:txBody>
                    <a:bodyPr/>
                    <a:lstStyle/>
                    <a:p>
                      <a:r>
                        <a:rPr lang="en-IN" b="1"/>
                        <a:t>I/O Devices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Virtualizes USB, keyboard, mouse, and other peripherals for the guest 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074418"/>
                  </a:ext>
                </a:extLst>
              </a:tr>
              <a:tr h="558300">
                <a:tc>
                  <a:txBody>
                    <a:bodyPr/>
                    <a:lstStyle/>
                    <a:p>
                      <a:r>
                        <a:rPr lang="en-IN" b="1"/>
                        <a:t>Networking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virtual network adapters (NAT, bridged, or host-only networking).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70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11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3913-9160-43BE-6F09-3D0EBA67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CFF05-162D-28F2-E8D4-F5C612382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 VPN (Virtual Private Network) is a technology that creates a secure and encrypted connection over a public network (such as the internet) or a private network. It allows users to securely access and transmit data while maintaining privacy, anonymity, and protection from cyber threats.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 can create a VPN within a virtual machine to secure remote access, bypass geo-restrictions.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Creating a VPN using virtualization involves setting up a virtual machine (VM) as a VPN server. This is useful for secure remote access, network segmentation, and private browsing.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Requirements: a hypervisor (such as VirtualBox, VMware, or Hyper-V) and VPN software.</a:t>
            </a:r>
          </a:p>
        </p:txBody>
      </p:sp>
    </p:spTree>
    <p:extLst>
      <p:ext uri="{BB962C8B-B14F-4D97-AF65-F5344CB8AC3E}">
        <p14:creationId xmlns:p14="http://schemas.microsoft.com/office/powerpoint/2010/main" val="2264242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F11F-851D-1D7D-B75A-4BE9C062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Access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EE821-46A6-93DE-6684-D232456CF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Allows users to connect to a private network remotely over the internet.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Commonly used by businesses for employees to access company resources securely.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Requires authentication (username, password, or multi-factor authentication).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Example: Employees working from home accessing company files securely.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46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1208-73A0-38D6-5529-E631E627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Site-to-Site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6342-EB99-B9DF-FA58-35FDB6D35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Connects two or more networks over the internet securely.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Used by businesses with multiple office locations.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Ensures secure communication between different branches of an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59119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A8A2-EA82-FE97-06AB-A1E5C177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82DDC-0ED9-E665-A037-77BF065A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Hosted in the cloud and allows users to connect securely to cloud-based services.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Managed by cloud providers like AWS, Google Cloud, or Microsoft Azure.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Used for securing access to cloud applications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191927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76A3-F7F6-7E28-BFC3-479615FC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 Vs SAN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B8587B22-A233-7A31-912F-7688BD0D3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857678"/>
              </p:ext>
            </p:extLst>
          </p:nvPr>
        </p:nvGraphicFramePr>
        <p:xfrm>
          <a:off x="2144110" y="1991371"/>
          <a:ext cx="5948856" cy="447249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82952">
                  <a:extLst>
                    <a:ext uri="{9D8B030D-6E8A-4147-A177-3AD203B41FA5}">
                      <a16:colId xmlns:a16="http://schemas.microsoft.com/office/drawing/2014/main" val="3184700698"/>
                    </a:ext>
                  </a:extLst>
                </a:gridCol>
                <a:gridCol w="1982952">
                  <a:extLst>
                    <a:ext uri="{9D8B030D-6E8A-4147-A177-3AD203B41FA5}">
                      <a16:colId xmlns:a16="http://schemas.microsoft.com/office/drawing/2014/main" val="306306399"/>
                    </a:ext>
                  </a:extLst>
                </a:gridCol>
                <a:gridCol w="1982952">
                  <a:extLst>
                    <a:ext uri="{9D8B030D-6E8A-4147-A177-3AD203B41FA5}">
                      <a16:colId xmlns:a16="http://schemas.microsoft.com/office/drawing/2014/main" val="1113815201"/>
                    </a:ext>
                  </a:extLst>
                </a:gridCol>
              </a:tblGrid>
              <a:tr h="283583">
                <a:tc>
                  <a:txBody>
                    <a:bodyPr/>
                    <a:lstStyle/>
                    <a:p>
                      <a:r>
                        <a:rPr lang="en-IN" sz="600"/>
                        <a:t>Feature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NAS (Network-Attached Storage)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SAN (Storage Area Network)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770723283"/>
                  </a:ext>
                </a:extLst>
              </a:tr>
              <a:tr h="648189">
                <a:tc>
                  <a:txBody>
                    <a:bodyPr/>
                    <a:lstStyle/>
                    <a:p>
                      <a:r>
                        <a:rPr lang="en-IN" sz="600" b="1"/>
                        <a:t>Definition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A file-level storage system that connects to a network and provides shared storage to multiple clients.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A block-level storage system that connects multiple servers to a centralized storage device.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2396586618"/>
                  </a:ext>
                </a:extLst>
              </a:tr>
              <a:tr h="167445">
                <a:tc>
                  <a:txBody>
                    <a:bodyPr/>
                    <a:lstStyle/>
                    <a:p>
                      <a:r>
                        <a:rPr lang="en-IN" sz="600" b="1"/>
                        <a:t>Storage Type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File-based storage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Block-based storage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3815887710"/>
                  </a:ext>
                </a:extLst>
              </a:tr>
              <a:tr h="294380">
                <a:tc>
                  <a:txBody>
                    <a:bodyPr/>
                    <a:lstStyle/>
                    <a:p>
                      <a:r>
                        <a:rPr lang="en-IN" sz="600" b="1" dirty="0"/>
                        <a:t>Performance</a:t>
                      </a:r>
                      <a:endParaRPr lang="en-IN" sz="600" dirty="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Moderate performance due to file-level access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High performance due to block-level access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3735195262"/>
                  </a:ext>
                </a:extLst>
              </a:tr>
              <a:tr h="405117">
                <a:tc>
                  <a:txBody>
                    <a:bodyPr/>
                    <a:lstStyle/>
                    <a:p>
                      <a:r>
                        <a:rPr lang="en-IN" sz="600" b="1"/>
                        <a:t>Speed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Slower compared to SAN (depends on Ethernet speed)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Faster due to Fibre Channel or iSCSI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3588812927"/>
                  </a:ext>
                </a:extLst>
              </a:tr>
              <a:tr h="405117">
                <a:tc>
                  <a:txBody>
                    <a:bodyPr/>
                    <a:lstStyle/>
                    <a:p>
                      <a:r>
                        <a:rPr lang="en-IN" sz="600" b="1" dirty="0"/>
                        <a:t>Complexity</a:t>
                      </a:r>
                      <a:endParaRPr lang="en-IN" sz="600" dirty="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Simple to set up and manage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More complex setup, requires specialized hardware and expertise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3483690724"/>
                  </a:ext>
                </a:extLst>
              </a:tr>
              <a:tr h="526654">
                <a:tc>
                  <a:txBody>
                    <a:bodyPr/>
                    <a:lstStyle/>
                    <a:p>
                      <a:r>
                        <a:rPr lang="en-IN" sz="600" b="1" dirty="0"/>
                        <a:t>Scalability</a:t>
                      </a:r>
                      <a:endParaRPr lang="en-IN" sz="600" dirty="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Easily scalable by adding more NAS devices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Highly scalable but requires careful planning and high-cost infrastructure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3789993650"/>
                  </a:ext>
                </a:extLst>
              </a:tr>
              <a:tr h="648189">
                <a:tc>
                  <a:txBody>
                    <a:bodyPr/>
                    <a:lstStyle/>
                    <a:p>
                      <a:r>
                        <a:rPr lang="en-IN" sz="600" b="1"/>
                        <a:t>Usage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Ideal for file sharing, backups, and general storage for small to medium businesses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Used for databases, virtual machines, and high-performance applications requiring low latency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189976192"/>
                  </a:ext>
                </a:extLst>
              </a:tr>
              <a:tr h="405117">
                <a:tc>
                  <a:txBody>
                    <a:bodyPr/>
                    <a:lstStyle/>
                    <a:p>
                      <a:r>
                        <a:rPr lang="en-IN" sz="600" b="1" dirty="0"/>
                        <a:t>Operating System Dependency</a:t>
                      </a:r>
                      <a:endParaRPr lang="en-IN" sz="600" dirty="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Can work independently with any OS that supports NAS protocols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Requires a dedicated SAN management system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2598527968"/>
                  </a:ext>
                </a:extLst>
              </a:tr>
              <a:tr h="405117">
                <a:tc>
                  <a:txBody>
                    <a:bodyPr/>
                    <a:lstStyle/>
                    <a:p>
                      <a:r>
                        <a:rPr lang="en-IN" sz="600" b="1"/>
                        <a:t>Cost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More cost-effective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Expensive due to specialized hardware and network infrastructure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269083870"/>
                  </a:ext>
                </a:extLst>
              </a:tr>
              <a:tr h="283583">
                <a:tc>
                  <a:txBody>
                    <a:bodyPr/>
                    <a:lstStyle/>
                    <a:p>
                      <a:r>
                        <a:rPr lang="en-IN" sz="600" b="1"/>
                        <a:t>Data Management</a:t>
                      </a:r>
                      <a:endParaRPr lang="en-IN" sz="600"/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/>
                        <a:t>Managed at the file level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r>
                        <a:rPr lang="en-IN" sz="600" dirty="0"/>
                        <a:t>Managed at the block level</a:t>
                      </a: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5353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33B2-B6CD-AAD4-9F48-08E237CF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BC41-E121-2FA0-3939-2E4707FF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NAS:</a:t>
            </a:r>
          </a:p>
          <a:p>
            <a:r>
              <a:rPr lang="en-US" dirty="0"/>
              <a:t>Home media server</a:t>
            </a:r>
          </a:p>
          <a:p>
            <a:r>
              <a:rPr lang="en-US" dirty="0"/>
              <a:t>Personal cloud</a:t>
            </a:r>
          </a:p>
          <a:p>
            <a:r>
              <a:rPr lang="en-US" dirty="0"/>
              <a:t>Small business file sharing</a:t>
            </a:r>
          </a:p>
          <a:p>
            <a:endParaRPr lang="en-US" dirty="0"/>
          </a:p>
          <a:p>
            <a:r>
              <a:rPr lang="en-US" dirty="0"/>
              <a:t>SAN:</a:t>
            </a:r>
          </a:p>
          <a:p>
            <a:r>
              <a:rPr lang="en-US" dirty="0"/>
              <a:t>High-Performance Computing (HPC)</a:t>
            </a:r>
          </a:p>
          <a:p>
            <a:r>
              <a:rPr lang="en-US" dirty="0"/>
              <a:t>Enterprise databases</a:t>
            </a:r>
          </a:p>
          <a:p>
            <a:r>
              <a:rPr lang="en-US" dirty="0"/>
              <a:t>Small to Mid-Size Business</a:t>
            </a:r>
          </a:p>
        </p:txBody>
      </p:sp>
    </p:spTree>
    <p:extLst>
      <p:ext uri="{BB962C8B-B14F-4D97-AF65-F5344CB8AC3E}">
        <p14:creationId xmlns:p14="http://schemas.microsoft.com/office/powerpoint/2010/main" val="16064675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57</TotalTime>
  <Words>1351</Words>
  <Application>Microsoft Macintosh PowerPoint</Application>
  <PresentationFormat>Widescreen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Containerization</vt:lpstr>
      <vt:lpstr>Key Features of Containerization</vt:lpstr>
      <vt:lpstr>Containerization Vs Virtualization</vt:lpstr>
      <vt:lpstr>Hybrid virtualization</vt:lpstr>
      <vt:lpstr>Key Components of Hybrid Virtualization</vt:lpstr>
      <vt:lpstr>Benefits of Hybrid Virtualization</vt:lpstr>
      <vt:lpstr>Machine Reference Model &amp; Virtualization</vt:lpstr>
      <vt:lpstr>Machine Reference Model &amp; Virtualization</vt:lpstr>
      <vt:lpstr>Machine Reference Model &amp; Virtualization</vt:lpstr>
      <vt:lpstr>Machine Reference Model &amp; Virtualization</vt:lpstr>
      <vt:lpstr>VPN</vt:lpstr>
      <vt:lpstr>Remote Access VPN</vt:lpstr>
      <vt:lpstr>Site-to-Site VPN</vt:lpstr>
      <vt:lpstr>Cloud VPN</vt:lpstr>
      <vt:lpstr>NAS Vs SAN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Abhirup Khanna</dc:creator>
  <cp:lastModifiedBy>Abhirup Khanna</cp:lastModifiedBy>
  <cp:revision>12</cp:revision>
  <dcterms:created xsi:type="dcterms:W3CDTF">2025-02-24T03:20:36Z</dcterms:created>
  <dcterms:modified xsi:type="dcterms:W3CDTF">2025-02-24T04:23:03Z</dcterms:modified>
</cp:coreProperties>
</file>