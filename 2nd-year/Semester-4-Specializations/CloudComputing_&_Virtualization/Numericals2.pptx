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4"/>
  </p:normalViewPr>
  <p:slideViewPr>
    <p:cSldViewPr snapToGrid="0">
      <p:cViewPr varScale="1">
        <p:scale>
          <a:sx n="121" d="100"/>
          <a:sy n="121" d="100"/>
        </p:scale>
        <p:origin x="20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426626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408536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4259256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4A1F8F8-8ACB-AE49-8079-DC4C16C9EF86}" type="datetimeFigureOut">
              <a:rPr lang="en-US" smtClean="0"/>
              <a:t>4/28/25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1245957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4A1F8F8-8ACB-AE49-8079-DC4C16C9EF86}" type="datetimeFigureOut">
              <a:rPr lang="en-US" smtClean="0"/>
              <a:t>4/28/25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2166416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4A1F8F8-8ACB-AE49-8079-DC4C16C9EF86}" type="datetimeFigureOut">
              <a:rPr lang="en-US" smtClean="0"/>
              <a:t>4/28/25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4243191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1F8F8-8ACB-AE49-8079-DC4C16C9EF86}" type="datetimeFigureOut">
              <a:rPr lang="en-US" smtClean="0"/>
              <a:t>4/28/25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82625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4A1F8F8-8ACB-AE49-8079-DC4C16C9EF86}" type="datetimeFigureOut">
              <a:rPr lang="en-US" smtClean="0"/>
              <a:t>4/28/25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2103255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4A1F8F8-8ACB-AE49-8079-DC4C16C9EF86}" type="datetimeFigureOut">
              <a:rPr lang="en-US" smtClean="0"/>
              <a:t>4/28/25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05600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003407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97488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840247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46583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140035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3160362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4A1F8F8-8ACB-AE49-8079-DC4C16C9EF86}" type="datetimeFigureOut">
              <a:rPr lang="en-US" smtClean="0"/>
              <a:t>4/28/25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9B170-77D8-CF4A-B94F-3CC3A2C4CA1B}" type="slidenum">
              <a:rPr lang="en-US" smtClean="0"/>
              <a:t>‹#›</a:t>
            </a:fld>
            <a:endParaRPr lang="en-US"/>
          </a:p>
        </p:txBody>
      </p:sp>
    </p:spTree>
    <p:extLst>
      <p:ext uri="{BB962C8B-B14F-4D97-AF65-F5344CB8AC3E}">
        <p14:creationId xmlns:p14="http://schemas.microsoft.com/office/powerpoint/2010/main" val="2011860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4A1F8F8-8ACB-AE49-8079-DC4C16C9EF86}" type="datetimeFigureOut">
              <a:rPr lang="en-US" smtClean="0"/>
              <a:t>4/28/25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039B170-77D8-CF4A-B94F-3CC3A2C4CA1B}" type="slidenum">
              <a:rPr lang="en-US" smtClean="0"/>
              <a:t>‹#›</a:t>
            </a:fld>
            <a:endParaRPr lang="en-US"/>
          </a:p>
        </p:txBody>
      </p:sp>
    </p:spTree>
    <p:extLst>
      <p:ext uri="{BB962C8B-B14F-4D97-AF65-F5344CB8AC3E}">
        <p14:creationId xmlns:p14="http://schemas.microsoft.com/office/powerpoint/2010/main" val="636001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51A5D-9393-1213-C155-DBAABF45D10F}"/>
              </a:ext>
            </a:extLst>
          </p:cNvPr>
          <p:cNvSpPr>
            <a:spLocks noGrp="1"/>
          </p:cNvSpPr>
          <p:nvPr>
            <p:ph type="title"/>
          </p:nvPr>
        </p:nvSpPr>
        <p:spPr/>
        <p:txBody>
          <a:bodyPr/>
          <a:lstStyle/>
          <a:p>
            <a:r>
              <a:rPr lang="en-US" dirty="0"/>
              <a:t>Amdahl’s Law</a:t>
            </a:r>
          </a:p>
        </p:txBody>
      </p:sp>
      <p:sp>
        <p:nvSpPr>
          <p:cNvPr id="3" name="Content Placeholder 2">
            <a:extLst>
              <a:ext uri="{FF2B5EF4-FFF2-40B4-BE49-F238E27FC236}">
                <a16:creationId xmlns:a16="http://schemas.microsoft.com/office/drawing/2014/main" id="{55B8BC38-557A-8FAC-8B4D-4C610A7471CB}"/>
              </a:ext>
            </a:extLst>
          </p:cNvPr>
          <p:cNvSpPr>
            <a:spLocks noGrp="1"/>
          </p:cNvSpPr>
          <p:nvPr>
            <p:ph idx="1"/>
          </p:nvPr>
        </p:nvSpPr>
        <p:spPr/>
        <p:txBody>
          <a:bodyPr>
            <a:normAutofit lnSpcReduction="10000"/>
          </a:bodyPr>
          <a:lstStyle/>
          <a:p>
            <a:pPr algn="just"/>
            <a:r>
              <a:rPr lang="en-IN" dirty="0">
                <a:solidFill>
                  <a:srgbClr val="000000"/>
                </a:solidFill>
                <a:latin typeface="-webkit-standard"/>
              </a:rPr>
              <a:t>Amdahl’s Law describes the maximum theoretical speedup you can achieve when you parallelize a portion of a program </a:t>
            </a:r>
            <a:r>
              <a:rPr lang="en-IN" i="0" u="none" strike="noStrike" dirty="0">
                <a:solidFill>
                  <a:srgbClr val="000000"/>
                </a:solidFill>
                <a:effectLst/>
                <a:latin typeface="-webkit-standard"/>
              </a:rPr>
              <a:t>across multiple processors. It shows that the speedup is limited by the part of the program that </a:t>
            </a:r>
            <a:r>
              <a:rPr lang="en-IN" i="0" u="none" strike="noStrike" dirty="0">
                <a:solidFill>
                  <a:srgbClr val="000000"/>
                </a:solidFill>
                <a:effectLst/>
              </a:rPr>
              <a:t>cannot</a:t>
            </a:r>
            <a:r>
              <a:rPr lang="en-IN" i="0" u="none" strike="noStrike" dirty="0">
                <a:solidFill>
                  <a:srgbClr val="000000"/>
                </a:solidFill>
                <a:effectLst/>
                <a:latin typeface="-webkit-standard"/>
              </a:rPr>
              <a:t> be parallelized.</a:t>
            </a:r>
          </a:p>
          <a:p>
            <a:pPr algn="just"/>
            <a:endParaRPr lang="en-IN" dirty="0">
              <a:solidFill>
                <a:srgbClr val="000000"/>
              </a:solidFill>
              <a:latin typeface="-webkit-standard"/>
            </a:endParaRPr>
          </a:p>
          <a:p>
            <a:pPr algn="just"/>
            <a:r>
              <a:rPr lang="en-IN" i="0" u="none" strike="noStrike" dirty="0">
                <a:solidFill>
                  <a:srgbClr val="273239"/>
                </a:solidFill>
                <a:effectLst/>
                <a:latin typeface="Nunito" pitchFamily="2" charset="77"/>
              </a:rPr>
              <a:t>Speedup is defined as the ratio of performance for the entire task using the enhancement and performance for the entire task without using the enhancement or speedup can be defined as the ratio of execution time for the entire task without using the enhancement and execution time for the entire task using the enhancement.</a:t>
            </a:r>
          </a:p>
          <a:p>
            <a:pPr algn="just"/>
            <a:endParaRPr lang="en-IN" dirty="0">
              <a:solidFill>
                <a:srgbClr val="273239"/>
              </a:solidFill>
              <a:latin typeface="Nunito" pitchFamily="2" charset="77"/>
            </a:endParaRPr>
          </a:p>
          <a:p>
            <a:pPr algn="just"/>
            <a:r>
              <a:rPr lang="en-IN" b="0" i="0" u="none" strike="noStrike" dirty="0">
                <a:solidFill>
                  <a:srgbClr val="273239"/>
                </a:solidFill>
                <a:effectLst/>
                <a:latin typeface="Nunito" pitchFamily="2" charset="77"/>
              </a:rPr>
              <a:t>Provides a way to quantify the maximum potential speedup that can be achieved by parallelizing a program, which can help guide decisions about hardware and software design.</a:t>
            </a:r>
            <a:endParaRPr lang="en-US" dirty="0"/>
          </a:p>
        </p:txBody>
      </p:sp>
    </p:spTree>
    <p:extLst>
      <p:ext uri="{BB962C8B-B14F-4D97-AF65-F5344CB8AC3E}">
        <p14:creationId xmlns:p14="http://schemas.microsoft.com/office/powerpoint/2010/main" val="4026261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5D9C7-0BE2-5723-84EF-C58E3430FC80}"/>
              </a:ext>
            </a:extLst>
          </p:cNvPr>
          <p:cNvSpPr>
            <a:spLocks noGrp="1"/>
          </p:cNvSpPr>
          <p:nvPr>
            <p:ph type="title"/>
          </p:nvPr>
        </p:nvSpPr>
        <p:spPr/>
        <p:txBody>
          <a:bodyPr/>
          <a:lstStyle/>
          <a:p>
            <a:r>
              <a:rPr lang="en-US" dirty="0"/>
              <a:t>Amdahl’s Law</a:t>
            </a:r>
          </a:p>
        </p:txBody>
      </p:sp>
      <p:sp>
        <p:nvSpPr>
          <p:cNvPr id="3" name="Content Placeholder 2">
            <a:extLst>
              <a:ext uri="{FF2B5EF4-FFF2-40B4-BE49-F238E27FC236}">
                <a16:creationId xmlns:a16="http://schemas.microsoft.com/office/drawing/2014/main" id="{F4EB6567-AB24-FE63-16D5-995F0B88A61F}"/>
              </a:ext>
            </a:extLst>
          </p:cNvPr>
          <p:cNvSpPr>
            <a:spLocks noGrp="1"/>
          </p:cNvSpPr>
          <p:nvPr>
            <p:ph idx="1"/>
          </p:nvPr>
        </p:nvSpPr>
        <p:spPr/>
        <p:txBody>
          <a:bodyPr/>
          <a:lstStyle/>
          <a:p>
            <a:pPr algn="l" fontAlgn="base"/>
            <a:r>
              <a:rPr lang="en-IN" b="1" i="0" u="none" strike="noStrike" dirty="0">
                <a:solidFill>
                  <a:srgbClr val="273239"/>
                </a:solidFill>
                <a:effectLst/>
                <a:latin typeface="Nunito" pitchFamily="2" charset="77"/>
              </a:rPr>
              <a:t>The formula for Amdahl’s law is:</a:t>
            </a:r>
            <a:endParaRPr lang="en-IN" b="0" i="0" u="none" strike="noStrike" dirty="0">
              <a:solidFill>
                <a:srgbClr val="273239"/>
              </a:solidFill>
              <a:effectLst/>
              <a:latin typeface="Nunito" pitchFamily="2" charset="77"/>
            </a:endParaRPr>
          </a:p>
          <a:p>
            <a:pPr algn="l" fontAlgn="base"/>
            <a:r>
              <a:rPr lang="en-IN" b="0" i="0" u="none" strike="noStrike" dirty="0">
                <a:solidFill>
                  <a:srgbClr val="273239"/>
                </a:solidFill>
                <a:effectLst/>
                <a:latin typeface="Nunito" pitchFamily="2" charset="77"/>
              </a:rPr>
              <a:t>S = 1 / (1 – P + (P / N))</a:t>
            </a:r>
          </a:p>
          <a:p>
            <a:endParaRPr lang="en-US" dirty="0"/>
          </a:p>
          <a:p>
            <a:pPr algn="l" fontAlgn="base"/>
            <a:r>
              <a:rPr lang="en-IN" b="0" i="0" u="none" strike="noStrike" dirty="0">
                <a:solidFill>
                  <a:srgbClr val="273239"/>
                </a:solidFill>
                <a:effectLst/>
                <a:latin typeface="Nunito" pitchFamily="2" charset="77"/>
              </a:rPr>
              <a:t>Where:</a:t>
            </a:r>
          </a:p>
          <a:p>
            <a:pPr algn="l" fontAlgn="base"/>
            <a:endParaRPr lang="en-IN" b="0" i="0" u="none" strike="noStrike" dirty="0">
              <a:solidFill>
                <a:srgbClr val="273239"/>
              </a:solidFill>
              <a:effectLst/>
              <a:latin typeface="Nunito" pitchFamily="2" charset="77"/>
            </a:endParaRPr>
          </a:p>
          <a:p>
            <a:pPr algn="l" fontAlgn="base"/>
            <a:r>
              <a:rPr lang="en-IN" b="0" i="0" u="none" strike="noStrike" dirty="0">
                <a:solidFill>
                  <a:srgbClr val="273239"/>
                </a:solidFill>
                <a:effectLst/>
                <a:latin typeface="Nunito" pitchFamily="2" charset="77"/>
              </a:rPr>
              <a:t>S is the speedup of the system</a:t>
            </a:r>
            <a:br>
              <a:rPr lang="en-IN" b="0" i="0" u="none" strike="noStrike" dirty="0">
                <a:solidFill>
                  <a:srgbClr val="273239"/>
                </a:solidFill>
                <a:effectLst/>
                <a:latin typeface="Nunito" pitchFamily="2" charset="77"/>
              </a:rPr>
            </a:br>
            <a:r>
              <a:rPr lang="en-IN" b="0" i="0" u="none" strike="noStrike" dirty="0">
                <a:solidFill>
                  <a:srgbClr val="273239"/>
                </a:solidFill>
                <a:effectLst/>
                <a:latin typeface="Nunito" pitchFamily="2" charset="77"/>
              </a:rPr>
              <a:t>P is the proportion of the system that can be improved</a:t>
            </a:r>
            <a:br>
              <a:rPr lang="en-IN" b="0" i="0" u="none" strike="noStrike" dirty="0">
                <a:solidFill>
                  <a:srgbClr val="273239"/>
                </a:solidFill>
                <a:effectLst/>
                <a:latin typeface="Nunito" pitchFamily="2" charset="77"/>
              </a:rPr>
            </a:br>
            <a:r>
              <a:rPr lang="en-IN" b="0" i="0" u="none" strike="noStrike" dirty="0">
                <a:solidFill>
                  <a:srgbClr val="273239"/>
                </a:solidFill>
                <a:effectLst/>
                <a:latin typeface="Nunito" pitchFamily="2" charset="77"/>
              </a:rPr>
              <a:t>N is the number of processors in the system</a:t>
            </a:r>
          </a:p>
          <a:p>
            <a:endParaRPr lang="en-US" dirty="0"/>
          </a:p>
        </p:txBody>
      </p:sp>
    </p:spTree>
    <p:extLst>
      <p:ext uri="{BB962C8B-B14F-4D97-AF65-F5344CB8AC3E}">
        <p14:creationId xmlns:p14="http://schemas.microsoft.com/office/powerpoint/2010/main" val="4020640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7F686-7AA6-BBF2-A076-83787D883E5B}"/>
              </a:ext>
            </a:extLst>
          </p:cNvPr>
          <p:cNvSpPr>
            <a:spLocks noGrp="1"/>
          </p:cNvSpPr>
          <p:nvPr>
            <p:ph type="title"/>
          </p:nvPr>
        </p:nvSpPr>
        <p:spPr/>
        <p:txBody>
          <a:bodyPr/>
          <a:lstStyle/>
          <a:p>
            <a:r>
              <a:rPr lang="en-US" dirty="0"/>
              <a:t>Amdahl’s Law Example</a:t>
            </a:r>
          </a:p>
        </p:txBody>
      </p:sp>
      <p:sp>
        <p:nvSpPr>
          <p:cNvPr id="3" name="Content Placeholder 2">
            <a:extLst>
              <a:ext uri="{FF2B5EF4-FFF2-40B4-BE49-F238E27FC236}">
                <a16:creationId xmlns:a16="http://schemas.microsoft.com/office/drawing/2014/main" id="{67DD698D-BDFF-DB14-DEE5-78E33A9D21C1}"/>
              </a:ext>
            </a:extLst>
          </p:cNvPr>
          <p:cNvSpPr>
            <a:spLocks noGrp="1"/>
          </p:cNvSpPr>
          <p:nvPr>
            <p:ph idx="1"/>
          </p:nvPr>
        </p:nvSpPr>
        <p:spPr/>
        <p:txBody>
          <a:bodyPr/>
          <a:lstStyle/>
          <a:p>
            <a:pPr algn="l"/>
            <a:r>
              <a:rPr lang="en-IN" b="0" i="0" u="none" strike="noStrike" dirty="0">
                <a:solidFill>
                  <a:srgbClr val="000000"/>
                </a:solidFill>
                <a:effectLst/>
              </a:rPr>
              <a:t>Imagine you have a program where:</a:t>
            </a:r>
          </a:p>
          <a:p>
            <a:pPr algn="l">
              <a:buFont typeface="Arial" panose="020B0604020202020204" pitchFamily="34" charset="0"/>
              <a:buChar char="•"/>
            </a:pPr>
            <a:r>
              <a:rPr lang="en-IN" b="0" i="0" u="none" strike="noStrike" dirty="0">
                <a:solidFill>
                  <a:srgbClr val="000000"/>
                </a:solidFill>
                <a:effectLst/>
              </a:rPr>
              <a:t>70% of the work can be parallelized (P=0.70)</a:t>
            </a:r>
          </a:p>
          <a:p>
            <a:pPr algn="l">
              <a:buFont typeface="Arial" panose="020B0604020202020204" pitchFamily="34" charset="0"/>
              <a:buChar char="•"/>
            </a:pPr>
            <a:r>
              <a:rPr lang="en-IN" b="0" i="0" u="none" strike="noStrike" dirty="0">
                <a:solidFill>
                  <a:srgbClr val="000000"/>
                </a:solidFill>
                <a:effectLst/>
              </a:rPr>
              <a:t>You are running it on 4 processors (N=4)</a:t>
            </a:r>
          </a:p>
          <a:p>
            <a:pPr algn="l">
              <a:buFont typeface="Arial" panose="020B0604020202020204" pitchFamily="34" charset="0"/>
              <a:buChar char="•"/>
            </a:pPr>
            <a:endParaRPr lang="en-IN" dirty="0">
              <a:solidFill>
                <a:srgbClr val="000000"/>
              </a:solidFill>
            </a:endParaRPr>
          </a:p>
          <a:p>
            <a:pPr algn="l">
              <a:buFont typeface="Arial" panose="020B0604020202020204" pitchFamily="34" charset="0"/>
              <a:buChar char="•"/>
            </a:pPr>
            <a:r>
              <a:rPr lang="en-IN" b="0" i="0" u="none" strike="noStrike" dirty="0">
                <a:solidFill>
                  <a:srgbClr val="000000"/>
                </a:solidFill>
                <a:effectLst/>
              </a:rPr>
              <a:t>Using the formula:</a:t>
            </a:r>
          </a:p>
          <a:p>
            <a:pPr algn="l">
              <a:buFont typeface="Arial" panose="020B0604020202020204" pitchFamily="34" charset="0"/>
              <a:buChar char="•"/>
            </a:pPr>
            <a:r>
              <a:rPr lang="en-IN" b="0" i="0" u="none" strike="noStrike" dirty="0">
                <a:solidFill>
                  <a:srgbClr val="000000"/>
                </a:solidFill>
                <a:effectLst/>
                <a:latin typeface="-webkit-standard"/>
              </a:rPr>
              <a:t>The program’s maximum theoretical speedup is about </a:t>
            </a:r>
            <a:r>
              <a:rPr lang="en-IN" b="1" i="0" u="none" strike="noStrike" dirty="0">
                <a:solidFill>
                  <a:srgbClr val="000000"/>
                </a:solidFill>
                <a:effectLst/>
              </a:rPr>
              <a:t>2.11×</a:t>
            </a:r>
            <a:r>
              <a:rPr lang="en-IN" b="0" i="0" u="none" strike="noStrike" dirty="0">
                <a:solidFill>
                  <a:srgbClr val="000000"/>
                </a:solidFill>
                <a:effectLst/>
                <a:latin typeface="-webkit-standard"/>
              </a:rPr>
              <a:t> faster when using 4 processors.</a:t>
            </a:r>
            <a:endParaRPr lang="en-IN" b="0" i="0" u="none" strike="noStrike" dirty="0">
              <a:solidFill>
                <a:srgbClr val="000000"/>
              </a:solidFill>
              <a:effectLst/>
            </a:endParaRPr>
          </a:p>
          <a:p>
            <a:endParaRPr lang="en-US" dirty="0"/>
          </a:p>
        </p:txBody>
      </p:sp>
    </p:spTree>
    <p:extLst>
      <p:ext uri="{BB962C8B-B14F-4D97-AF65-F5344CB8AC3E}">
        <p14:creationId xmlns:p14="http://schemas.microsoft.com/office/powerpoint/2010/main" val="129617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6DE46-8765-8E9B-344C-A1671F83044C}"/>
              </a:ext>
            </a:extLst>
          </p:cNvPr>
          <p:cNvSpPr>
            <a:spLocks noGrp="1"/>
          </p:cNvSpPr>
          <p:nvPr>
            <p:ph type="title"/>
          </p:nvPr>
        </p:nvSpPr>
        <p:spPr/>
        <p:txBody>
          <a:bodyPr/>
          <a:lstStyle/>
          <a:p>
            <a:r>
              <a:rPr lang="en-US" dirty="0"/>
              <a:t>Gustafson’s Law</a:t>
            </a:r>
          </a:p>
        </p:txBody>
      </p:sp>
      <p:sp>
        <p:nvSpPr>
          <p:cNvPr id="3" name="Content Placeholder 2">
            <a:extLst>
              <a:ext uri="{FF2B5EF4-FFF2-40B4-BE49-F238E27FC236}">
                <a16:creationId xmlns:a16="http://schemas.microsoft.com/office/drawing/2014/main" id="{DE8B3F4A-7786-F935-551A-5881DFE6ECFC}"/>
              </a:ext>
            </a:extLst>
          </p:cNvPr>
          <p:cNvSpPr>
            <a:spLocks noGrp="1"/>
          </p:cNvSpPr>
          <p:nvPr>
            <p:ph idx="1"/>
          </p:nvPr>
        </p:nvSpPr>
        <p:spPr/>
        <p:txBody>
          <a:bodyPr/>
          <a:lstStyle/>
          <a:p>
            <a:pPr algn="just"/>
            <a:r>
              <a:rPr lang="en-US" dirty="0"/>
              <a:t>Gustafson’s Law explains how the speedup of a parallel program scales when you increase the number of processors while also increasing the problem size.</a:t>
            </a:r>
          </a:p>
          <a:p>
            <a:pPr algn="just"/>
            <a:endParaRPr lang="en-US" dirty="0"/>
          </a:p>
          <a:p>
            <a:pPr algn="just"/>
            <a:r>
              <a:rPr lang="en-US" dirty="0"/>
              <a:t>It says that if you make the problem bigger, the parallelizable part dominates even more, so you can achieve much better speedup than Amdahl’s Law suggests.</a:t>
            </a:r>
          </a:p>
          <a:p>
            <a:pPr algn="just"/>
            <a:endParaRPr lang="en-US" dirty="0"/>
          </a:p>
          <a:p>
            <a:pPr algn="just"/>
            <a:r>
              <a:rPr lang="en-US" b="1" dirty="0"/>
              <a:t>Formula:</a:t>
            </a:r>
          </a:p>
          <a:p>
            <a:pPr algn="just"/>
            <a:r>
              <a:rPr lang="en-IN" dirty="0"/>
              <a:t>SG​=P×N+(1−P)</a:t>
            </a:r>
            <a:endParaRPr lang="en-US" dirty="0"/>
          </a:p>
        </p:txBody>
      </p:sp>
    </p:spTree>
    <p:extLst>
      <p:ext uri="{BB962C8B-B14F-4D97-AF65-F5344CB8AC3E}">
        <p14:creationId xmlns:p14="http://schemas.microsoft.com/office/powerpoint/2010/main" val="1635793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CE215-37B5-5321-1B33-1A976E7F5F17}"/>
              </a:ext>
            </a:extLst>
          </p:cNvPr>
          <p:cNvSpPr>
            <a:spLocks noGrp="1"/>
          </p:cNvSpPr>
          <p:nvPr>
            <p:ph type="title"/>
          </p:nvPr>
        </p:nvSpPr>
        <p:spPr/>
        <p:txBody>
          <a:bodyPr/>
          <a:lstStyle/>
          <a:p>
            <a:r>
              <a:rPr lang="en-US" dirty="0"/>
              <a:t>Gustafson’s Law</a:t>
            </a:r>
          </a:p>
        </p:txBody>
      </p:sp>
      <p:sp>
        <p:nvSpPr>
          <p:cNvPr id="3" name="Content Placeholder 2">
            <a:extLst>
              <a:ext uri="{FF2B5EF4-FFF2-40B4-BE49-F238E27FC236}">
                <a16:creationId xmlns:a16="http://schemas.microsoft.com/office/drawing/2014/main" id="{494845C4-DA4F-9A25-1F1F-41FFBDF09585}"/>
              </a:ext>
            </a:extLst>
          </p:cNvPr>
          <p:cNvSpPr>
            <a:spLocks noGrp="1"/>
          </p:cNvSpPr>
          <p:nvPr>
            <p:ph idx="1"/>
          </p:nvPr>
        </p:nvSpPr>
        <p:spPr/>
        <p:txBody>
          <a:bodyPr/>
          <a:lstStyle/>
          <a:p>
            <a:pPr algn="l"/>
            <a:r>
              <a:rPr lang="en-IN" b="0" i="0" u="none" strike="noStrike" dirty="0">
                <a:solidFill>
                  <a:srgbClr val="000000"/>
                </a:solidFill>
                <a:effectLst/>
              </a:rPr>
              <a:t>Where:</a:t>
            </a:r>
          </a:p>
          <a:p>
            <a:pPr algn="l">
              <a:buFont typeface="Arial" panose="020B0604020202020204" pitchFamily="34" charset="0"/>
              <a:buChar char="•"/>
            </a:pPr>
            <a:r>
              <a:rPr lang="en-IN" b="0" i="0" u="none" strike="noStrike" dirty="0">
                <a:solidFill>
                  <a:srgbClr val="000000"/>
                </a:solidFill>
                <a:effectLst/>
              </a:rPr>
              <a:t>SG​ = scaled speedup</a:t>
            </a:r>
          </a:p>
          <a:p>
            <a:pPr algn="l">
              <a:buFont typeface="Arial" panose="020B0604020202020204" pitchFamily="34" charset="0"/>
              <a:buChar char="•"/>
            </a:pPr>
            <a:r>
              <a:rPr lang="en-IN" b="0" i="0" u="none" strike="noStrike" dirty="0">
                <a:solidFill>
                  <a:srgbClr val="000000"/>
                </a:solidFill>
                <a:effectLst/>
              </a:rPr>
              <a:t>P = fraction of the program that can be parallelized</a:t>
            </a:r>
          </a:p>
          <a:p>
            <a:pPr algn="l">
              <a:buFont typeface="Arial" panose="020B0604020202020204" pitchFamily="34" charset="0"/>
              <a:buChar char="•"/>
            </a:pPr>
            <a:r>
              <a:rPr lang="en-IN" b="0" i="0" u="none" strike="noStrike" dirty="0">
                <a:solidFill>
                  <a:srgbClr val="000000"/>
                </a:solidFill>
                <a:effectLst/>
              </a:rPr>
              <a:t>N = number of processors</a:t>
            </a:r>
          </a:p>
          <a:p>
            <a:endParaRPr lang="en-US" dirty="0"/>
          </a:p>
        </p:txBody>
      </p:sp>
    </p:spTree>
    <p:extLst>
      <p:ext uri="{BB962C8B-B14F-4D97-AF65-F5344CB8AC3E}">
        <p14:creationId xmlns:p14="http://schemas.microsoft.com/office/powerpoint/2010/main" val="135298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ECEB8-9B6C-16A3-6286-C4E4FD77F941}"/>
              </a:ext>
            </a:extLst>
          </p:cNvPr>
          <p:cNvSpPr>
            <a:spLocks noGrp="1"/>
          </p:cNvSpPr>
          <p:nvPr>
            <p:ph type="title"/>
          </p:nvPr>
        </p:nvSpPr>
        <p:spPr/>
        <p:txBody>
          <a:bodyPr/>
          <a:lstStyle/>
          <a:p>
            <a:r>
              <a:rPr lang="en-US" dirty="0"/>
              <a:t>Gustafson’s Law Example</a:t>
            </a:r>
          </a:p>
        </p:txBody>
      </p:sp>
      <p:sp>
        <p:nvSpPr>
          <p:cNvPr id="3" name="Content Placeholder 2">
            <a:extLst>
              <a:ext uri="{FF2B5EF4-FFF2-40B4-BE49-F238E27FC236}">
                <a16:creationId xmlns:a16="http://schemas.microsoft.com/office/drawing/2014/main" id="{EFDAC83E-A6AB-3866-C573-8B61D4A29B20}"/>
              </a:ext>
            </a:extLst>
          </p:cNvPr>
          <p:cNvSpPr>
            <a:spLocks noGrp="1"/>
          </p:cNvSpPr>
          <p:nvPr>
            <p:ph idx="1"/>
          </p:nvPr>
        </p:nvSpPr>
        <p:spPr/>
        <p:txBody>
          <a:bodyPr/>
          <a:lstStyle/>
          <a:p>
            <a:pPr algn="l"/>
            <a:r>
              <a:rPr lang="en-IN" b="0" i="0" u="none" strike="noStrike" dirty="0">
                <a:solidFill>
                  <a:srgbClr val="000000"/>
                </a:solidFill>
                <a:effectLst/>
              </a:rPr>
              <a:t>Given:</a:t>
            </a:r>
          </a:p>
          <a:p>
            <a:pPr algn="l">
              <a:buFont typeface="Arial" panose="020B0604020202020204" pitchFamily="34" charset="0"/>
              <a:buChar char="•"/>
            </a:pPr>
            <a:r>
              <a:rPr lang="en-IN" b="0" i="0" u="none" strike="noStrike" dirty="0">
                <a:solidFill>
                  <a:srgbClr val="000000"/>
                </a:solidFill>
                <a:effectLst/>
              </a:rPr>
              <a:t>P=0.70 (70% parallelizable)</a:t>
            </a:r>
          </a:p>
          <a:p>
            <a:pPr algn="l">
              <a:buFont typeface="Arial" panose="020B0604020202020204" pitchFamily="34" charset="0"/>
              <a:buChar char="•"/>
            </a:pPr>
            <a:r>
              <a:rPr lang="en-IN" b="0" i="0" u="none" strike="noStrike" dirty="0">
                <a:solidFill>
                  <a:srgbClr val="000000"/>
                </a:solidFill>
                <a:effectLst/>
              </a:rPr>
              <a:t>N=4 processors</a:t>
            </a:r>
          </a:p>
          <a:p>
            <a:pPr algn="l">
              <a:buFont typeface="Arial" panose="020B0604020202020204" pitchFamily="34" charset="0"/>
              <a:buChar char="•"/>
            </a:pPr>
            <a:endParaRPr lang="en-IN" b="0" i="0" u="none" strike="noStrike" dirty="0">
              <a:solidFill>
                <a:srgbClr val="000000"/>
              </a:solidFill>
              <a:effectLst/>
            </a:endParaRPr>
          </a:p>
          <a:p>
            <a:pPr algn="l"/>
            <a:r>
              <a:rPr lang="en-IN" b="0" i="0" u="none" strike="noStrike" dirty="0">
                <a:solidFill>
                  <a:srgbClr val="000000"/>
                </a:solidFill>
                <a:effectLst/>
              </a:rPr>
              <a:t>The </a:t>
            </a:r>
            <a:r>
              <a:rPr lang="en-IN" b="1" i="0" u="none" strike="noStrike" dirty="0">
                <a:solidFill>
                  <a:srgbClr val="000000"/>
                </a:solidFill>
                <a:effectLst/>
              </a:rPr>
              <a:t>Gustafson’s Law</a:t>
            </a:r>
            <a:r>
              <a:rPr lang="en-IN" b="0" i="0" u="none" strike="noStrike" dirty="0">
                <a:solidFill>
                  <a:srgbClr val="000000"/>
                </a:solidFill>
                <a:effectLst/>
              </a:rPr>
              <a:t> formula is:</a:t>
            </a:r>
          </a:p>
          <a:p>
            <a:r>
              <a:rPr lang="en-IN" b="0" i="0" u="none" strike="noStrike" dirty="0">
                <a:solidFill>
                  <a:srgbClr val="000000"/>
                </a:solidFill>
                <a:effectLst/>
              </a:rPr>
              <a:t>SG=N−(1−P)×N</a:t>
            </a:r>
          </a:p>
          <a:p>
            <a:endParaRPr lang="en-IN" dirty="0">
              <a:solidFill>
                <a:srgbClr val="000000"/>
              </a:solidFill>
            </a:endParaRPr>
          </a:p>
          <a:p>
            <a:r>
              <a:rPr lang="en-US" dirty="0"/>
              <a:t>According to Gustafson’s Law, the scaled speedup is 2.8×.</a:t>
            </a:r>
          </a:p>
        </p:txBody>
      </p:sp>
    </p:spTree>
    <p:extLst>
      <p:ext uri="{BB962C8B-B14F-4D97-AF65-F5344CB8AC3E}">
        <p14:creationId xmlns:p14="http://schemas.microsoft.com/office/powerpoint/2010/main" val="3002704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{0DBC9465-C6FA-1948-B936-66CC95CDA27D}tf10001060</Template>
  <TotalTime>14</TotalTime>
  <Words>369</Words>
  <Application>Microsoft Macintosh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-webkit-standard</vt:lpstr>
      <vt:lpstr>Arial</vt:lpstr>
      <vt:lpstr>Nunito</vt:lpstr>
      <vt:lpstr>Trebuchet MS</vt:lpstr>
      <vt:lpstr>Wingdings 3</vt:lpstr>
      <vt:lpstr>Facet</vt:lpstr>
      <vt:lpstr>Amdahl’s Law</vt:lpstr>
      <vt:lpstr>Amdahl’s Law</vt:lpstr>
      <vt:lpstr>Amdahl’s Law Example</vt:lpstr>
      <vt:lpstr>Gustafson’s Law</vt:lpstr>
      <vt:lpstr>Gustafson’s Law</vt:lpstr>
      <vt:lpstr>Gustafson’s Law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Abhirup Khanna</dc:creator>
  <cp:lastModifiedBy>Abhirup Khanna</cp:lastModifiedBy>
  <cp:revision>4</cp:revision>
  <dcterms:created xsi:type="dcterms:W3CDTF">2025-04-28T04:37:21Z</dcterms:created>
  <dcterms:modified xsi:type="dcterms:W3CDTF">2025-04-28T04:52:18Z</dcterms:modified>
</cp:coreProperties>
</file>