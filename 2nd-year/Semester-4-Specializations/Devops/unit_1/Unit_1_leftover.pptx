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7" r:id="rId14"/>
    <p:sldId id="268" r:id="rId15"/>
    <p:sldId id="270" r:id="rId16"/>
    <p:sldId id="271" r:id="rId17"/>
    <p:sldId id="272" r:id="rId18"/>
    <p:sldId id="273" r:id="rId19"/>
    <p:sldId id="274" r:id="rId20"/>
    <p:sldId id="277" r:id="rId21"/>
    <p:sldId id="275" r:id="rId22"/>
    <p:sldId id="278" r:id="rId23"/>
    <p:sldId id="276"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FBC05-79F8-4DAF-CD6F-41717AB4FC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D2050B-9775-E804-06C6-0E09683BB4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3D75AD-A70F-5C70-2685-54EB9A0D2C83}"/>
              </a:ext>
            </a:extLst>
          </p:cNvPr>
          <p:cNvSpPr>
            <a:spLocks noGrp="1"/>
          </p:cNvSpPr>
          <p:nvPr>
            <p:ph type="dt" sz="half" idx="10"/>
          </p:nvPr>
        </p:nvSpPr>
        <p:spPr/>
        <p:txBody>
          <a:bodyPr/>
          <a:lstStyle/>
          <a:p>
            <a:fld id="{08E99C2E-B2AA-49EF-BDBB-EAB34255B441}" type="datetimeFigureOut">
              <a:rPr lang="en-US" smtClean="0"/>
              <a:t>4/2/2025</a:t>
            </a:fld>
            <a:endParaRPr lang="en-US"/>
          </a:p>
        </p:txBody>
      </p:sp>
      <p:sp>
        <p:nvSpPr>
          <p:cNvPr id="5" name="Footer Placeholder 4">
            <a:extLst>
              <a:ext uri="{FF2B5EF4-FFF2-40B4-BE49-F238E27FC236}">
                <a16:creationId xmlns:a16="http://schemas.microsoft.com/office/drawing/2014/main" id="{FFBA3354-21F9-5159-82BA-092AECD29E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6E2C83-0CC6-6957-F105-E8FF052FB159}"/>
              </a:ext>
            </a:extLst>
          </p:cNvPr>
          <p:cNvSpPr>
            <a:spLocks noGrp="1"/>
          </p:cNvSpPr>
          <p:nvPr>
            <p:ph type="sldNum" sz="quarter" idx="12"/>
          </p:nvPr>
        </p:nvSpPr>
        <p:spPr/>
        <p:txBody>
          <a:bodyPr/>
          <a:lstStyle/>
          <a:p>
            <a:fld id="{FA620BC2-50ED-4AD7-A033-068339D09D3E}" type="slidenum">
              <a:rPr lang="en-US" smtClean="0"/>
              <a:t>‹#›</a:t>
            </a:fld>
            <a:endParaRPr lang="en-US"/>
          </a:p>
        </p:txBody>
      </p:sp>
    </p:spTree>
    <p:extLst>
      <p:ext uri="{BB962C8B-B14F-4D97-AF65-F5344CB8AC3E}">
        <p14:creationId xmlns:p14="http://schemas.microsoft.com/office/powerpoint/2010/main" val="771092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46338-3AD7-24E3-0FC3-6A7C502DBC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6F7C29-425E-D379-FC62-2D6262D205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BBFF75-A984-B7F9-A819-B7F80E281866}"/>
              </a:ext>
            </a:extLst>
          </p:cNvPr>
          <p:cNvSpPr>
            <a:spLocks noGrp="1"/>
          </p:cNvSpPr>
          <p:nvPr>
            <p:ph type="dt" sz="half" idx="10"/>
          </p:nvPr>
        </p:nvSpPr>
        <p:spPr/>
        <p:txBody>
          <a:bodyPr/>
          <a:lstStyle/>
          <a:p>
            <a:fld id="{08E99C2E-B2AA-49EF-BDBB-EAB34255B441}" type="datetimeFigureOut">
              <a:rPr lang="en-US" smtClean="0"/>
              <a:t>4/2/2025</a:t>
            </a:fld>
            <a:endParaRPr lang="en-US"/>
          </a:p>
        </p:txBody>
      </p:sp>
      <p:sp>
        <p:nvSpPr>
          <p:cNvPr id="5" name="Footer Placeholder 4">
            <a:extLst>
              <a:ext uri="{FF2B5EF4-FFF2-40B4-BE49-F238E27FC236}">
                <a16:creationId xmlns:a16="http://schemas.microsoft.com/office/drawing/2014/main" id="{96FCBF96-CCFE-D7CD-F840-61945A163B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5F1CA5-5EDC-6569-1C54-AAA9A6297927}"/>
              </a:ext>
            </a:extLst>
          </p:cNvPr>
          <p:cNvSpPr>
            <a:spLocks noGrp="1"/>
          </p:cNvSpPr>
          <p:nvPr>
            <p:ph type="sldNum" sz="quarter" idx="12"/>
          </p:nvPr>
        </p:nvSpPr>
        <p:spPr/>
        <p:txBody>
          <a:bodyPr/>
          <a:lstStyle/>
          <a:p>
            <a:fld id="{FA620BC2-50ED-4AD7-A033-068339D09D3E}" type="slidenum">
              <a:rPr lang="en-US" smtClean="0"/>
              <a:t>‹#›</a:t>
            </a:fld>
            <a:endParaRPr lang="en-US"/>
          </a:p>
        </p:txBody>
      </p:sp>
    </p:spTree>
    <p:extLst>
      <p:ext uri="{BB962C8B-B14F-4D97-AF65-F5344CB8AC3E}">
        <p14:creationId xmlns:p14="http://schemas.microsoft.com/office/powerpoint/2010/main" val="3218696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32A98-97AE-E7DA-F682-823DB0B073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198374-4AFF-E4A2-47A6-990DBD06E2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80A606-2FD3-DF00-9974-FE7BCABCA962}"/>
              </a:ext>
            </a:extLst>
          </p:cNvPr>
          <p:cNvSpPr>
            <a:spLocks noGrp="1"/>
          </p:cNvSpPr>
          <p:nvPr>
            <p:ph type="dt" sz="half" idx="10"/>
          </p:nvPr>
        </p:nvSpPr>
        <p:spPr/>
        <p:txBody>
          <a:bodyPr/>
          <a:lstStyle/>
          <a:p>
            <a:fld id="{08E99C2E-B2AA-49EF-BDBB-EAB34255B441}" type="datetimeFigureOut">
              <a:rPr lang="en-US" smtClean="0"/>
              <a:t>4/2/2025</a:t>
            </a:fld>
            <a:endParaRPr lang="en-US"/>
          </a:p>
        </p:txBody>
      </p:sp>
      <p:sp>
        <p:nvSpPr>
          <p:cNvPr id="5" name="Footer Placeholder 4">
            <a:extLst>
              <a:ext uri="{FF2B5EF4-FFF2-40B4-BE49-F238E27FC236}">
                <a16:creationId xmlns:a16="http://schemas.microsoft.com/office/drawing/2014/main" id="{68CFBD1E-5359-9B94-D609-190E576CD3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2D612C-734B-A74A-DF22-BE6A67ECD479}"/>
              </a:ext>
            </a:extLst>
          </p:cNvPr>
          <p:cNvSpPr>
            <a:spLocks noGrp="1"/>
          </p:cNvSpPr>
          <p:nvPr>
            <p:ph type="sldNum" sz="quarter" idx="12"/>
          </p:nvPr>
        </p:nvSpPr>
        <p:spPr/>
        <p:txBody>
          <a:bodyPr/>
          <a:lstStyle/>
          <a:p>
            <a:fld id="{FA620BC2-50ED-4AD7-A033-068339D09D3E}" type="slidenum">
              <a:rPr lang="en-US" smtClean="0"/>
              <a:t>‹#›</a:t>
            </a:fld>
            <a:endParaRPr lang="en-US"/>
          </a:p>
        </p:txBody>
      </p:sp>
    </p:spTree>
    <p:extLst>
      <p:ext uri="{BB962C8B-B14F-4D97-AF65-F5344CB8AC3E}">
        <p14:creationId xmlns:p14="http://schemas.microsoft.com/office/powerpoint/2010/main" val="3955241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07FD0-C043-23B4-03D6-D8EE840E0D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2612FA-27F3-3ED2-2B52-8160D0C067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FB9383-EF64-DB3F-26CF-F7419BE590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A59F33-2C14-C1F1-ECF0-136A5AD92B19}"/>
              </a:ext>
            </a:extLst>
          </p:cNvPr>
          <p:cNvSpPr>
            <a:spLocks noGrp="1"/>
          </p:cNvSpPr>
          <p:nvPr>
            <p:ph type="dt" sz="half" idx="10"/>
          </p:nvPr>
        </p:nvSpPr>
        <p:spPr/>
        <p:txBody>
          <a:bodyPr/>
          <a:lstStyle/>
          <a:p>
            <a:fld id="{08E99C2E-B2AA-49EF-BDBB-EAB34255B441}" type="datetimeFigureOut">
              <a:rPr lang="en-US" smtClean="0"/>
              <a:t>4/2/2025</a:t>
            </a:fld>
            <a:endParaRPr lang="en-US"/>
          </a:p>
        </p:txBody>
      </p:sp>
      <p:sp>
        <p:nvSpPr>
          <p:cNvPr id="6" name="Footer Placeholder 5">
            <a:extLst>
              <a:ext uri="{FF2B5EF4-FFF2-40B4-BE49-F238E27FC236}">
                <a16:creationId xmlns:a16="http://schemas.microsoft.com/office/drawing/2014/main" id="{83D80714-259F-FA33-8AB3-5B01AE72F7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B9DAA9-4AF3-B040-52E3-E195F0E22AEC}"/>
              </a:ext>
            </a:extLst>
          </p:cNvPr>
          <p:cNvSpPr>
            <a:spLocks noGrp="1"/>
          </p:cNvSpPr>
          <p:nvPr>
            <p:ph type="sldNum" sz="quarter" idx="12"/>
          </p:nvPr>
        </p:nvSpPr>
        <p:spPr/>
        <p:txBody>
          <a:bodyPr/>
          <a:lstStyle/>
          <a:p>
            <a:fld id="{FA620BC2-50ED-4AD7-A033-068339D09D3E}" type="slidenum">
              <a:rPr lang="en-US" smtClean="0"/>
              <a:t>‹#›</a:t>
            </a:fld>
            <a:endParaRPr lang="en-US"/>
          </a:p>
        </p:txBody>
      </p:sp>
    </p:spTree>
    <p:extLst>
      <p:ext uri="{BB962C8B-B14F-4D97-AF65-F5344CB8AC3E}">
        <p14:creationId xmlns:p14="http://schemas.microsoft.com/office/powerpoint/2010/main" val="2243960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EF713-DECB-FB2E-21D2-AFEA1824DE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A2ED765-8EAE-3EDF-769B-02119E98F8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AE053B-B563-B2D4-A2E2-D442A9D773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DD698D-C72A-8917-2AD1-5435ABA706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202B11-F069-47C5-3A15-4840DA44DA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E7466D-2423-517B-FDB4-6C594F86C199}"/>
              </a:ext>
            </a:extLst>
          </p:cNvPr>
          <p:cNvSpPr>
            <a:spLocks noGrp="1"/>
          </p:cNvSpPr>
          <p:nvPr>
            <p:ph type="dt" sz="half" idx="10"/>
          </p:nvPr>
        </p:nvSpPr>
        <p:spPr/>
        <p:txBody>
          <a:bodyPr/>
          <a:lstStyle/>
          <a:p>
            <a:fld id="{08E99C2E-B2AA-49EF-BDBB-EAB34255B441}" type="datetimeFigureOut">
              <a:rPr lang="en-US" smtClean="0"/>
              <a:t>4/2/2025</a:t>
            </a:fld>
            <a:endParaRPr lang="en-US"/>
          </a:p>
        </p:txBody>
      </p:sp>
      <p:sp>
        <p:nvSpPr>
          <p:cNvPr id="8" name="Footer Placeholder 7">
            <a:extLst>
              <a:ext uri="{FF2B5EF4-FFF2-40B4-BE49-F238E27FC236}">
                <a16:creationId xmlns:a16="http://schemas.microsoft.com/office/drawing/2014/main" id="{58BBD037-DBB0-18E8-78D6-75577CD6A97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649AC5-57F4-5980-F91B-A4A953BC720E}"/>
              </a:ext>
            </a:extLst>
          </p:cNvPr>
          <p:cNvSpPr>
            <a:spLocks noGrp="1"/>
          </p:cNvSpPr>
          <p:nvPr>
            <p:ph type="sldNum" sz="quarter" idx="12"/>
          </p:nvPr>
        </p:nvSpPr>
        <p:spPr/>
        <p:txBody>
          <a:bodyPr/>
          <a:lstStyle/>
          <a:p>
            <a:fld id="{FA620BC2-50ED-4AD7-A033-068339D09D3E}" type="slidenum">
              <a:rPr lang="en-US" smtClean="0"/>
              <a:t>‹#›</a:t>
            </a:fld>
            <a:endParaRPr lang="en-US"/>
          </a:p>
        </p:txBody>
      </p:sp>
    </p:spTree>
    <p:extLst>
      <p:ext uri="{BB962C8B-B14F-4D97-AF65-F5344CB8AC3E}">
        <p14:creationId xmlns:p14="http://schemas.microsoft.com/office/powerpoint/2010/main" val="3314950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D13E7-2BF2-1167-E6DA-5FF8B37AD1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37F1F0-FB03-6DAF-BBB5-84C44D43F11D}"/>
              </a:ext>
            </a:extLst>
          </p:cNvPr>
          <p:cNvSpPr>
            <a:spLocks noGrp="1"/>
          </p:cNvSpPr>
          <p:nvPr>
            <p:ph type="dt" sz="half" idx="10"/>
          </p:nvPr>
        </p:nvSpPr>
        <p:spPr/>
        <p:txBody>
          <a:bodyPr/>
          <a:lstStyle/>
          <a:p>
            <a:fld id="{08E99C2E-B2AA-49EF-BDBB-EAB34255B441}" type="datetimeFigureOut">
              <a:rPr lang="en-US" smtClean="0"/>
              <a:t>4/2/2025</a:t>
            </a:fld>
            <a:endParaRPr lang="en-US"/>
          </a:p>
        </p:txBody>
      </p:sp>
      <p:sp>
        <p:nvSpPr>
          <p:cNvPr id="4" name="Footer Placeholder 3">
            <a:extLst>
              <a:ext uri="{FF2B5EF4-FFF2-40B4-BE49-F238E27FC236}">
                <a16:creationId xmlns:a16="http://schemas.microsoft.com/office/drawing/2014/main" id="{B721D7F1-7A24-673F-B077-238C231E60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C9C86A-9085-27A2-77A9-42105AA5E307}"/>
              </a:ext>
            </a:extLst>
          </p:cNvPr>
          <p:cNvSpPr>
            <a:spLocks noGrp="1"/>
          </p:cNvSpPr>
          <p:nvPr>
            <p:ph type="sldNum" sz="quarter" idx="12"/>
          </p:nvPr>
        </p:nvSpPr>
        <p:spPr/>
        <p:txBody>
          <a:bodyPr/>
          <a:lstStyle/>
          <a:p>
            <a:fld id="{FA620BC2-50ED-4AD7-A033-068339D09D3E}" type="slidenum">
              <a:rPr lang="en-US" smtClean="0"/>
              <a:t>‹#›</a:t>
            </a:fld>
            <a:endParaRPr lang="en-US"/>
          </a:p>
        </p:txBody>
      </p:sp>
    </p:spTree>
    <p:extLst>
      <p:ext uri="{BB962C8B-B14F-4D97-AF65-F5344CB8AC3E}">
        <p14:creationId xmlns:p14="http://schemas.microsoft.com/office/powerpoint/2010/main" val="1987135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962CD1-C0B8-7BC2-D0CA-180C7395C6C2}"/>
              </a:ext>
            </a:extLst>
          </p:cNvPr>
          <p:cNvSpPr>
            <a:spLocks noGrp="1"/>
          </p:cNvSpPr>
          <p:nvPr>
            <p:ph type="dt" sz="half" idx="10"/>
          </p:nvPr>
        </p:nvSpPr>
        <p:spPr/>
        <p:txBody>
          <a:bodyPr/>
          <a:lstStyle/>
          <a:p>
            <a:fld id="{08E99C2E-B2AA-49EF-BDBB-EAB34255B441}" type="datetimeFigureOut">
              <a:rPr lang="en-US" smtClean="0"/>
              <a:t>4/2/2025</a:t>
            </a:fld>
            <a:endParaRPr lang="en-US"/>
          </a:p>
        </p:txBody>
      </p:sp>
      <p:sp>
        <p:nvSpPr>
          <p:cNvPr id="3" name="Footer Placeholder 2">
            <a:extLst>
              <a:ext uri="{FF2B5EF4-FFF2-40B4-BE49-F238E27FC236}">
                <a16:creationId xmlns:a16="http://schemas.microsoft.com/office/drawing/2014/main" id="{A6C68D03-50E6-D508-B002-0E1A7E3E6B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D195FE-8512-6A27-09BD-72392B24202E}"/>
              </a:ext>
            </a:extLst>
          </p:cNvPr>
          <p:cNvSpPr>
            <a:spLocks noGrp="1"/>
          </p:cNvSpPr>
          <p:nvPr>
            <p:ph type="sldNum" sz="quarter" idx="12"/>
          </p:nvPr>
        </p:nvSpPr>
        <p:spPr/>
        <p:txBody>
          <a:bodyPr/>
          <a:lstStyle/>
          <a:p>
            <a:fld id="{FA620BC2-50ED-4AD7-A033-068339D09D3E}" type="slidenum">
              <a:rPr lang="en-US" smtClean="0"/>
              <a:t>‹#›</a:t>
            </a:fld>
            <a:endParaRPr lang="en-US"/>
          </a:p>
        </p:txBody>
      </p:sp>
    </p:spTree>
    <p:extLst>
      <p:ext uri="{BB962C8B-B14F-4D97-AF65-F5344CB8AC3E}">
        <p14:creationId xmlns:p14="http://schemas.microsoft.com/office/powerpoint/2010/main" val="2946479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7AF92-4FD8-D587-A456-4CB609AF85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097981-B6E3-6C53-14C4-D1E52FA46E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D5C77C-A163-33FA-9BF5-D8366F0195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D10BE7-BCB2-7E75-EB2B-43BE3746A66A}"/>
              </a:ext>
            </a:extLst>
          </p:cNvPr>
          <p:cNvSpPr>
            <a:spLocks noGrp="1"/>
          </p:cNvSpPr>
          <p:nvPr>
            <p:ph type="dt" sz="half" idx="10"/>
          </p:nvPr>
        </p:nvSpPr>
        <p:spPr/>
        <p:txBody>
          <a:bodyPr/>
          <a:lstStyle/>
          <a:p>
            <a:fld id="{08E99C2E-B2AA-49EF-BDBB-EAB34255B441}" type="datetimeFigureOut">
              <a:rPr lang="en-US" smtClean="0"/>
              <a:t>4/2/2025</a:t>
            </a:fld>
            <a:endParaRPr lang="en-US"/>
          </a:p>
        </p:txBody>
      </p:sp>
      <p:sp>
        <p:nvSpPr>
          <p:cNvPr id="6" name="Footer Placeholder 5">
            <a:extLst>
              <a:ext uri="{FF2B5EF4-FFF2-40B4-BE49-F238E27FC236}">
                <a16:creationId xmlns:a16="http://schemas.microsoft.com/office/drawing/2014/main" id="{E01D7FED-F96E-8F3D-FC3A-B9130C64F7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902317-58A9-5003-C6F4-CD13D42525E8}"/>
              </a:ext>
            </a:extLst>
          </p:cNvPr>
          <p:cNvSpPr>
            <a:spLocks noGrp="1"/>
          </p:cNvSpPr>
          <p:nvPr>
            <p:ph type="sldNum" sz="quarter" idx="12"/>
          </p:nvPr>
        </p:nvSpPr>
        <p:spPr/>
        <p:txBody>
          <a:bodyPr/>
          <a:lstStyle/>
          <a:p>
            <a:fld id="{FA620BC2-50ED-4AD7-A033-068339D09D3E}" type="slidenum">
              <a:rPr lang="en-US" smtClean="0"/>
              <a:t>‹#›</a:t>
            </a:fld>
            <a:endParaRPr lang="en-US"/>
          </a:p>
        </p:txBody>
      </p:sp>
    </p:spTree>
    <p:extLst>
      <p:ext uri="{BB962C8B-B14F-4D97-AF65-F5344CB8AC3E}">
        <p14:creationId xmlns:p14="http://schemas.microsoft.com/office/powerpoint/2010/main" val="791490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84510-2E7E-B3AC-30D0-2E0B4042CB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7D6E5E-F639-76DB-AEFA-80257F6ED5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D00F3B-E988-64EF-FE2C-6C6C4AB946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6CB83B-785D-7C5D-13EF-F37858E487A0}"/>
              </a:ext>
            </a:extLst>
          </p:cNvPr>
          <p:cNvSpPr>
            <a:spLocks noGrp="1"/>
          </p:cNvSpPr>
          <p:nvPr>
            <p:ph type="dt" sz="half" idx="10"/>
          </p:nvPr>
        </p:nvSpPr>
        <p:spPr/>
        <p:txBody>
          <a:bodyPr/>
          <a:lstStyle/>
          <a:p>
            <a:fld id="{08E99C2E-B2AA-49EF-BDBB-EAB34255B441}" type="datetimeFigureOut">
              <a:rPr lang="en-US" smtClean="0"/>
              <a:t>4/2/2025</a:t>
            </a:fld>
            <a:endParaRPr lang="en-US"/>
          </a:p>
        </p:txBody>
      </p:sp>
      <p:sp>
        <p:nvSpPr>
          <p:cNvPr id="6" name="Footer Placeholder 5">
            <a:extLst>
              <a:ext uri="{FF2B5EF4-FFF2-40B4-BE49-F238E27FC236}">
                <a16:creationId xmlns:a16="http://schemas.microsoft.com/office/drawing/2014/main" id="{E7C82FBF-3E3D-762B-F1FB-24E9D9EE99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581A89-4F75-7378-C507-6C2BF68D7C1B}"/>
              </a:ext>
            </a:extLst>
          </p:cNvPr>
          <p:cNvSpPr>
            <a:spLocks noGrp="1"/>
          </p:cNvSpPr>
          <p:nvPr>
            <p:ph type="sldNum" sz="quarter" idx="12"/>
          </p:nvPr>
        </p:nvSpPr>
        <p:spPr/>
        <p:txBody>
          <a:bodyPr/>
          <a:lstStyle/>
          <a:p>
            <a:fld id="{FA620BC2-50ED-4AD7-A033-068339D09D3E}" type="slidenum">
              <a:rPr lang="en-US" smtClean="0"/>
              <a:t>‹#›</a:t>
            </a:fld>
            <a:endParaRPr lang="en-US"/>
          </a:p>
        </p:txBody>
      </p:sp>
    </p:spTree>
    <p:extLst>
      <p:ext uri="{BB962C8B-B14F-4D97-AF65-F5344CB8AC3E}">
        <p14:creationId xmlns:p14="http://schemas.microsoft.com/office/powerpoint/2010/main" val="3465412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CE711-E725-A346-E5EC-032BD93128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DD647C-D6FC-F433-6E16-789BFEFB2B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34815E-3930-F830-01D3-DDE021DEFBD7}"/>
              </a:ext>
            </a:extLst>
          </p:cNvPr>
          <p:cNvSpPr>
            <a:spLocks noGrp="1"/>
          </p:cNvSpPr>
          <p:nvPr>
            <p:ph type="dt" sz="half" idx="10"/>
          </p:nvPr>
        </p:nvSpPr>
        <p:spPr/>
        <p:txBody>
          <a:bodyPr/>
          <a:lstStyle/>
          <a:p>
            <a:fld id="{08E99C2E-B2AA-49EF-BDBB-EAB34255B441}" type="datetimeFigureOut">
              <a:rPr lang="en-US" smtClean="0"/>
              <a:t>4/2/2025</a:t>
            </a:fld>
            <a:endParaRPr lang="en-US"/>
          </a:p>
        </p:txBody>
      </p:sp>
      <p:sp>
        <p:nvSpPr>
          <p:cNvPr id="5" name="Footer Placeholder 4">
            <a:extLst>
              <a:ext uri="{FF2B5EF4-FFF2-40B4-BE49-F238E27FC236}">
                <a16:creationId xmlns:a16="http://schemas.microsoft.com/office/drawing/2014/main" id="{154F43ED-F7F0-3AB7-F593-BEEC56B6CF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53983A-CE02-82C5-F115-B3066A3BB3E3}"/>
              </a:ext>
            </a:extLst>
          </p:cNvPr>
          <p:cNvSpPr>
            <a:spLocks noGrp="1"/>
          </p:cNvSpPr>
          <p:nvPr>
            <p:ph type="sldNum" sz="quarter" idx="12"/>
          </p:nvPr>
        </p:nvSpPr>
        <p:spPr/>
        <p:txBody>
          <a:bodyPr/>
          <a:lstStyle/>
          <a:p>
            <a:fld id="{FA620BC2-50ED-4AD7-A033-068339D09D3E}" type="slidenum">
              <a:rPr lang="en-US" smtClean="0"/>
              <a:t>‹#›</a:t>
            </a:fld>
            <a:endParaRPr lang="en-US"/>
          </a:p>
        </p:txBody>
      </p:sp>
    </p:spTree>
    <p:extLst>
      <p:ext uri="{BB962C8B-B14F-4D97-AF65-F5344CB8AC3E}">
        <p14:creationId xmlns:p14="http://schemas.microsoft.com/office/powerpoint/2010/main" val="732396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A0ECA4-B799-2179-C22D-67B431C663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3A48AE-A23B-B7AC-14CA-0A1665E9F6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280980-20B1-79B8-5DEF-C0A13653D4A8}"/>
              </a:ext>
            </a:extLst>
          </p:cNvPr>
          <p:cNvSpPr>
            <a:spLocks noGrp="1"/>
          </p:cNvSpPr>
          <p:nvPr>
            <p:ph type="dt" sz="half" idx="10"/>
          </p:nvPr>
        </p:nvSpPr>
        <p:spPr/>
        <p:txBody>
          <a:bodyPr/>
          <a:lstStyle/>
          <a:p>
            <a:fld id="{08E99C2E-B2AA-49EF-BDBB-EAB34255B441}" type="datetimeFigureOut">
              <a:rPr lang="en-US" smtClean="0"/>
              <a:t>4/2/2025</a:t>
            </a:fld>
            <a:endParaRPr lang="en-US"/>
          </a:p>
        </p:txBody>
      </p:sp>
      <p:sp>
        <p:nvSpPr>
          <p:cNvPr id="5" name="Footer Placeholder 4">
            <a:extLst>
              <a:ext uri="{FF2B5EF4-FFF2-40B4-BE49-F238E27FC236}">
                <a16:creationId xmlns:a16="http://schemas.microsoft.com/office/drawing/2014/main" id="{7C09C49E-4EA2-68C5-C5BC-5B884DA5B5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F5E876-EFAC-2ED3-168E-468AB4081EBF}"/>
              </a:ext>
            </a:extLst>
          </p:cNvPr>
          <p:cNvSpPr>
            <a:spLocks noGrp="1"/>
          </p:cNvSpPr>
          <p:nvPr>
            <p:ph type="sldNum" sz="quarter" idx="12"/>
          </p:nvPr>
        </p:nvSpPr>
        <p:spPr/>
        <p:txBody>
          <a:bodyPr/>
          <a:lstStyle/>
          <a:p>
            <a:fld id="{FA620BC2-50ED-4AD7-A033-068339D09D3E}" type="slidenum">
              <a:rPr lang="en-US" smtClean="0"/>
              <a:t>‹#›</a:t>
            </a:fld>
            <a:endParaRPr lang="en-US"/>
          </a:p>
        </p:txBody>
      </p:sp>
    </p:spTree>
    <p:extLst>
      <p:ext uri="{BB962C8B-B14F-4D97-AF65-F5344CB8AC3E}">
        <p14:creationId xmlns:p14="http://schemas.microsoft.com/office/powerpoint/2010/main" val="1274411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6CD2F3-91F5-F001-F0A1-A6B810E96D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BEB582-1D71-F4F8-567C-CA05A8FE05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28EEC-134F-0BC6-C58F-7EC0AD54A9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E99C2E-B2AA-49EF-BDBB-EAB34255B441}" type="datetimeFigureOut">
              <a:rPr lang="en-US" smtClean="0"/>
              <a:t>4/2/2025</a:t>
            </a:fld>
            <a:endParaRPr lang="en-US"/>
          </a:p>
        </p:txBody>
      </p:sp>
      <p:sp>
        <p:nvSpPr>
          <p:cNvPr id="5" name="Footer Placeholder 4">
            <a:extLst>
              <a:ext uri="{FF2B5EF4-FFF2-40B4-BE49-F238E27FC236}">
                <a16:creationId xmlns:a16="http://schemas.microsoft.com/office/drawing/2014/main" id="{38FEE417-FFDA-82B2-B808-AA875480BD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861C6BE-A27B-B571-0FAE-7547579F5E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620BC2-50ED-4AD7-A033-068339D09D3E}" type="slidenum">
              <a:rPr lang="en-US" smtClean="0"/>
              <a:t>‹#›</a:t>
            </a:fld>
            <a:endParaRPr lang="en-US"/>
          </a:p>
        </p:txBody>
      </p:sp>
    </p:spTree>
    <p:extLst>
      <p:ext uri="{BB962C8B-B14F-4D97-AF65-F5344CB8AC3E}">
        <p14:creationId xmlns:p14="http://schemas.microsoft.com/office/powerpoint/2010/main" val="3984572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C7617-D982-A44F-4BA4-FE2018BD7DA2}"/>
              </a:ext>
            </a:extLst>
          </p:cNvPr>
          <p:cNvSpPr>
            <a:spLocks noGrp="1"/>
          </p:cNvSpPr>
          <p:nvPr>
            <p:ph type="ctrTitle"/>
          </p:nvPr>
        </p:nvSpPr>
        <p:spPr/>
        <p:txBody>
          <a:bodyPr/>
          <a:lstStyle/>
          <a:p>
            <a:r>
              <a:rPr lang="en-US" dirty="0"/>
              <a:t>Configuration Management Tools</a:t>
            </a:r>
          </a:p>
        </p:txBody>
      </p:sp>
      <p:sp>
        <p:nvSpPr>
          <p:cNvPr id="3" name="Subtitle 2">
            <a:extLst>
              <a:ext uri="{FF2B5EF4-FFF2-40B4-BE49-F238E27FC236}">
                <a16:creationId xmlns:a16="http://schemas.microsoft.com/office/drawing/2014/main" id="{4785754D-DC0C-EA8E-6BD6-8E2992CC34E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09857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5CFA4-4E15-519C-9D41-F09E7BA84D93}"/>
              </a:ext>
            </a:extLst>
          </p:cNvPr>
          <p:cNvSpPr>
            <a:spLocks noGrp="1"/>
          </p:cNvSpPr>
          <p:nvPr>
            <p:ph type="title"/>
          </p:nvPr>
        </p:nvSpPr>
        <p:spPr>
          <a:xfrm>
            <a:off x="838200" y="365126"/>
            <a:ext cx="10515600" cy="804108"/>
          </a:xfrm>
        </p:spPr>
        <p:txBody>
          <a:bodyPr>
            <a:normAutofit fontScale="90000"/>
          </a:bodyPr>
          <a:lstStyle/>
          <a:p>
            <a:r>
              <a:rPr lang="en-US" b="1" i="0" dirty="0">
                <a:solidFill>
                  <a:srgbClr val="273239"/>
                </a:solidFill>
                <a:effectLst/>
                <a:latin typeface="Source Sans 3"/>
              </a:rPr>
              <a:t>System Configuration </a:t>
            </a:r>
            <a:r>
              <a:rPr lang="en-US" b="1" dirty="0">
                <a:solidFill>
                  <a:srgbClr val="273239"/>
                </a:solidFill>
                <a:latin typeface="Source Sans 3"/>
              </a:rPr>
              <a:t>M</a:t>
            </a:r>
            <a:r>
              <a:rPr lang="en-US" b="1" i="0" dirty="0">
                <a:solidFill>
                  <a:srgbClr val="273239"/>
                </a:solidFill>
                <a:effectLst/>
                <a:latin typeface="Source Sans 3"/>
              </a:rPr>
              <a:t>anagement</a:t>
            </a:r>
            <a:br>
              <a:rPr lang="en-US" b="1" i="0" dirty="0">
                <a:solidFill>
                  <a:srgbClr val="273239"/>
                </a:solidFill>
                <a:effectLst/>
                <a:latin typeface="Source Sans 3"/>
              </a:rPr>
            </a:br>
            <a:endParaRPr lang="en-US" dirty="0"/>
          </a:p>
        </p:txBody>
      </p:sp>
      <p:sp>
        <p:nvSpPr>
          <p:cNvPr id="3" name="Content Placeholder 2">
            <a:extLst>
              <a:ext uri="{FF2B5EF4-FFF2-40B4-BE49-F238E27FC236}">
                <a16:creationId xmlns:a16="http://schemas.microsoft.com/office/drawing/2014/main" id="{ECBA907B-5776-7B63-A8F5-B659BC010BF5}"/>
              </a:ext>
            </a:extLst>
          </p:cNvPr>
          <p:cNvSpPr>
            <a:spLocks noGrp="1"/>
          </p:cNvSpPr>
          <p:nvPr>
            <p:ph idx="1"/>
          </p:nvPr>
        </p:nvSpPr>
        <p:spPr>
          <a:xfrm>
            <a:off x="838200" y="1169234"/>
            <a:ext cx="10515600" cy="5007729"/>
          </a:xfrm>
        </p:spPr>
        <p:txBody>
          <a:bodyPr>
            <a:normAutofit fontScale="92500" lnSpcReduction="10000"/>
          </a:bodyPr>
          <a:lstStyle/>
          <a:p>
            <a:r>
              <a:rPr lang="en-US" b="0" i="0" dirty="0">
                <a:solidFill>
                  <a:srgbClr val="273239"/>
                </a:solidFill>
                <a:effectLst/>
                <a:latin typeface="Nunito" pitchFamily="2" charset="0"/>
              </a:rPr>
              <a:t>Whenever software is built, there is always scope for improvement and those improvements bring changes. </a:t>
            </a:r>
          </a:p>
          <a:p>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Changes may be required to modify or update any existing solution or to create a new solution for a problem. Requirements keep on changing daily so we need to keep on upgrading our systems based on the current requirements and needs to meet desired outputs. </a:t>
            </a:r>
          </a:p>
          <a:p>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Changes should be analyzed before they are made to the existing system, recorded before they are implemented, reported to have details of before and after, and controlled in a manner that will improve quality and reduce error. This is where the need for System Configuration Management comes. </a:t>
            </a:r>
          </a:p>
          <a:p>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2295574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79B5C-D973-6065-0671-5EB36C947CF6}"/>
              </a:ext>
            </a:extLst>
          </p:cNvPr>
          <p:cNvSpPr>
            <a:spLocks noGrp="1"/>
          </p:cNvSpPr>
          <p:nvPr>
            <p:ph type="title"/>
          </p:nvPr>
        </p:nvSpPr>
        <p:spPr/>
        <p:txBody>
          <a:bodyPr/>
          <a:lstStyle/>
          <a:p>
            <a:r>
              <a:rPr lang="en-US" b="1" i="0" dirty="0">
                <a:solidFill>
                  <a:srgbClr val="273239"/>
                </a:solidFill>
                <a:effectLst/>
                <a:latin typeface="Source Sans 3"/>
              </a:rPr>
              <a:t>System Configuration </a:t>
            </a:r>
            <a:r>
              <a:rPr lang="en-US" b="1" dirty="0">
                <a:solidFill>
                  <a:srgbClr val="273239"/>
                </a:solidFill>
                <a:latin typeface="Source Sans 3"/>
              </a:rPr>
              <a:t>M</a:t>
            </a:r>
            <a:r>
              <a:rPr lang="en-US" b="1" i="0" dirty="0">
                <a:solidFill>
                  <a:srgbClr val="273239"/>
                </a:solidFill>
                <a:effectLst/>
                <a:latin typeface="Source Sans 3"/>
              </a:rPr>
              <a:t>anagement</a:t>
            </a:r>
            <a:endParaRPr lang="en-US" dirty="0"/>
          </a:p>
        </p:txBody>
      </p:sp>
      <p:sp>
        <p:nvSpPr>
          <p:cNvPr id="3" name="Content Placeholder 2">
            <a:extLst>
              <a:ext uri="{FF2B5EF4-FFF2-40B4-BE49-F238E27FC236}">
                <a16:creationId xmlns:a16="http://schemas.microsoft.com/office/drawing/2014/main" id="{325822F1-66E4-DC73-BE44-B88FF06DE916}"/>
              </a:ext>
            </a:extLst>
          </p:cNvPr>
          <p:cNvSpPr>
            <a:spLocks noGrp="1"/>
          </p:cNvSpPr>
          <p:nvPr>
            <p:ph idx="1"/>
          </p:nvPr>
        </p:nvSpPr>
        <p:spPr/>
        <p:txBody>
          <a:bodyPr>
            <a:normAutofit fontScale="92500"/>
          </a:bodyPr>
          <a:lstStyle/>
          <a:p>
            <a:r>
              <a:rPr lang="en-US" b="1" i="0" dirty="0">
                <a:solidFill>
                  <a:srgbClr val="273239"/>
                </a:solidFill>
                <a:effectLst/>
                <a:latin typeface="Nunito" pitchFamily="2" charset="0"/>
              </a:rPr>
              <a:t>System Configuration Management (SCM)</a:t>
            </a:r>
            <a:r>
              <a:rPr lang="en-US" b="0" i="0" dirty="0">
                <a:solidFill>
                  <a:srgbClr val="273239"/>
                </a:solidFill>
                <a:effectLst/>
                <a:latin typeface="Nunito" pitchFamily="2" charset="0"/>
              </a:rPr>
              <a:t> is an arrangement of exercises that controls change by recognizing the items for change, setting up connections between those things, making/characterizing instruments for overseeing diverse variants, controlling the changes being executed in the current framework, inspecting and revealing/reporting on the changes made. </a:t>
            </a:r>
          </a:p>
          <a:p>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It is essential to control the changes because if the changes are not checked legitimately then they may wind up undermining a well-run programming. In this way, SCM is a fundamental piece of all project management activities.</a:t>
            </a:r>
            <a:endParaRPr lang="en-US" dirty="0"/>
          </a:p>
          <a:p>
            <a:endParaRPr lang="en-US" dirty="0"/>
          </a:p>
        </p:txBody>
      </p:sp>
    </p:spTree>
    <p:extLst>
      <p:ext uri="{BB962C8B-B14F-4D97-AF65-F5344CB8AC3E}">
        <p14:creationId xmlns:p14="http://schemas.microsoft.com/office/powerpoint/2010/main" val="2078675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5001B-B0C5-F825-7C15-FFEA757F8DEF}"/>
              </a:ext>
            </a:extLst>
          </p:cNvPr>
          <p:cNvSpPr>
            <a:spLocks noGrp="1"/>
          </p:cNvSpPr>
          <p:nvPr>
            <p:ph type="title"/>
          </p:nvPr>
        </p:nvSpPr>
        <p:spPr/>
        <p:txBody>
          <a:bodyPr/>
          <a:lstStyle/>
          <a:p>
            <a:r>
              <a:rPr lang="en-US" dirty="0"/>
              <a:t>Processes involved in SCM</a:t>
            </a:r>
          </a:p>
        </p:txBody>
      </p:sp>
      <p:sp>
        <p:nvSpPr>
          <p:cNvPr id="3" name="Content Placeholder 2">
            <a:extLst>
              <a:ext uri="{FF2B5EF4-FFF2-40B4-BE49-F238E27FC236}">
                <a16:creationId xmlns:a16="http://schemas.microsoft.com/office/drawing/2014/main" id="{5D0E9EF4-FF01-F5A9-BB5B-0499CD66BFD7}"/>
              </a:ext>
            </a:extLst>
          </p:cNvPr>
          <p:cNvSpPr>
            <a:spLocks noGrp="1"/>
          </p:cNvSpPr>
          <p:nvPr>
            <p:ph idx="1"/>
          </p:nvPr>
        </p:nvSpPr>
        <p:spPr/>
        <p:txBody>
          <a:bodyPr>
            <a:normAutofit lnSpcReduction="10000"/>
          </a:bodyPr>
          <a:lstStyle/>
          <a:p>
            <a:r>
              <a:rPr lang="en-US" dirty="0"/>
              <a:t>Identification and Establishment – Identifying the configuration items from products that compose baselines at given points in time (a baseline is a set of mutually consistent Configuration Items, which has been formally reviewed and agreed upon, and serves as the basis of further development).</a:t>
            </a:r>
          </a:p>
          <a:p>
            <a:endParaRPr lang="en-US" dirty="0"/>
          </a:p>
          <a:p>
            <a:r>
              <a:rPr lang="en-US" dirty="0"/>
              <a:t>Version control – Creating versions/specifications of the existing product to build new products with the help of the SCM system.</a:t>
            </a:r>
          </a:p>
          <a:p>
            <a:endParaRPr lang="en-US" dirty="0"/>
          </a:p>
          <a:p>
            <a:r>
              <a:rPr lang="en-US" dirty="0"/>
              <a:t>Change control – Controlling changes to Configuration items (CI).</a:t>
            </a:r>
          </a:p>
        </p:txBody>
      </p:sp>
    </p:spTree>
    <p:extLst>
      <p:ext uri="{BB962C8B-B14F-4D97-AF65-F5344CB8AC3E}">
        <p14:creationId xmlns:p14="http://schemas.microsoft.com/office/powerpoint/2010/main" val="2321751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32102-84DF-5A90-B4C2-406A749B0402}"/>
              </a:ext>
            </a:extLst>
          </p:cNvPr>
          <p:cNvSpPr>
            <a:spLocks noGrp="1"/>
          </p:cNvSpPr>
          <p:nvPr>
            <p:ph type="title"/>
          </p:nvPr>
        </p:nvSpPr>
        <p:spPr/>
        <p:txBody>
          <a:bodyPr/>
          <a:lstStyle/>
          <a:p>
            <a:r>
              <a:rPr lang="en-US" dirty="0"/>
              <a:t>Processes involved in SCM</a:t>
            </a:r>
          </a:p>
        </p:txBody>
      </p:sp>
      <p:sp>
        <p:nvSpPr>
          <p:cNvPr id="3" name="Content Placeholder 2">
            <a:extLst>
              <a:ext uri="{FF2B5EF4-FFF2-40B4-BE49-F238E27FC236}">
                <a16:creationId xmlns:a16="http://schemas.microsoft.com/office/drawing/2014/main" id="{8AF9BB92-48D6-5369-ABCC-D783ACBE1A48}"/>
              </a:ext>
            </a:extLst>
          </p:cNvPr>
          <p:cNvSpPr>
            <a:spLocks noGrp="1"/>
          </p:cNvSpPr>
          <p:nvPr>
            <p:ph idx="1"/>
          </p:nvPr>
        </p:nvSpPr>
        <p:spPr/>
        <p:txBody>
          <a:bodyPr/>
          <a:lstStyle/>
          <a:p>
            <a:r>
              <a:rPr lang="en-US" dirty="0"/>
              <a:t>Configuration auditing – A software configuration audit complements the formal technical review of the process and product. It focuses on the technical correctness of the configuration object that has been modified. </a:t>
            </a:r>
          </a:p>
          <a:p>
            <a:endParaRPr lang="en-US" dirty="0"/>
          </a:p>
          <a:p>
            <a:r>
              <a:rPr lang="en-US" dirty="0"/>
              <a:t>Reporting – Providing accurate status and current configuration data to developers, testers, end users, customers, and stakeholders through admin guides, user guides, FAQs, Release notes, Memos, Installation Guide, Configuration guides, etc.</a:t>
            </a:r>
          </a:p>
        </p:txBody>
      </p:sp>
    </p:spTree>
    <p:extLst>
      <p:ext uri="{BB962C8B-B14F-4D97-AF65-F5344CB8AC3E}">
        <p14:creationId xmlns:p14="http://schemas.microsoft.com/office/powerpoint/2010/main" val="3900437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2A7A6-3E16-AB44-E86D-C59A5698503C}"/>
              </a:ext>
            </a:extLst>
          </p:cNvPr>
          <p:cNvSpPr>
            <a:spLocks noGrp="1"/>
          </p:cNvSpPr>
          <p:nvPr>
            <p:ph type="title"/>
          </p:nvPr>
        </p:nvSpPr>
        <p:spPr/>
        <p:txBody>
          <a:bodyPr/>
          <a:lstStyle/>
          <a:p>
            <a:r>
              <a:rPr lang="en-US" b="1" dirty="0">
                <a:solidFill>
                  <a:srgbClr val="273239"/>
                </a:solidFill>
                <a:latin typeface="Nunito" pitchFamily="2" charset="0"/>
              </a:rPr>
              <a:t>A</a:t>
            </a:r>
            <a:r>
              <a:rPr lang="en-US" b="1" i="0" dirty="0">
                <a:solidFill>
                  <a:srgbClr val="273239"/>
                </a:solidFill>
                <a:effectLst/>
                <a:latin typeface="Nunito" pitchFamily="2" charset="0"/>
              </a:rPr>
              <a:t>dvantages of SCM</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44EF104A-26C2-4229-7D8C-592D1E772B69}"/>
              </a:ext>
            </a:extLst>
          </p:cNvPr>
          <p:cNvSpPr>
            <a:spLocks noGrp="1"/>
          </p:cNvSpPr>
          <p:nvPr>
            <p:ph idx="1"/>
          </p:nvPr>
        </p:nvSpPr>
        <p:spPr/>
        <p:txBody>
          <a:bodyPr>
            <a:normAutofit fontScale="92500"/>
          </a:bodyPr>
          <a:lstStyle/>
          <a:p>
            <a:pPr algn="l" fontAlgn="base">
              <a:spcAft>
                <a:spcPts val="1800"/>
              </a:spcAft>
              <a:buFont typeface="+mj-lt"/>
              <a:buAutoNum type="arabicPeriod"/>
            </a:pPr>
            <a:r>
              <a:rPr lang="en-US" b="0" i="0" dirty="0">
                <a:solidFill>
                  <a:srgbClr val="273239"/>
                </a:solidFill>
                <a:effectLst/>
                <a:latin typeface="Nunito" pitchFamily="2" charset="0"/>
              </a:rPr>
              <a:t>Improved productivity and efficiency by reducing the time and effort required to manage software changes.</a:t>
            </a:r>
          </a:p>
          <a:p>
            <a:pPr algn="l" fontAlgn="base">
              <a:spcAft>
                <a:spcPts val="1800"/>
              </a:spcAft>
              <a:buFont typeface="+mj-lt"/>
              <a:buAutoNum type="arabicPeriod" startAt="2"/>
            </a:pPr>
            <a:r>
              <a:rPr lang="en-US" b="0" i="0" dirty="0">
                <a:solidFill>
                  <a:srgbClr val="273239"/>
                </a:solidFill>
                <a:effectLst/>
                <a:latin typeface="Nunito" pitchFamily="2" charset="0"/>
              </a:rPr>
              <a:t>Reduced risk of errors and defects by ensuring that all changes were properly tested and validated.</a:t>
            </a:r>
          </a:p>
          <a:p>
            <a:pPr algn="l" fontAlgn="base">
              <a:spcAft>
                <a:spcPts val="1800"/>
              </a:spcAft>
              <a:buFont typeface="+mj-lt"/>
              <a:buAutoNum type="arabicPeriod" startAt="3"/>
            </a:pPr>
            <a:r>
              <a:rPr lang="en-US" b="0" i="0" dirty="0">
                <a:solidFill>
                  <a:srgbClr val="273239"/>
                </a:solidFill>
                <a:effectLst/>
                <a:latin typeface="Nunito" pitchFamily="2" charset="0"/>
              </a:rPr>
              <a:t>Increased collaboration and communication among team members by providing a central repository for software artifacts.</a:t>
            </a:r>
          </a:p>
          <a:p>
            <a:pPr algn="l" fontAlgn="base">
              <a:spcAft>
                <a:spcPts val="1800"/>
              </a:spcAft>
              <a:buFont typeface="+mj-lt"/>
              <a:buAutoNum type="arabicPeriod" startAt="4"/>
            </a:pPr>
            <a:r>
              <a:rPr lang="en-US" b="0" i="0" dirty="0">
                <a:solidFill>
                  <a:srgbClr val="273239"/>
                </a:solidFill>
                <a:effectLst/>
                <a:latin typeface="Nunito" pitchFamily="2" charset="0"/>
              </a:rPr>
              <a:t>Improved quality and stability of software systems by ensuring that all changes are properly controlled and managed.</a:t>
            </a:r>
          </a:p>
          <a:p>
            <a:endParaRPr lang="en-US" dirty="0"/>
          </a:p>
        </p:txBody>
      </p:sp>
    </p:spTree>
    <p:extLst>
      <p:ext uri="{BB962C8B-B14F-4D97-AF65-F5344CB8AC3E}">
        <p14:creationId xmlns:p14="http://schemas.microsoft.com/office/powerpoint/2010/main" val="1208615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1D91F-0F28-4528-B842-41624DCB88AB}"/>
              </a:ext>
            </a:extLst>
          </p:cNvPr>
          <p:cNvSpPr>
            <a:spLocks noGrp="1"/>
          </p:cNvSpPr>
          <p:nvPr>
            <p:ph type="title"/>
          </p:nvPr>
        </p:nvSpPr>
        <p:spPr/>
        <p:txBody>
          <a:bodyPr/>
          <a:lstStyle/>
          <a:p>
            <a:r>
              <a:rPr lang="en-US" b="1" dirty="0">
                <a:solidFill>
                  <a:srgbClr val="273239"/>
                </a:solidFill>
                <a:latin typeface="Nunito" pitchFamily="2" charset="0"/>
              </a:rPr>
              <a:t>D</a:t>
            </a:r>
            <a:r>
              <a:rPr lang="en-US" b="1" i="0" dirty="0">
                <a:solidFill>
                  <a:srgbClr val="273239"/>
                </a:solidFill>
                <a:effectLst/>
                <a:latin typeface="Nunito" pitchFamily="2" charset="0"/>
              </a:rPr>
              <a:t>isadvantages of SCM</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EDD77B16-7EE1-EC81-2919-3C15584D4EDB}"/>
              </a:ext>
            </a:extLst>
          </p:cNvPr>
          <p:cNvSpPr>
            <a:spLocks noGrp="1"/>
          </p:cNvSpPr>
          <p:nvPr>
            <p:ph idx="1"/>
          </p:nvPr>
        </p:nvSpPr>
        <p:spPr/>
        <p:txBody>
          <a:bodyPr/>
          <a:lstStyle/>
          <a:p>
            <a:pPr algn="l" fontAlgn="base">
              <a:spcAft>
                <a:spcPts val="1800"/>
              </a:spcAft>
              <a:buFont typeface="+mj-lt"/>
              <a:buAutoNum type="arabicPeriod"/>
            </a:pPr>
            <a:r>
              <a:rPr lang="en-US" b="0" i="0" dirty="0">
                <a:solidFill>
                  <a:srgbClr val="273239"/>
                </a:solidFill>
                <a:effectLst/>
                <a:latin typeface="Nunito" pitchFamily="2" charset="0"/>
              </a:rPr>
              <a:t>Increased complexity and overhead, particularly in large software systems.</a:t>
            </a:r>
          </a:p>
          <a:p>
            <a:pPr algn="l" fontAlgn="base">
              <a:spcAft>
                <a:spcPts val="1800"/>
              </a:spcAft>
              <a:buFont typeface="+mj-lt"/>
              <a:buAutoNum type="arabicPeriod" startAt="2"/>
            </a:pPr>
            <a:r>
              <a:rPr lang="en-US" b="0" i="0" dirty="0">
                <a:solidFill>
                  <a:srgbClr val="273239"/>
                </a:solidFill>
                <a:effectLst/>
                <a:latin typeface="Nunito" pitchFamily="2" charset="0"/>
              </a:rPr>
              <a:t>Difficulty in managing dependencies and ensuring that all changes are properly integrated.</a:t>
            </a:r>
          </a:p>
          <a:p>
            <a:pPr algn="l" fontAlgn="base">
              <a:spcAft>
                <a:spcPts val="1800"/>
              </a:spcAft>
              <a:buFont typeface="+mj-lt"/>
              <a:buAutoNum type="arabicPeriod" startAt="3"/>
            </a:pPr>
            <a:r>
              <a:rPr lang="en-US" b="0" i="0" dirty="0">
                <a:solidFill>
                  <a:srgbClr val="273239"/>
                </a:solidFill>
                <a:effectLst/>
                <a:latin typeface="Nunito" pitchFamily="2" charset="0"/>
              </a:rPr>
              <a:t>Potential for conflicts and delays, particularly in large development teams with multiple contributors.</a:t>
            </a:r>
          </a:p>
          <a:p>
            <a:endParaRPr lang="en-US" dirty="0"/>
          </a:p>
        </p:txBody>
      </p:sp>
    </p:spTree>
    <p:extLst>
      <p:ext uri="{BB962C8B-B14F-4D97-AF65-F5344CB8AC3E}">
        <p14:creationId xmlns:p14="http://schemas.microsoft.com/office/powerpoint/2010/main" val="253074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AAE54-236A-3EC4-2C07-C9B75FCC96F2}"/>
              </a:ext>
            </a:extLst>
          </p:cNvPr>
          <p:cNvSpPr>
            <a:spLocks noGrp="1"/>
          </p:cNvSpPr>
          <p:nvPr>
            <p:ph type="title"/>
          </p:nvPr>
        </p:nvSpPr>
        <p:spPr/>
        <p:txBody>
          <a:bodyPr/>
          <a:lstStyle/>
          <a:p>
            <a:r>
              <a:rPr lang="en-US" dirty="0"/>
              <a:t>Ansible</a:t>
            </a:r>
          </a:p>
        </p:txBody>
      </p:sp>
      <p:sp>
        <p:nvSpPr>
          <p:cNvPr id="3" name="Content Placeholder 2">
            <a:extLst>
              <a:ext uri="{FF2B5EF4-FFF2-40B4-BE49-F238E27FC236}">
                <a16:creationId xmlns:a16="http://schemas.microsoft.com/office/drawing/2014/main" id="{B7D4B470-0A58-4951-CB8D-035F15C5F00B}"/>
              </a:ext>
            </a:extLst>
          </p:cNvPr>
          <p:cNvSpPr>
            <a:spLocks noGrp="1"/>
          </p:cNvSpPr>
          <p:nvPr>
            <p:ph idx="1"/>
          </p:nvPr>
        </p:nvSpPr>
        <p:spPr/>
        <p:txBody>
          <a:bodyPr>
            <a:normAutofit lnSpcReduction="10000"/>
          </a:bodyPr>
          <a:lstStyle/>
          <a:p>
            <a:pPr algn="just" rtl="0" fontAlgn="base">
              <a:spcAft>
                <a:spcPts val="750"/>
              </a:spcAft>
            </a:pPr>
            <a:r>
              <a:rPr lang="en-US" b="0" i="0" dirty="0">
                <a:solidFill>
                  <a:srgbClr val="273239"/>
                </a:solidFill>
                <a:effectLst/>
                <a:latin typeface="Nunito" pitchFamily="2" charset="0"/>
              </a:rPr>
              <a:t>Ansible is an </a:t>
            </a:r>
            <a:r>
              <a:rPr lang="en-US" b="1" i="0" dirty="0">
                <a:solidFill>
                  <a:srgbClr val="273239"/>
                </a:solidFill>
                <a:effectLst/>
                <a:latin typeface="Nunito" pitchFamily="2" charset="0"/>
              </a:rPr>
              <a:t>open-source IT engine </a:t>
            </a:r>
            <a:r>
              <a:rPr lang="en-US" b="0" i="0" dirty="0">
                <a:solidFill>
                  <a:srgbClr val="273239"/>
                </a:solidFill>
                <a:effectLst/>
                <a:latin typeface="Nunito" pitchFamily="2" charset="0"/>
              </a:rPr>
              <a:t>that automates application deployment, cloud provisioning, intra-service orchestration, and other IT tools. It is an </a:t>
            </a:r>
            <a:r>
              <a:rPr lang="en-US" b="1" i="0" dirty="0">
                <a:solidFill>
                  <a:srgbClr val="273239"/>
                </a:solidFill>
                <a:effectLst/>
                <a:latin typeface="Nunito" pitchFamily="2" charset="0"/>
              </a:rPr>
              <a:t>automation and orchestration tool </a:t>
            </a:r>
            <a:r>
              <a:rPr lang="en-US" b="0" i="0" dirty="0">
                <a:solidFill>
                  <a:srgbClr val="273239"/>
                </a:solidFill>
                <a:effectLst/>
                <a:latin typeface="Nunito" pitchFamily="2" charset="0"/>
              </a:rPr>
              <a:t>popular for the following reasons: </a:t>
            </a:r>
          </a:p>
          <a:p>
            <a:pPr algn="l" fontAlgn="base">
              <a:spcAft>
                <a:spcPts val="1800"/>
              </a:spcAft>
              <a:buFont typeface="+mj-lt"/>
              <a:buAutoNum type="arabicPeriod"/>
            </a:pPr>
            <a:r>
              <a:rPr lang="en-US" b="0" i="0" dirty="0">
                <a:solidFill>
                  <a:srgbClr val="273239"/>
                </a:solidFill>
                <a:effectLst/>
                <a:latin typeface="Nunito" pitchFamily="2" charset="0"/>
              </a:rPr>
              <a:t>Simple to Install.</a:t>
            </a:r>
          </a:p>
          <a:p>
            <a:pPr algn="l" fontAlgn="base">
              <a:spcAft>
                <a:spcPts val="1800"/>
              </a:spcAft>
              <a:buFont typeface="+mj-lt"/>
              <a:buAutoNum type="arabicPeriod" startAt="2"/>
            </a:pPr>
            <a:r>
              <a:rPr lang="en-US" b="0" i="0" dirty="0">
                <a:solidFill>
                  <a:srgbClr val="273239"/>
                </a:solidFill>
                <a:effectLst/>
                <a:latin typeface="Nunito" pitchFamily="2" charset="0"/>
              </a:rPr>
              <a:t>Free and open source.</a:t>
            </a:r>
          </a:p>
          <a:p>
            <a:pPr algn="l" fontAlgn="base">
              <a:spcAft>
                <a:spcPts val="1800"/>
              </a:spcAft>
              <a:buFont typeface="+mj-lt"/>
              <a:buAutoNum type="arabicPeriod" startAt="3"/>
            </a:pPr>
            <a:r>
              <a:rPr lang="en-US" b="0" i="0" dirty="0">
                <a:solidFill>
                  <a:srgbClr val="273239"/>
                </a:solidFill>
                <a:effectLst/>
                <a:latin typeface="Nunito" pitchFamily="2" charset="0"/>
              </a:rPr>
              <a:t>Lightweight and consistent.</a:t>
            </a:r>
          </a:p>
          <a:p>
            <a:pPr algn="l" fontAlgn="base">
              <a:spcAft>
                <a:spcPts val="1800"/>
              </a:spcAft>
              <a:buFont typeface="+mj-lt"/>
              <a:buAutoNum type="arabicPeriod" startAt="4"/>
            </a:pPr>
            <a:r>
              <a:rPr lang="en-US" dirty="0">
                <a:solidFill>
                  <a:srgbClr val="273239"/>
                </a:solidFill>
                <a:latin typeface="Nunito" pitchFamily="2" charset="0"/>
              </a:rPr>
              <a:t> S</a:t>
            </a:r>
            <a:r>
              <a:rPr lang="en-US" b="0" i="0" dirty="0">
                <a:solidFill>
                  <a:srgbClr val="273239"/>
                </a:solidFill>
                <a:effectLst/>
                <a:latin typeface="Nunito" pitchFamily="2" charset="0"/>
              </a:rPr>
              <a:t>ecurity features make it very secure.</a:t>
            </a:r>
          </a:p>
          <a:p>
            <a:endParaRPr lang="en-US" dirty="0"/>
          </a:p>
        </p:txBody>
      </p:sp>
    </p:spTree>
    <p:extLst>
      <p:ext uri="{BB962C8B-B14F-4D97-AF65-F5344CB8AC3E}">
        <p14:creationId xmlns:p14="http://schemas.microsoft.com/office/powerpoint/2010/main" val="2368702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E626E-6E36-E90D-129F-AC170C827583}"/>
              </a:ext>
            </a:extLst>
          </p:cNvPr>
          <p:cNvSpPr>
            <a:spLocks noGrp="1"/>
          </p:cNvSpPr>
          <p:nvPr>
            <p:ph type="title"/>
          </p:nvPr>
        </p:nvSpPr>
        <p:spPr>
          <a:xfrm>
            <a:off x="838200" y="365125"/>
            <a:ext cx="10515600" cy="699177"/>
          </a:xfrm>
        </p:spPr>
        <p:txBody>
          <a:bodyPr/>
          <a:lstStyle/>
          <a:p>
            <a:r>
              <a:rPr lang="en-US" dirty="0"/>
              <a:t>Ansible</a:t>
            </a:r>
          </a:p>
        </p:txBody>
      </p:sp>
      <p:sp>
        <p:nvSpPr>
          <p:cNvPr id="3" name="Content Placeholder 2">
            <a:extLst>
              <a:ext uri="{FF2B5EF4-FFF2-40B4-BE49-F238E27FC236}">
                <a16:creationId xmlns:a16="http://schemas.microsoft.com/office/drawing/2014/main" id="{6FBC4322-5A0B-BFD3-0A6D-637D9BA4DD22}"/>
              </a:ext>
            </a:extLst>
          </p:cNvPr>
          <p:cNvSpPr>
            <a:spLocks noGrp="1"/>
          </p:cNvSpPr>
          <p:nvPr>
            <p:ph idx="1"/>
          </p:nvPr>
        </p:nvSpPr>
        <p:spPr>
          <a:xfrm>
            <a:off x="838200" y="1409075"/>
            <a:ext cx="10515600" cy="4767888"/>
          </a:xfrm>
        </p:spPr>
        <p:txBody>
          <a:bodyPr>
            <a:normAutofit fontScale="92500" lnSpcReduction="10000"/>
          </a:bodyPr>
          <a:lstStyle/>
          <a:p>
            <a:pPr algn="l" fontAlgn="base"/>
            <a:r>
              <a:rPr lang="en-US" b="1" i="0" dirty="0">
                <a:solidFill>
                  <a:srgbClr val="273239"/>
                </a:solidFill>
                <a:effectLst/>
                <a:latin typeface="Nunito" pitchFamily="2" charset="0"/>
              </a:rPr>
              <a:t>Ansible Architecture</a:t>
            </a:r>
          </a:p>
          <a:p>
            <a:pPr algn="l" fontAlgn="base"/>
            <a:endParaRPr lang="en-US" b="1" i="0" dirty="0">
              <a:solidFill>
                <a:srgbClr val="273239"/>
              </a:solidFill>
              <a:effectLst/>
              <a:latin typeface="Nunito" pitchFamily="2" charset="0"/>
            </a:endParaRPr>
          </a:p>
          <a:p>
            <a:pPr algn="l" fontAlgn="base">
              <a:spcAft>
                <a:spcPts val="1800"/>
              </a:spcAft>
              <a:buFont typeface="+mj-lt"/>
              <a:buAutoNum type="arabicPeriod"/>
            </a:pPr>
            <a:r>
              <a:rPr lang="en-US" b="1" i="0" dirty="0">
                <a:solidFill>
                  <a:srgbClr val="273239"/>
                </a:solidFill>
                <a:effectLst/>
                <a:latin typeface="Nunito" pitchFamily="2" charset="0"/>
              </a:rPr>
              <a:t>Control node:</a:t>
            </a:r>
            <a:r>
              <a:rPr lang="en-US" b="0" i="0" dirty="0">
                <a:solidFill>
                  <a:srgbClr val="273239"/>
                </a:solidFill>
                <a:effectLst/>
                <a:latin typeface="Nunito" pitchFamily="2" charset="0"/>
              </a:rPr>
              <a:t> Commands and list of tasks(playbook) can run by invoking from any control node. You can use any computer that has </a:t>
            </a:r>
            <a:r>
              <a:rPr lang="en-US" b="0" i="0" u="sng" dirty="0">
                <a:solidFill>
                  <a:srgbClr val="273239"/>
                </a:solidFill>
                <a:effectLst/>
                <a:latin typeface="Nunito" pitchFamily="2" charset="0"/>
              </a:rPr>
              <a:t>Python</a:t>
            </a:r>
            <a:r>
              <a:rPr lang="en-US" b="0" i="0" dirty="0">
                <a:solidFill>
                  <a:srgbClr val="273239"/>
                </a:solidFill>
                <a:effectLst/>
                <a:latin typeface="Nunito" pitchFamily="2" charset="0"/>
              </a:rPr>
              <a:t> installed on it as a control node. </a:t>
            </a:r>
          </a:p>
          <a:p>
            <a:pPr algn="l" fontAlgn="base">
              <a:spcAft>
                <a:spcPts val="1800"/>
              </a:spcAft>
              <a:buFont typeface="+mj-lt"/>
              <a:buAutoNum type="arabicPeriod"/>
            </a:pPr>
            <a:r>
              <a:rPr lang="en-US" b="1" i="0" dirty="0">
                <a:solidFill>
                  <a:srgbClr val="273239"/>
                </a:solidFill>
                <a:effectLst/>
                <a:latin typeface="Nunito" pitchFamily="2" charset="0"/>
              </a:rPr>
              <a:t>Managed nodes:</a:t>
            </a:r>
            <a:r>
              <a:rPr lang="en-US" b="0" i="0" dirty="0">
                <a:solidFill>
                  <a:srgbClr val="273239"/>
                </a:solidFill>
                <a:effectLst/>
                <a:latin typeface="Nunito" pitchFamily="2" charset="0"/>
              </a:rPr>
              <a:t> Also sometimes called “hosts”, Managed nodes are the network devices you manage with Ansible.</a:t>
            </a:r>
          </a:p>
          <a:p>
            <a:pPr algn="l" fontAlgn="base">
              <a:spcAft>
                <a:spcPts val="1800"/>
              </a:spcAft>
              <a:buFont typeface="+mj-lt"/>
              <a:buAutoNum type="arabicPeriod" startAt="3"/>
            </a:pPr>
            <a:r>
              <a:rPr lang="en-US" b="1" i="0" dirty="0">
                <a:solidFill>
                  <a:srgbClr val="273239"/>
                </a:solidFill>
                <a:effectLst/>
                <a:latin typeface="Nunito" pitchFamily="2" charset="0"/>
              </a:rPr>
              <a:t>Inventory:</a:t>
            </a:r>
            <a:r>
              <a:rPr lang="en-US" b="0" i="0" dirty="0">
                <a:solidFill>
                  <a:srgbClr val="273239"/>
                </a:solidFill>
                <a:effectLst/>
                <a:latin typeface="Nunito" pitchFamily="2" charset="0"/>
              </a:rPr>
              <a:t> Also sometimes called “</a:t>
            </a:r>
            <a:r>
              <a:rPr lang="en-US" b="0" i="0" dirty="0" err="1">
                <a:solidFill>
                  <a:srgbClr val="273239"/>
                </a:solidFill>
                <a:effectLst/>
                <a:latin typeface="Nunito" pitchFamily="2" charset="0"/>
              </a:rPr>
              <a:t>hostfile</a:t>
            </a:r>
            <a:r>
              <a:rPr lang="en-US" b="0" i="0" dirty="0">
                <a:solidFill>
                  <a:srgbClr val="273239"/>
                </a:solidFill>
                <a:effectLst/>
                <a:latin typeface="Nunito" pitchFamily="2" charset="0"/>
              </a:rPr>
              <a:t>”, Inventory is the list of Managed nodes use to organize them. It is also used for creating and nesting groups for easier scaling.</a:t>
            </a:r>
          </a:p>
          <a:p>
            <a:endParaRPr lang="en-US" dirty="0"/>
          </a:p>
        </p:txBody>
      </p:sp>
    </p:spTree>
    <p:extLst>
      <p:ext uri="{BB962C8B-B14F-4D97-AF65-F5344CB8AC3E}">
        <p14:creationId xmlns:p14="http://schemas.microsoft.com/office/powerpoint/2010/main" val="803803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8C79A-8701-8FD9-D739-AB1730690E10}"/>
              </a:ext>
            </a:extLst>
          </p:cNvPr>
          <p:cNvSpPr>
            <a:spLocks noGrp="1"/>
          </p:cNvSpPr>
          <p:nvPr>
            <p:ph type="title"/>
          </p:nvPr>
        </p:nvSpPr>
        <p:spPr/>
        <p:txBody>
          <a:bodyPr/>
          <a:lstStyle/>
          <a:p>
            <a:r>
              <a:rPr lang="en-US" dirty="0"/>
              <a:t>Ansible</a:t>
            </a:r>
          </a:p>
        </p:txBody>
      </p:sp>
      <p:sp>
        <p:nvSpPr>
          <p:cNvPr id="3" name="Content Placeholder 2">
            <a:extLst>
              <a:ext uri="{FF2B5EF4-FFF2-40B4-BE49-F238E27FC236}">
                <a16:creationId xmlns:a16="http://schemas.microsoft.com/office/drawing/2014/main" id="{065367EE-EB4A-5255-19C7-D112963446F2}"/>
              </a:ext>
            </a:extLst>
          </p:cNvPr>
          <p:cNvSpPr>
            <a:spLocks noGrp="1"/>
          </p:cNvSpPr>
          <p:nvPr>
            <p:ph idx="1"/>
          </p:nvPr>
        </p:nvSpPr>
        <p:spPr/>
        <p:txBody>
          <a:bodyPr>
            <a:normAutofit/>
          </a:bodyPr>
          <a:lstStyle/>
          <a:p>
            <a:pPr marL="0" indent="0" fontAlgn="base">
              <a:spcAft>
                <a:spcPts val="1800"/>
              </a:spcAft>
              <a:buNone/>
            </a:pPr>
            <a:r>
              <a:rPr lang="en-US" b="1" i="0" dirty="0">
                <a:solidFill>
                  <a:srgbClr val="273239"/>
                </a:solidFill>
                <a:effectLst/>
                <a:latin typeface="Nunito" pitchFamily="2" charset="0"/>
              </a:rPr>
              <a:t>Ansible Architecture</a:t>
            </a:r>
          </a:p>
          <a:p>
            <a:pPr algn="l" fontAlgn="base">
              <a:spcAft>
                <a:spcPts val="1800"/>
              </a:spcAft>
              <a:buFont typeface="+mj-lt"/>
              <a:buAutoNum type="arabicPeriod" startAt="4"/>
            </a:pPr>
            <a:r>
              <a:rPr lang="en-US" b="1" i="0" dirty="0">
                <a:solidFill>
                  <a:srgbClr val="273239"/>
                </a:solidFill>
                <a:effectLst/>
                <a:latin typeface="Nunito" pitchFamily="2" charset="0"/>
              </a:rPr>
              <a:t>Modules:</a:t>
            </a:r>
            <a:r>
              <a:rPr lang="en-US" b="0" i="0" dirty="0">
                <a:solidFill>
                  <a:srgbClr val="273239"/>
                </a:solidFill>
                <a:effectLst/>
                <a:latin typeface="Nunito" pitchFamily="2" charset="0"/>
              </a:rPr>
              <a:t> These are the units of code executed by Ansible. Each module can be used for a specific purpose. One can invoke a single module with a task, or invoke several different modules in a playbook.</a:t>
            </a:r>
          </a:p>
          <a:p>
            <a:pPr algn="l" fontAlgn="base">
              <a:spcAft>
                <a:spcPts val="1800"/>
              </a:spcAft>
              <a:buFont typeface="+mj-lt"/>
              <a:buAutoNum type="arabicPeriod" startAt="5"/>
            </a:pPr>
            <a:r>
              <a:rPr lang="en-US" b="1" i="0" dirty="0">
                <a:solidFill>
                  <a:srgbClr val="273239"/>
                </a:solidFill>
                <a:effectLst/>
                <a:latin typeface="Nunito" pitchFamily="2" charset="0"/>
              </a:rPr>
              <a:t>Tasks:</a:t>
            </a:r>
            <a:r>
              <a:rPr lang="en-US" b="0" i="0" dirty="0">
                <a:solidFill>
                  <a:srgbClr val="273239"/>
                </a:solidFill>
                <a:effectLst/>
                <a:latin typeface="Nunito" pitchFamily="2" charset="0"/>
              </a:rPr>
              <a:t> The units of action in Ansible. One can execute a single task once with an ad-hoc command.</a:t>
            </a:r>
          </a:p>
          <a:p>
            <a:endParaRPr lang="en-US" dirty="0"/>
          </a:p>
        </p:txBody>
      </p:sp>
    </p:spTree>
    <p:extLst>
      <p:ext uri="{BB962C8B-B14F-4D97-AF65-F5344CB8AC3E}">
        <p14:creationId xmlns:p14="http://schemas.microsoft.com/office/powerpoint/2010/main" val="1842909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12187-B223-3D73-7DC5-0C6AE8DB2B02}"/>
              </a:ext>
            </a:extLst>
          </p:cNvPr>
          <p:cNvSpPr>
            <a:spLocks noGrp="1"/>
          </p:cNvSpPr>
          <p:nvPr>
            <p:ph type="title"/>
          </p:nvPr>
        </p:nvSpPr>
        <p:spPr/>
        <p:txBody>
          <a:bodyPr/>
          <a:lstStyle/>
          <a:p>
            <a:r>
              <a:rPr lang="en-US" dirty="0"/>
              <a:t>Ansible</a:t>
            </a:r>
          </a:p>
        </p:txBody>
      </p:sp>
      <p:pic>
        <p:nvPicPr>
          <p:cNvPr id="5" name="Content Placeholder 4" descr="A diagram of a user">
            <a:extLst>
              <a:ext uri="{FF2B5EF4-FFF2-40B4-BE49-F238E27FC236}">
                <a16:creationId xmlns:a16="http://schemas.microsoft.com/office/drawing/2014/main" id="{C6453380-41B9-81F9-B1F9-9058A86B3B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9017" y="2194041"/>
            <a:ext cx="8649324" cy="3936935"/>
          </a:xfrm>
        </p:spPr>
      </p:pic>
      <p:sp>
        <p:nvSpPr>
          <p:cNvPr id="7" name="TextBox 6">
            <a:extLst>
              <a:ext uri="{FF2B5EF4-FFF2-40B4-BE49-F238E27FC236}">
                <a16:creationId xmlns:a16="http://schemas.microsoft.com/office/drawing/2014/main" id="{C59C7835-803C-4BDB-6DF8-11C75B6E8AC3}"/>
              </a:ext>
            </a:extLst>
          </p:cNvPr>
          <p:cNvSpPr txBox="1"/>
          <p:nvPr/>
        </p:nvSpPr>
        <p:spPr>
          <a:xfrm>
            <a:off x="4710659" y="5946310"/>
            <a:ext cx="2499610" cy="369332"/>
          </a:xfrm>
          <a:prstGeom prst="rect">
            <a:avLst/>
          </a:prstGeom>
          <a:noFill/>
        </p:spPr>
        <p:txBody>
          <a:bodyPr wrap="square">
            <a:spAutoFit/>
          </a:bodyPr>
          <a:lstStyle/>
          <a:p>
            <a:pPr marL="0" indent="0" fontAlgn="base">
              <a:spcAft>
                <a:spcPts val="1800"/>
              </a:spcAft>
              <a:buNone/>
            </a:pPr>
            <a:r>
              <a:rPr lang="en-US" b="1" i="0" dirty="0">
                <a:solidFill>
                  <a:srgbClr val="273239"/>
                </a:solidFill>
                <a:effectLst/>
                <a:latin typeface="Nunito" pitchFamily="2" charset="0"/>
              </a:rPr>
              <a:t>Ansible Architecture</a:t>
            </a:r>
          </a:p>
        </p:txBody>
      </p:sp>
    </p:spTree>
    <p:extLst>
      <p:ext uri="{BB962C8B-B14F-4D97-AF65-F5344CB8AC3E}">
        <p14:creationId xmlns:p14="http://schemas.microsoft.com/office/powerpoint/2010/main" val="3139883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FCB61-2EC3-650B-367B-5C3C8FC8EC63}"/>
              </a:ext>
            </a:extLst>
          </p:cNvPr>
          <p:cNvSpPr>
            <a:spLocks noGrp="1"/>
          </p:cNvSpPr>
          <p:nvPr>
            <p:ph type="title"/>
          </p:nvPr>
        </p:nvSpPr>
        <p:spPr>
          <a:xfrm>
            <a:off x="838200" y="574988"/>
            <a:ext cx="10515600" cy="849078"/>
          </a:xfrm>
        </p:spPr>
        <p:txBody>
          <a:bodyPr>
            <a:normAutofit fontScale="90000"/>
          </a:bodyPr>
          <a:lstStyle/>
          <a:p>
            <a:r>
              <a:rPr lang="en-US" b="1" i="0" dirty="0">
                <a:solidFill>
                  <a:srgbClr val="273239"/>
                </a:solidFill>
                <a:effectLst/>
                <a:latin typeface="Nunito" pitchFamily="2" charset="0"/>
              </a:rPr>
              <a:t>Ansible Playbook</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ED76FC54-B7D7-DBCE-250A-7CD1F9FC9F97}"/>
              </a:ext>
            </a:extLst>
          </p:cNvPr>
          <p:cNvSpPr>
            <a:spLocks noGrp="1"/>
          </p:cNvSpPr>
          <p:nvPr>
            <p:ph idx="1"/>
          </p:nvPr>
        </p:nvSpPr>
        <p:spPr/>
        <p:txBody>
          <a:bodyPr>
            <a:normAutofit fontScale="92500" lnSpcReduction="10000"/>
          </a:bodyPr>
          <a:lstStyle/>
          <a:p>
            <a:r>
              <a:rPr lang="en-US" b="0" i="0" dirty="0">
                <a:solidFill>
                  <a:srgbClr val="273239"/>
                </a:solidFill>
                <a:effectLst/>
                <a:latin typeface="Nunito" pitchFamily="2" charset="0"/>
              </a:rPr>
              <a:t>These are the ordered list of tasks that are saved so you can run those tasks in that order repeatedly. Playbooks are written in Yet Another Markup Language(YAML) and are easy to read, write, share and understand. Ansible playbooks can perform wide variety of tasks such as: </a:t>
            </a:r>
          </a:p>
          <a:p>
            <a:endParaRPr lang="en-US" b="0" i="0" dirty="0">
              <a:solidFill>
                <a:srgbClr val="273239"/>
              </a:solidFill>
              <a:effectLst/>
              <a:latin typeface="Nunito" pitchFamily="2" charset="0"/>
            </a:endParaRPr>
          </a:p>
          <a:p>
            <a:pPr algn="l" fontAlgn="base">
              <a:spcAft>
                <a:spcPts val="1800"/>
              </a:spcAft>
              <a:buFont typeface="+mj-lt"/>
              <a:buAutoNum type="arabicPeriod"/>
            </a:pPr>
            <a:r>
              <a:rPr lang="en-US" b="0" i="0" dirty="0">
                <a:solidFill>
                  <a:srgbClr val="273239"/>
                </a:solidFill>
                <a:effectLst/>
                <a:latin typeface="Nunito" pitchFamily="2" charset="0"/>
              </a:rPr>
              <a:t>Deploying and configuring applications</a:t>
            </a:r>
          </a:p>
          <a:p>
            <a:pPr algn="l" fontAlgn="base">
              <a:spcAft>
                <a:spcPts val="1800"/>
              </a:spcAft>
              <a:buFont typeface="+mj-lt"/>
              <a:buAutoNum type="arabicPeriod" startAt="2"/>
            </a:pPr>
            <a:r>
              <a:rPr lang="en-US" b="0" i="0" dirty="0">
                <a:solidFill>
                  <a:srgbClr val="273239"/>
                </a:solidFill>
                <a:effectLst/>
                <a:latin typeface="Nunito" pitchFamily="2" charset="0"/>
              </a:rPr>
              <a:t>Managing system configurations</a:t>
            </a:r>
          </a:p>
          <a:p>
            <a:pPr algn="l" fontAlgn="base">
              <a:spcAft>
                <a:spcPts val="1800"/>
              </a:spcAft>
              <a:buFont typeface="+mj-lt"/>
              <a:buAutoNum type="arabicPeriod" startAt="3"/>
            </a:pPr>
            <a:r>
              <a:rPr lang="en-US" b="0" i="0" dirty="0">
                <a:solidFill>
                  <a:srgbClr val="273239"/>
                </a:solidFill>
                <a:effectLst/>
                <a:latin typeface="Nunito" pitchFamily="2" charset="0"/>
              </a:rPr>
              <a:t>Orchestrating complex workflows</a:t>
            </a:r>
          </a:p>
          <a:p>
            <a:endParaRPr lang="en-US" dirty="0"/>
          </a:p>
        </p:txBody>
      </p:sp>
    </p:spTree>
    <p:extLst>
      <p:ext uri="{BB962C8B-B14F-4D97-AF65-F5344CB8AC3E}">
        <p14:creationId xmlns:p14="http://schemas.microsoft.com/office/powerpoint/2010/main" val="3737335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1E1B5-22B9-7092-3710-D424ECF984C5}"/>
              </a:ext>
            </a:extLst>
          </p:cNvPr>
          <p:cNvSpPr>
            <a:spLocks noGrp="1"/>
          </p:cNvSpPr>
          <p:nvPr>
            <p:ph type="title"/>
          </p:nvPr>
        </p:nvSpPr>
        <p:spPr/>
        <p:txBody>
          <a:bodyPr/>
          <a:lstStyle/>
          <a:p>
            <a:r>
              <a:rPr lang="en-US" b="1" i="0" dirty="0">
                <a:solidFill>
                  <a:srgbClr val="273239"/>
                </a:solidFill>
                <a:effectLst/>
                <a:latin typeface="Nunito" pitchFamily="2" charset="0"/>
              </a:rPr>
              <a:t>Ansible Playbook</a:t>
            </a:r>
            <a:endParaRPr lang="en-US" dirty="0"/>
          </a:p>
        </p:txBody>
      </p:sp>
      <p:pic>
        <p:nvPicPr>
          <p:cNvPr id="5" name="Content Placeholder 4" descr="A screenshot of a computer">
            <a:extLst>
              <a:ext uri="{FF2B5EF4-FFF2-40B4-BE49-F238E27FC236}">
                <a16:creationId xmlns:a16="http://schemas.microsoft.com/office/drawing/2014/main" id="{283E6DD4-3D91-D3CA-C003-4852121E06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8741" y="2129085"/>
            <a:ext cx="6835515" cy="3057512"/>
          </a:xfrm>
        </p:spPr>
      </p:pic>
      <p:sp>
        <p:nvSpPr>
          <p:cNvPr id="6" name="TextBox 5">
            <a:extLst>
              <a:ext uri="{FF2B5EF4-FFF2-40B4-BE49-F238E27FC236}">
                <a16:creationId xmlns:a16="http://schemas.microsoft.com/office/drawing/2014/main" id="{6D1DFF8C-DBB1-DF9E-4BFC-64DE9A1A28F6}"/>
              </a:ext>
            </a:extLst>
          </p:cNvPr>
          <p:cNvSpPr txBox="1"/>
          <p:nvPr/>
        </p:nvSpPr>
        <p:spPr>
          <a:xfrm>
            <a:off x="3750230" y="5197840"/>
            <a:ext cx="3113609" cy="369332"/>
          </a:xfrm>
          <a:prstGeom prst="rect">
            <a:avLst/>
          </a:prstGeom>
          <a:noFill/>
        </p:spPr>
        <p:txBody>
          <a:bodyPr wrap="none" rtlCol="0">
            <a:spAutoFit/>
          </a:bodyPr>
          <a:lstStyle/>
          <a:p>
            <a:r>
              <a:rPr lang="en-US" dirty="0"/>
              <a:t>YAML File Example : Playbook</a:t>
            </a:r>
          </a:p>
        </p:txBody>
      </p:sp>
    </p:spTree>
    <p:extLst>
      <p:ext uri="{BB962C8B-B14F-4D97-AF65-F5344CB8AC3E}">
        <p14:creationId xmlns:p14="http://schemas.microsoft.com/office/powerpoint/2010/main" val="1699968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47BC0-1C1C-EFEF-A5E8-8AECFC25F960}"/>
              </a:ext>
            </a:extLst>
          </p:cNvPr>
          <p:cNvSpPr>
            <a:spLocks noGrp="1"/>
          </p:cNvSpPr>
          <p:nvPr>
            <p:ph type="title"/>
          </p:nvPr>
        </p:nvSpPr>
        <p:spPr/>
        <p:txBody>
          <a:bodyPr/>
          <a:lstStyle/>
          <a:p>
            <a:r>
              <a:rPr lang="en-US" b="1" i="0" dirty="0">
                <a:solidFill>
                  <a:srgbClr val="273239"/>
                </a:solidFill>
                <a:effectLst/>
                <a:latin typeface="Nunito" pitchFamily="2" charset="0"/>
              </a:rPr>
              <a:t>Ansible Tower</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C24C5004-7EDF-F917-6046-AA2DDDEA2D4B}"/>
              </a:ext>
            </a:extLst>
          </p:cNvPr>
          <p:cNvSpPr>
            <a:spLocks noGrp="1"/>
          </p:cNvSpPr>
          <p:nvPr>
            <p:ph idx="1"/>
          </p:nvPr>
        </p:nvSpPr>
        <p:spPr/>
        <p:txBody>
          <a:bodyPr>
            <a:normAutofit fontScale="77500" lnSpcReduction="20000"/>
          </a:bodyPr>
          <a:lstStyle/>
          <a:p>
            <a:pPr algn="just" rtl="0" fontAlgn="base">
              <a:spcAft>
                <a:spcPts val="750"/>
              </a:spcAft>
            </a:pPr>
            <a:r>
              <a:rPr lang="en-US" b="0" i="0" dirty="0">
                <a:solidFill>
                  <a:srgbClr val="273239"/>
                </a:solidFill>
                <a:effectLst/>
                <a:latin typeface="Nunito" pitchFamily="2" charset="0"/>
              </a:rPr>
              <a:t>Ansible tower provides web-based user interface to manage the playbooks which are used for configuring the software. Ansible tower will acts as an medium to manage and execute the task like playbooks and adding the new host to the ansible. following are some features available in the ansible tower.</a:t>
            </a:r>
          </a:p>
          <a:p>
            <a:pPr algn="just" rtl="0" fontAlgn="base">
              <a:spcAft>
                <a:spcPts val="750"/>
              </a:spcAft>
            </a:pPr>
            <a:endParaRPr lang="en-US" b="0" i="0" dirty="0">
              <a:solidFill>
                <a:srgbClr val="273239"/>
              </a:solidFill>
              <a:effectLst/>
              <a:latin typeface="Nunito" pitchFamily="2" charset="0"/>
            </a:endParaRPr>
          </a:p>
          <a:p>
            <a:pPr algn="l" fontAlgn="base">
              <a:spcAft>
                <a:spcPts val="1800"/>
              </a:spcAft>
              <a:buFont typeface="+mj-lt"/>
              <a:buAutoNum type="arabicPeriod"/>
            </a:pPr>
            <a:r>
              <a:rPr lang="en-US" b="1" i="0" dirty="0">
                <a:solidFill>
                  <a:srgbClr val="273239"/>
                </a:solidFill>
                <a:effectLst/>
                <a:latin typeface="Nunito" pitchFamily="2" charset="0"/>
              </a:rPr>
              <a:t>Security: </a:t>
            </a:r>
            <a:r>
              <a:rPr lang="en-US" b="0" i="0" dirty="0">
                <a:solidFill>
                  <a:srgbClr val="273239"/>
                </a:solidFill>
                <a:effectLst/>
                <a:latin typeface="Nunito" pitchFamily="2" charset="0"/>
              </a:rPr>
              <a:t>Ansible tower provides the Role-based access control (RBAC) which can be used to manage the access of users and can assign permissions to the playbooks and other resources. </a:t>
            </a:r>
          </a:p>
          <a:p>
            <a:pPr algn="l" fontAlgn="base">
              <a:spcAft>
                <a:spcPts val="1800"/>
              </a:spcAft>
              <a:buFont typeface="+mj-lt"/>
              <a:buAutoNum type="arabicPeriod"/>
            </a:pPr>
            <a:r>
              <a:rPr lang="en-US" b="1" i="0" dirty="0">
                <a:solidFill>
                  <a:srgbClr val="273239"/>
                </a:solidFill>
                <a:effectLst/>
                <a:latin typeface="Nunito" pitchFamily="2" charset="0"/>
              </a:rPr>
              <a:t>Job scheduling: </a:t>
            </a:r>
            <a:r>
              <a:rPr lang="en-US" b="0" i="0" dirty="0">
                <a:solidFill>
                  <a:srgbClr val="273239"/>
                </a:solidFill>
                <a:effectLst/>
                <a:latin typeface="Nunito" pitchFamily="2" charset="0"/>
              </a:rPr>
              <a:t>Ansible tower provide the option for scheduling the jobs to execute which will execute automatically in the interval’s of time. This can help to automate tasks such as daily backups or weekly system updates.</a:t>
            </a:r>
          </a:p>
          <a:p>
            <a:endParaRPr lang="en-US" dirty="0"/>
          </a:p>
        </p:txBody>
      </p:sp>
    </p:spTree>
    <p:extLst>
      <p:ext uri="{BB962C8B-B14F-4D97-AF65-F5344CB8AC3E}">
        <p14:creationId xmlns:p14="http://schemas.microsoft.com/office/powerpoint/2010/main" val="3508068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BBD41-0424-D6A2-2847-5D494167174C}"/>
              </a:ext>
            </a:extLst>
          </p:cNvPr>
          <p:cNvSpPr>
            <a:spLocks noGrp="1"/>
          </p:cNvSpPr>
          <p:nvPr>
            <p:ph type="title"/>
          </p:nvPr>
        </p:nvSpPr>
        <p:spPr/>
        <p:txBody>
          <a:bodyPr/>
          <a:lstStyle/>
          <a:p>
            <a:r>
              <a:rPr lang="en-US" b="1" i="0" dirty="0">
                <a:solidFill>
                  <a:srgbClr val="273239"/>
                </a:solidFill>
                <a:effectLst/>
                <a:latin typeface="Nunito" pitchFamily="2" charset="0"/>
              </a:rPr>
              <a:t>Ansible Modules</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378BBBF5-D3E3-6A34-2EAC-15DE7F353642}"/>
              </a:ext>
            </a:extLst>
          </p:cNvPr>
          <p:cNvSpPr>
            <a:spLocks noGrp="1"/>
          </p:cNvSpPr>
          <p:nvPr>
            <p:ph idx="1"/>
          </p:nvPr>
        </p:nvSpPr>
        <p:spPr/>
        <p:txBody>
          <a:bodyPr>
            <a:normAutofit fontScale="92500" lnSpcReduction="10000"/>
          </a:bodyPr>
          <a:lstStyle/>
          <a:p>
            <a:pPr algn="just" rtl="0" fontAlgn="base">
              <a:spcAft>
                <a:spcPts val="750"/>
              </a:spcAft>
            </a:pPr>
            <a:r>
              <a:rPr lang="en-US" b="0" i="0" dirty="0">
                <a:solidFill>
                  <a:srgbClr val="273239"/>
                </a:solidFill>
                <a:effectLst/>
                <a:latin typeface="Nunito" pitchFamily="2" charset="0"/>
              </a:rPr>
              <a:t>Ansible modules are scripts which can be reused and performs the tasks which are mentioned in the host servers on behalf of you. Instead of performing the installation of software manually on each server ansible will automate the process.</a:t>
            </a:r>
          </a:p>
          <a:p>
            <a:pPr algn="just" rtl="0" fontAlgn="base">
              <a:spcAft>
                <a:spcPts val="750"/>
              </a:spcAft>
            </a:pPr>
            <a:r>
              <a:rPr lang="en-US" b="0" i="0" dirty="0">
                <a:solidFill>
                  <a:srgbClr val="273239"/>
                </a:solidFill>
                <a:effectLst/>
                <a:latin typeface="Nunito" pitchFamily="2" charset="0"/>
              </a:rPr>
              <a:t>The tasks which you want to perform can be done on multiple OS also as mentioned following.</a:t>
            </a:r>
          </a:p>
          <a:p>
            <a:pPr algn="l" fontAlgn="base">
              <a:spcAft>
                <a:spcPts val="1800"/>
              </a:spcAft>
              <a:buFont typeface="+mj-lt"/>
              <a:buAutoNum type="arabicPeriod"/>
            </a:pPr>
            <a:r>
              <a:rPr lang="en-US" b="0" i="0" dirty="0">
                <a:solidFill>
                  <a:srgbClr val="273239"/>
                </a:solidFill>
                <a:effectLst/>
                <a:latin typeface="Nunito" pitchFamily="2" charset="0"/>
              </a:rPr>
              <a:t>Linux</a:t>
            </a:r>
          </a:p>
          <a:p>
            <a:pPr algn="l" fontAlgn="base">
              <a:spcAft>
                <a:spcPts val="1800"/>
              </a:spcAft>
              <a:buFont typeface="+mj-lt"/>
              <a:buAutoNum type="arabicPeriod" startAt="2"/>
            </a:pPr>
            <a:r>
              <a:rPr lang="en-US" b="0" i="0" dirty="0">
                <a:solidFill>
                  <a:srgbClr val="273239"/>
                </a:solidFill>
                <a:effectLst/>
                <a:latin typeface="Nunito" pitchFamily="2" charset="0"/>
              </a:rPr>
              <a:t>Windows</a:t>
            </a:r>
          </a:p>
          <a:p>
            <a:pPr algn="l" fontAlgn="base">
              <a:spcAft>
                <a:spcPts val="1800"/>
              </a:spcAft>
              <a:buFont typeface="+mj-lt"/>
              <a:buAutoNum type="arabicPeriod" startAt="3"/>
            </a:pPr>
            <a:r>
              <a:rPr lang="en-US" b="0" i="0" dirty="0">
                <a:solidFill>
                  <a:srgbClr val="273239"/>
                </a:solidFill>
                <a:effectLst/>
                <a:latin typeface="Nunito" pitchFamily="2" charset="0"/>
              </a:rPr>
              <a:t>macOS</a:t>
            </a:r>
          </a:p>
          <a:p>
            <a:pPr algn="just" rtl="0" fontAlgn="base">
              <a:spcAft>
                <a:spcPts val="750"/>
              </a:spcAft>
            </a:pPr>
            <a:endParaRPr lang="en-US" b="0" i="0" dirty="0">
              <a:solidFill>
                <a:srgbClr val="273239"/>
              </a:solidFill>
              <a:effectLst/>
              <a:latin typeface="Nunito" pitchFamily="2" charset="0"/>
            </a:endParaRPr>
          </a:p>
          <a:p>
            <a:endParaRPr lang="en-US" dirty="0"/>
          </a:p>
        </p:txBody>
      </p:sp>
    </p:spTree>
    <p:extLst>
      <p:ext uri="{BB962C8B-B14F-4D97-AF65-F5344CB8AC3E}">
        <p14:creationId xmlns:p14="http://schemas.microsoft.com/office/powerpoint/2010/main" val="852220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6F7B1-5741-EF7A-FBDF-F91CEE9DDEA7}"/>
              </a:ext>
            </a:extLst>
          </p:cNvPr>
          <p:cNvSpPr>
            <a:spLocks noGrp="1"/>
          </p:cNvSpPr>
          <p:nvPr>
            <p:ph type="title"/>
          </p:nvPr>
        </p:nvSpPr>
        <p:spPr/>
        <p:txBody>
          <a:bodyPr/>
          <a:lstStyle/>
          <a:p>
            <a:r>
              <a:rPr lang="en-US" b="1" i="0" dirty="0">
                <a:solidFill>
                  <a:srgbClr val="273239"/>
                </a:solidFill>
                <a:effectLst/>
                <a:latin typeface="Nunito" pitchFamily="2" charset="0"/>
              </a:rPr>
              <a:t>Ansible Modules</a:t>
            </a:r>
            <a:endParaRPr lang="en-US" dirty="0"/>
          </a:p>
        </p:txBody>
      </p:sp>
      <p:sp>
        <p:nvSpPr>
          <p:cNvPr id="3" name="Content Placeholder 2">
            <a:extLst>
              <a:ext uri="{FF2B5EF4-FFF2-40B4-BE49-F238E27FC236}">
                <a16:creationId xmlns:a16="http://schemas.microsoft.com/office/drawing/2014/main" id="{2C953A3C-B247-C14D-4BCC-F965C053AC6A}"/>
              </a:ext>
            </a:extLst>
          </p:cNvPr>
          <p:cNvSpPr>
            <a:spLocks noGrp="1"/>
          </p:cNvSpPr>
          <p:nvPr>
            <p:ph idx="1"/>
          </p:nvPr>
        </p:nvSpPr>
        <p:spPr/>
        <p:txBody>
          <a:bodyPr>
            <a:normAutofit fontScale="70000" lnSpcReduction="20000"/>
          </a:bodyPr>
          <a:lstStyle/>
          <a:p>
            <a:pPr algn="l" fontAlgn="base">
              <a:spcBef>
                <a:spcPts val="1800"/>
              </a:spcBef>
              <a:spcAft>
                <a:spcPts val="1800"/>
              </a:spcAft>
            </a:pPr>
            <a:r>
              <a:rPr lang="en-US" b="1" i="0" dirty="0">
                <a:solidFill>
                  <a:srgbClr val="273239"/>
                </a:solidFill>
                <a:effectLst/>
                <a:latin typeface="Nunito" pitchFamily="2" charset="0"/>
              </a:rPr>
              <a:t>Types of Ansible Modules</a:t>
            </a:r>
          </a:p>
          <a:p>
            <a:pPr algn="just" rtl="0" fontAlgn="base">
              <a:spcAft>
                <a:spcPts val="750"/>
              </a:spcAft>
            </a:pPr>
            <a:r>
              <a:rPr lang="en-US" b="0" i="0" dirty="0">
                <a:solidFill>
                  <a:srgbClr val="273239"/>
                </a:solidFill>
                <a:effectLst/>
                <a:latin typeface="Nunito" pitchFamily="2" charset="0"/>
              </a:rPr>
              <a:t>Following are the some modules which are frequently used in the ansible.</a:t>
            </a:r>
          </a:p>
          <a:p>
            <a:pPr algn="just" rtl="0" fontAlgn="base">
              <a:spcAft>
                <a:spcPts val="750"/>
              </a:spcAft>
            </a:pPr>
            <a:endParaRPr lang="en-US" b="0" i="0" dirty="0">
              <a:solidFill>
                <a:srgbClr val="273239"/>
              </a:solidFill>
              <a:effectLst/>
              <a:latin typeface="Nunito" pitchFamily="2" charset="0"/>
            </a:endParaRPr>
          </a:p>
          <a:p>
            <a:pPr algn="l" fontAlgn="base">
              <a:spcAft>
                <a:spcPts val="1800"/>
              </a:spcAft>
              <a:buFont typeface="+mj-lt"/>
              <a:buAutoNum type="arabicPeriod"/>
            </a:pPr>
            <a:r>
              <a:rPr lang="en-US" b="0" i="0" dirty="0">
                <a:solidFill>
                  <a:srgbClr val="273239"/>
                </a:solidFill>
                <a:effectLst/>
                <a:latin typeface="Nunito" pitchFamily="2" charset="0"/>
              </a:rPr>
              <a:t>System modules</a:t>
            </a:r>
          </a:p>
          <a:p>
            <a:pPr algn="l" fontAlgn="base">
              <a:spcAft>
                <a:spcPts val="1800"/>
              </a:spcAft>
              <a:buFont typeface="+mj-lt"/>
              <a:buAutoNum type="arabicPeriod" startAt="2"/>
            </a:pPr>
            <a:r>
              <a:rPr lang="en-US" b="0" i="0" dirty="0">
                <a:solidFill>
                  <a:srgbClr val="273239"/>
                </a:solidFill>
                <a:effectLst/>
                <a:latin typeface="Nunito" pitchFamily="2" charset="0"/>
              </a:rPr>
              <a:t>Application modules</a:t>
            </a:r>
          </a:p>
          <a:p>
            <a:pPr algn="l" fontAlgn="base">
              <a:spcAft>
                <a:spcPts val="1800"/>
              </a:spcAft>
              <a:buFont typeface="+mj-lt"/>
              <a:buAutoNum type="arabicPeriod" startAt="3"/>
            </a:pPr>
            <a:r>
              <a:rPr lang="en-US" b="0" i="0" dirty="0">
                <a:solidFill>
                  <a:srgbClr val="273239"/>
                </a:solidFill>
                <a:effectLst/>
                <a:latin typeface="Nunito" pitchFamily="2" charset="0"/>
              </a:rPr>
              <a:t>Cloud modules</a:t>
            </a:r>
          </a:p>
          <a:p>
            <a:pPr algn="l" fontAlgn="base">
              <a:spcAft>
                <a:spcPts val="1800"/>
              </a:spcAft>
              <a:buFont typeface="+mj-lt"/>
              <a:buAutoNum type="arabicPeriod" startAt="4"/>
            </a:pPr>
            <a:r>
              <a:rPr lang="en-US" b="0" i="0" dirty="0">
                <a:solidFill>
                  <a:srgbClr val="273239"/>
                </a:solidFill>
                <a:effectLst/>
                <a:latin typeface="Nunito" pitchFamily="2" charset="0"/>
              </a:rPr>
              <a:t>Networking modules</a:t>
            </a:r>
          </a:p>
          <a:p>
            <a:pPr algn="l" fontAlgn="base">
              <a:spcAft>
                <a:spcPts val="1800"/>
              </a:spcAft>
              <a:buFont typeface="+mj-lt"/>
              <a:buAutoNum type="arabicPeriod" startAt="5"/>
            </a:pPr>
            <a:r>
              <a:rPr lang="en-US" b="0" i="0" dirty="0">
                <a:solidFill>
                  <a:srgbClr val="273239"/>
                </a:solidFill>
                <a:effectLst/>
                <a:latin typeface="Nunito" pitchFamily="2" charset="0"/>
              </a:rPr>
              <a:t>Command modules</a:t>
            </a:r>
          </a:p>
          <a:p>
            <a:endParaRPr lang="en-US" dirty="0"/>
          </a:p>
        </p:txBody>
      </p:sp>
    </p:spTree>
    <p:extLst>
      <p:ext uri="{BB962C8B-B14F-4D97-AF65-F5344CB8AC3E}">
        <p14:creationId xmlns:p14="http://schemas.microsoft.com/office/powerpoint/2010/main" val="4045421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D8CAD-6920-0014-0BD0-793A5D3FCA58}"/>
              </a:ext>
            </a:extLst>
          </p:cNvPr>
          <p:cNvSpPr>
            <a:spLocks noGrp="1"/>
          </p:cNvSpPr>
          <p:nvPr>
            <p:ph type="title"/>
          </p:nvPr>
        </p:nvSpPr>
        <p:spPr/>
        <p:txBody>
          <a:bodyPr/>
          <a:lstStyle/>
          <a:p>
            <a:r>
              <a:rPr lang="en-US" dirty="0"/>
              <a:t>Ansible Installation</a:t>
            </a:r>
          </a:p>
        </p:txBody>
      </p:sp>
      <p:sp>
        <p:nvSpPr>
          <p:cNvPr id="3" name="Content Placeholder 2">
            <a:extLst>
              <a:ext uri="{FF2B5EF4-FFF2-40B4-BE49-F238E27FC236}">
                <a16:creationId xmlns:a16="http://schemas.microsoft.com/office/drawing/2014/main" id="{C844A685-A6F4-696F-2A72-73C23D38F26D}"/>
              </a:ext>
            </a:extLst>
          </p:cNvPr>
          <p:cNvSpPr>
            <a:spLocks noGrp="1"/>
          </p:cNvSpPr>
          <p:nvPr>
            <p:ph idx="1"/>
          </p:nvPr>
        </p:nvSpPr>
        <p:spPr/>
        <p:txBody>
          <a:bodyPr/>
          <a:lstStyle/>
          <a:p>
            <a:r>
              <a:rPr lang="en-US" b="0" i="0" dirty="0">
                <a:solidFill>
                  <a:srgbClr val="273239"/>
                </a:solidFill>
                <a:effectLst/>
                <a:latin typeface="Nunito" pitchFamily="2" charset="0"/>
              </a:rPr>
              <a:t>In order to install ansible, the system must have </a:t>
            </a:r>
            <a:r>
              <a:rPr lang="en-US" b="1" i="0" dirty="0">
                <a:solidFill>
                  <a:srgbClr val="273239"/>
                </a:solidFill>
                <a:effectLst/>
                <a:latin typeface="Nunito" pitchFamily="2" charset="0"/>
              </a:rPr>
              <a:t>python</a:t>
            </a:r>
            <a:r>
              <a:rPr lang="en-US" b="0" i="0" dirty="0">
                <a:solidFill>
                  <a:srgbClr val="273239"/>
                </a:solidFill>
                <a:effectLst/>
                <a:latin typeface="Nunito" pitchFamily="2" charset="0"/>
              </a:rPr>
              <a:t> preinstalled. </a:t>
            </a:r>
          </a:p>
          <a:p>
            <a:endParaRPr lang="en-US" b="0" i="0" dirty="0">
              <a:solidFill>
                <a:srgbClr val="273239"/>
              </a:solidFill>
              <a:effectLst/>
              <a:latin typeface="Nunito" pitchFamily="2" charset="0"/>
            </a:endParaRPr>
          </a:p>
          <a:p>
            <a:r>
              <a:rPr lang="en-US" i="0" dirty="0">
                <a:solidFill>
                  <a:srgbClr val="273239"/>
                </a:solidFill>
                <a:effectLst/>
                <a:latin typeface="Nunito" pitchFamily="2" charset="0"/>
              </a:rPr>
              <a:t>Open up Terminal:</a:t>
            </a:r>
          </a:p>
          <a:p>
            <a:endParaRPr lang="en-US" i="0" dirty="0">
              <a:solidFill>
                <a:srgbClr val="273239"/>
              </a:solidFill>
              <a:effectLst/>
              <a:latin typeface="Nunito" pitchFamily="2" charset="0"/>
            </a:endParaRPr>
          </a:p>
          <a:p>
            <a:r>
              <a:rPr lang="en-US" b="0" i="0" dirty="0">
                <a:solidFill>
                  <a:srgbClr val="273239"/>
                </a:solidFill>
                <a:effectLst/>
                <a:latin typeface="Nunito" pitchFamily="2" charset="0"/>
              </a:rPr>
              <a:t>Add the Ansible Repository.</a:t>
            </a:r>
            <a:endParaRPr lang="en-US" b="0" dirty="0">
              <a:solidFill>
                <a:srgbClr val="273239"/>
              </a:solidFill>
              <a:latin typeface="Nunito" pitchFamily="2" charset="0"/>
            </a:endParaRPr>
          </a:p>
          <a:p>
            <a:r>
              <a:rPr lang="en-US" b="0" i="0" dirty="0">
                <a:solidFill>
                  <a:srgbClr val="273239"/>
                </a:solidFill>
                <a:effectLst/>
                <a:latin typeface="Nunito" pitchFamily="2" charset="0"/>
              </a:rPr>
              <a:t>Update the system repository listings.</a:t>
            </a:r>
            <a:endParaRPr lang="en-US" i="0" dirty="0">
              <a:solidFill>
                <a:srgbClr val="273239"/>
              </a:solidFill>
              <a:effectLst/>
              <a:latin typeface="Nunito" pitchFamily="2" charset="0"/>
            </a:endParaRPr>
          </a:p>
          <a:p>
            <a:r>
              <a:rPr lang="en-US" b="0" i="0" dirty="0">
                <a:solidFill>
                  <a:srgbClr val="273239"/>
                </a:solidFill>
                <a:effectLst/>
                <a:latin typeface="Nunito" pitchFamily="2" charset="0"/>
              </a:rPr>
              <a:t>Install the ansible packages.</a:t>
            </a:r>
            <a:endParaRPr lang="en-US" dirty="0"/>
          </a:p>
        </p:txBody>
      </p:sp>
    </p:spTree>
    <p:extLst>
      <p:ext uri="{BB962C8B-B14F-4D97-AF65-F5344CB8AC3E}">
        <p14:creationId xmlns:p14="http://schemas.microsoft.com/office/powerpoint/2010/main" val="987451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396A4-9F20-AE80-AD0E-29DC260A9DF8}"/>
              </a:ext>
            </a:extLst>
          </p:cNvPr>
          <p:cNvSpPr>
            <a:spLocks noGrp="1"/>
          </p:cNvSpPr>
          <p:nvPr>
            <p:ph type="title"/>
          </p:nvPr>
        </p:nvSpPr>
        <p:spPr/>
        <p:txBody>
          <a:bodyPr/>
          <a:lstStyle/>
          <a:p>
            <a:r>
              <a:rPr lang="en-US" dirty="0"/>
              <a:t>Puppet</a:t>
            </a:r>
          </a:p>
        </p:txBody>
      </p:sp>
      <p:sp>
        <p:nvSpPr>
          <p:cNvPr id="3" name="Content Placeholder 2">
            <a:extLst>
              <a:ext uri="{FF2B5EF4-FFF2-40B4-BE49-F238E27FC236}">
                <a16:creationId xmlns:a16="http://schemas.microsoft.com/office/drawing/2014/main" id="{8FD16B5D-5BB8-E7FB-459F-73B1C6870E14}"/>
              </a:ext>
            </a:extLst>
          </p:cNvPr>
          <p:cNvSpPr>
            <a:spLocks noGrp="1"/>
          </p:cNvSpPr>
          <p:nvPr>
            <p:ph idx="1"/>
          </p:nvPr>
        </p:nvSpPr>
        <p:spPr/>
        <p:txBody>
          <a:bodyPr/>
          <a:lstStyle/>
          <a:p>
            <a:r>
              <a:rPr lang="en-US" b="0" i="0" dirty="0">
                <a:solidFill>
                  <a:srgbClr val="273239"/>
                </a:solidFill>
                <a:effectLst/>
                <a:latin typeface="Nunito" pitchFamily="2" charset="0"/>
              </a:rPr>
              <a:t>Puppet is an open-source configuration management automation tool. Puppet permits system administrators to type in infrastructure as code(</a:t>
            </a:r>
            <a:r>
              <a:rPr lang="en-US" b="0" i="0" dirty="0" err="1">
                <a:solidFill>
                  <a:srgbClr val="273239"/>
                </a:solidFill>
                <a:effectLst/>
                <a:latin typeface="Nunito" pitchFamily="2" charset="0"/>
              </a:rPr>
              <a:t>IaC</a:t>
            </a:r>
            <a:r>
              <a:rPr lang="en-US" b="0" i="0" dirty="0">
                <a:solidFill>
                  <a:srgbClr val="273239"/>
                </a:solidFill>
                <a:effectLst/>
                <a:latin typeface="Nunito" pitchFamily="2" charset="0"/>
              </a:rPr>
              <a:t>), using the Puppet Descriptive Language(PDL) rather than utilizing any customized and individual scripts to do so.</a:t>
            </a:r>
          </a:p>
          <a:p>
            <a:endParaRPr lang="en-US" dirty="0">
              <a:solidFill>
                <a:srgbClr val="273239"/>
              </a:solidFill>
              <a:latin typeface="Nunito" pitchFamily="2" charset="0"/>
            </a:endParaRPr>
          </a:p>
          <a:p>
            <a:r>
              <a:rPr lang="en-US" b="0" i="0" dirty="0">
                <a:solidFill>
                  <a:srgbClr val="273239"/>
                </a:solidFill>
                <a:effectLst/>
                <a:latin typeface="Nunito" pitchFamily="2" charset="0"/>
              </a:rPr>
              <a:t>A conventional approach would require the system administrator to login to each machine to perform framework organization assignments but that does not scale well.</a:t>
            </a:r>
            <a:endParaRPr lang="en-US" dirty="0"/>
          </a:p>
        </p:txBody>
      </p:sp>
    </p:spTree>
    <p:extLst>
      <p:ext uri="{BB962C8B-B14F-4D97-AF65-F5344CB8AC3E}">
        <p14:creationId xmlns:p14="http://schemas.microsoft.com/office/powerpoint/2010/main" val="382962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F05D0-C543-5B04-A8A3-19964922ACD8}"/>
              </a:ext>
            </a:extLst>
          </p:cNvPr>
          <p:cNvSpPr>
            <a:spLocks noGrp="1"/>
          </p:cNvSpPr>
          <p:nvPr>
            <p:ph type="title"/>
          </p:nvPr>
        </p:nvSpPr>
        <p:spPr/>
        <p:txBody>
          <a:bodyPr/>
          <a:lstStyle/>
          <a:p>
            <a:pPr algn="l" fontAlgn="base">
              <a:spcBef>
                <a:spcPts val="1800"/>
              </a:spcBef>
              <a:spcAft>
                <a:spcPts val="1800"/>
              </a:spcAft>
            </a:pPr>
            <a:r>
              <a:rPr lang="en-US" b="1" i="0" dirty="0">
                <a:solidFill>
                  <a:srgbClr val="273239"/>
                </a:solidFill>
                <a:effectLst/>
                <a:latin typeface="Nunito" pitchFamily="2" charset="0"/>
              </a:rPr>
              <a:t>Puppet Architecture</a:t>
            </a:r>
          </a:p>
        </p:txBody>
      </p:sp>
      <p:sp>
        <p:nvSpPr>
          <p:cNvPr id="3" name="Content Placeholder 2">
            <a:extLst>
              <a:ext uri="{FF2B5EF4-FFF2-40B4-BE49-F238E27FC236}">
                <a16:creationId xmlns:a16="http://schemas.microsoft.com/office/drawing/2014/main" id="{2FF74F84-E5D0-0B44-D374-8C8826778431}"/>
              </a:ext>
            </a:extLst>
          </p:cNvPr>
          <p:cNvSpPr>
            <a:spLocks noGrp="1"/>
          </p:cNvSpPr>
          <p:nvPr>
            <p:ph idx="1"/>
          </p:nvPr>
        </p:nvSpPr>
        <p:spPr/>
        <p:txBody>
          <a:bodyPr>
            <a:normAutofit fontScale="92500" lnSpcReduction="20000"/>
          </a:bodyPr>
          <a:lstStyle/>
          <a:p>
            <a:r>
              <a:rPr lang="en-US" b="0" i="0" dirty="0">
                <a:solidFill>
                  <a:srgbClr val="273239"/>
                </a:solidFill>
                <a:effectLst/>
                <a:latin typeface="Nunito" pitchFamily="2" charset="0"/>
              </a:rPr>
              <a:t>Puppet uses the client/server model. The server is called a puppet master. </a:t>
            </a:r>
          </a:p>
          <a:p>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The puppet master stores the recipes or manifests( code containing resources and desired states) for clients. </a:t>
            </a:r>
          </a:p>
          <a:p>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The clients are called Puppet nodes and runs the puppet agent software. The node runs a puppet daemon(agent) to connect to the puppet master. </a:t>
            </a:r>
          </a:p>
          <a:p>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These nodes will download the manifest assigned to the node from the puppet master and apply the configuration if needed.</a:t>
            </a:r>
            <a:endParaRPr lang="en-US" dirty="0"/>
          </a:p>
        </p:txBody>
      </p:sp>
    </p:spTree>
    <p:extLst>
      <p:ext uri="{BB962C8B-B14F-4D97-AF65-F5344CB8AC3E}">
        <p14:creationId xmlns:p14="http://schemas.microsoft.com/office/powerpoint/2010/main" val="17114390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B77BF-9FF3-5A32-D20B-672144E22A00}"/>
              </a:ext>
            </a:extLst>
          </p:cNvPr>
          <p:cNvSpPr>
            <a:spLocks noGrp="1"/>
          </p:cNvSpPr>
          <p:nvPr>
            <p:ph type="title"/>
          </p:nvPr>
        </p:nvSpPr>
        <p:spPr/>
        <p:txBody>
          <a:bodyPr/>
          <a:lstStyle/>
          <a:p>
            <a:r>
              <a:rPr lang="en-US" b="1" i="0" dirty="0">
                <a:solidFill>
                  <a:srgbClr val="273239"/>
                </a:solidFill>
                <a:effectLst/>
                <a:latin typeface="Nunito" pitchFamily="2" charset="0"/>
              </a:rPr>
              <a:t>Puppet Architecture</a:t>
            </a:r>
            <a:endParaRPr lang="en-US" dirty="0"/>
          </a:p>
        </p:txBody>
      </p:sp>
      <p:pic>
        <p:nvPicPr>
          <p:cNvPr id="5" name="Content Placeholder 4" descr="A diagram of a puppet master&#10;&#10;AI-generated content may be incorrect.">
            <a:extLst>
              <a:ext uri="{FF2B5EF4-FFF2-40B4-BE49-F238E27FC236}">
                <a16:creationId xmlns:a16="http://schemas.microsoft.com/office/drawing/2014/main" id="{6DF678F9-869C-1C47-E1B3-27AF2813A0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3966" y="2096293"/>
            <a:ext cx="8878571" cy="4020727"/>
          </a:xfrm>
        </p:spPr>
      </p:pic>
    </p:spTree>
    <p:extLst>
      <p:ext uri="{BB962C8B-B14F-4D97-AF65-F5344CB8AC3E}">
        <p14:creationId xmlns:p14="http://schemas.microsoft.com/office/powerpoint/2010/main" val="593116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A6807-702C-3E62-FDED-3B6D2A82BDCE}"/>
              </a:ext>
            </a:extLst>
          </p:cNvPr>
          <p:cNvSpPr>
            <a:spLocks noGrp="1"/>
          </p:cNvSpPr>
          <p:nvPr>
            <p:ph type="title"/>
          </p:nvPr>
        </p:nvSpPr>
        <p:spPr/>
        <p:txBody>
          <a:bodyPr/>
          <a:lstStyle/>
          <a:p>
            <a:r>
              <a:rPr lang="en-US" dirty="0"/>
              <a:t>Puppet</a:t>
            </a:r>
          </a:p>
        </p:txBody>
      </p:sp>
      <p:sp>
        <p:nvSpPr>
          <p:cNvPr id="3" name="Content Placeholder 2">
            <a:extLst>
              <a:ext uri="{FF2B5EF4-FFF2-40B4-BE49-F238E27FC236}">
                <a16:creationId xmlns:a16="http://schemas.microsoft.com/office/drawing/2014/main" id="{7E3214FC-66E8-7815-48FE-B415E1081E55}"/>
              </a:ext>
            </a:extLst>
          </p:cNvPr>
          <p:cNvSpPr>
            <a:spLocks noGrp="1"/>
          </p:cNvSpPr>
          <p:nvPr>
            <p:ph idx="1"/>
          </p:nvPr>
        </p:nvSpPr>
        <p:spPr/>
        <p:txBody>
          <a:bodyPr>
            <a:normAutofit fontScale="70000" lnSpcReduction="20000"/>
          </a:bodyPr>
          <a:lstStyle/>
          <a:p>
            <a:pPr algn="l" fontAlgn="base">
              <a:spcAft>
                <a:spcPts val="750"/>
              </a:spcAft>
            </a:pPr>
            <a:r>
              <a:rPr lang="en-US" b="1" i="0" dirty="0">
                <a:solidFill>
                  <a:srgbClr val="273239"/>
                </a:solidFill>
                <a:effectLst/>
                <a:latin typeface="Nunito" pitchFamily="2" charset="0"/>
              </a:rPr>
              <a:t>Advantages-</a:t>
            </a:r>
            <a:endParaRPr lang="en-US" b="0" i="0" dirty="0">
              <a:solidFill>
                <a:srgbClr val="273239"/>
              </a:solidFill>
              <a:effectLst/>
              <a:latin typeface="Nunito" pitchFamily="2" charset="0"/>
            </a:endParaRP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is easy to install.</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has Command Line Interface and Graphical User Interface.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has a support for all major Operating Systems.</a:t>
            </a:r>
          </a:p>
          <a:p>
            <a:pPr algn="l" fontAlgn="base">
              <a:spcAft>
                <a:spcPts val="750"/>
              </a:spcAft>
            </a:pPr>
            <a:r>
              <a:rPr lang="en-US" b="1" i="0" dirty="0">
                <a:solidFill>
                  <a:srgbClr val="273239"/>
                </a:solidFill>
                <a:effectLst/>
                <a:latin typeface="Nunito" pitchFamily="2" charset="0"/>
              </a:rPr>
              <a:t>Disadvantages-</a:t>
            </a:r>
            <a:endParaRPr lang="en-US" b="0" i="0" dirty="0">
              <a:solidFill>
                <a:srgbClr val="273239"/>
              </a:solidFill>
              <a:effectLst/>
              <a:latin typeface="Nunito" pitchFamily="2" charset="0"/>
            </a:endParaRP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Quite slow to respond.</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does not have lifecycle management.</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Tough for beginners to learn.</a:t>
            </a:r>
          </a:p>
          <a:p>
            <a:endParaRPr lang="en-US" dirty="0"/>
          </a:p>
        </p:txBody>
      </p:sp>
    </p:spTree>
    <p:extLst>
      <p:ext uri="{BB962C8B-B14F-4D97-AF65-F5344CB8AC3E}">
        <p14:creationId xmlns:p14="http://schemas.microsoft.com/office/powerpoint/2010/main" val="2970831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99349-D8E7-4354-0881-08A228778D68}"/>
              </a:ext>
            </a:extLst>
          </p:cNvPr>
          <p:cNvSpPr>
            <a:spLocks noGrp="1"/>
          </p:cNvSpPr>
          <p:nvPr>
            <p:ph type="title"/>
          </p:nvPr>
        </p:nvSpPr>
        <p:spPr/>
        <p:txBody>
          <a:bodyPr/>
          <a:lstStyle/>
          <a:p>
            <a:r>
              <a:rPr lang="en-US" dirty="0"/>
              <a:t>Puppet Installation</a:t>
            </a:r>
          </a:p>
        </p:txBody>
      </p:sp>
      <p:sp>
        <p:nvSpPr>
          <p:cNvPr id="3" name="Content Placeholder 2">
            <a:extLst>
              <a:ext uri="{FF2B5EF4-FFF2-40B4-BE49-F238E27FC236}">
                <a16:creationId xmlns:a16="http://schemas.microsoft.com/office/drawing/2014/main" id="{4F88E058-1695-2A7C-A4BD-BCDCA85FA2A8}"/>
              </a:ext>
            </a:extLst>
          </p:cNvPr>
          <p:cNvSpPr>
            <a:spLocks noGrp="1"/>
          </p:cNvSpPr>
          <p:nvPr>
            <p:ph idx="1"/>
          </p:nvPr>
        </p:nvSpPr>
        <p:spPr/>
        <p:txBody>
          <a:bodyPr/>
          <a:lstStyle/>
          <a:p>
            <a:pPr algn="l"/>
            <a:r>
              <a:rPr lang="en-US" b="0" i="0" dirty="0">
                <a:solidFill>
                  <a:srgbClr val="000000"/>
                </a:solidFill>
                <a:effectLst/>
                <a:latin typeface="Verdana" panose="020B0604030504040204" pitchFamily="34" charset="0"/>
              </a:rPr>
              <a:t>Puppet works on the client server architecture, wherein we call the server as the Puppet master and the client as the Puppet node. This setup is achieved by installing Puppet on both the client as well as on all the server machines.</a:t>
            </a:r>
          </a:p>
          <a:p>
            <a:pPr algn="l"/>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For most of the platforms, Puppet can be installed via the package manager of choice.eg </a:t>
            </a:r>
            <a:r>
              <a:rPr lang="en-US" b="0" i="0" dirty="0" err="1">
                <a:solidFill>
                  <a:srgbClr val="000000"/>
                </a:solidFill>
                <a:effectLst/>
                <a:latin typeface="Verdana" panose="020B0604030504040204" pitchFamily="34" charset="0"/>
              </a:rPr>
              <a:t>tarball</a:t>
            </a:r>
            <a:r>
              <a:rPr lang="en-US" b="0" i="0">
                <a:solidFill>
                  <a:srgbClr val="000000"/>
                </a:solidFill>
                <a:effectLst/>
                <a:latin typeface="Verdana" panose="020B0604030504040204" pitchFamily="34" charset="0"/>
              </a:rPr>
              <a:t>.</a:t>
            </a:r>
            <a:endParaRPr lang="en-US" b="0" i="0" dirty="0">
              <a:solidFill>
                <a:srgbClr val="000000"/>
              </a:solidFill>
              <a:effectLst/>
              <a:latin typeface="Verdana" panose="020B0604030504040204" pitchFamily="34" charset="0"/>
            </a:endParaRPr>
          </a:p>
          <a:p>
            <a:endParaRPr lang="en-US" dirty="0"/>
          </a:p>
        </p:txBody>
      </p:sp>
    </p:spTree>
    <p:extLst>
      <p:ext uri="{BB962C8B-B14F-4D97-AF65-F5344CB8AC3E}">
        <p14:creationId xmlns:p14="http://schemas.microsoft.com/office/powerpoint/2010/main" val="1440479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43369-EC94-7F89-F8EB-1BD0BBC4037C}"/>
              </a:ext>
            </a:extLst>
          </p:cNvPr>
          <p:cNvSpPr>
            <a:spLocks noGrp="1"/>
          </p:cNvSpPr>
          <p:nvPr>
            <p:ph type="title"/>
          </p:nvPr>
        </p:nvSpPr>
        <p:spPr>
          <a:xfrm>
            <a:off x="838200" y="128643"/>
            <a:ext cx="10515600" cy="526450"/>
          </a:xfrm>
        </p:spPr>
        <p:txBody>
          <a:bodyPr>
            <a:normAutofit/>
          </a:bodyPr>
          <a:lstStyle/>
          <a:p>
            <a:pPr algn="ctr"/>
            <a:r>
              <a:rPr lang="en-US" sz="2800" dirty="0"/>
              <a:t>Ansible Vs Puppet</a:t>
            </a:r>
            <a:endParaRPr lang="en-US" dirty="0"/>
          </a:p>
        </p:txBody>
      </p:sp>
      <p:graphicFrame>
        <p:nvGraphicFramePr>
          <p:cNvPr id="5" name="Content Placeholder 4">
            <a:extLst>
              <a:ext uri="{FF2B5EF4-FFF2-40B4-BE49-F238E27FC236}">
                <a16:creationId xmlns:a16="http://schemas.microsoft.com/office/drawing/2014/main" id="{EEA656D7-D505-6803-5A69-7B502D32533E}"/>
              </a:ext>
            </a:extLst>
          </p:cNvPr>
          <p:cNvGraphicFramePr>
            <a:graphicFrameLocks noGrp="1"/>
          </p:cNvGraphicFramePr>
          <p:nvPr>
            <p:ph idx="1"/>
            <p:extLst>
              <p:ext uri="{D42A27DB-BD31-4B8C-83A1-F6EECF244321}">
                <p14:modId xmlns:p14="http://schemas.microsoft.com/office/powerpoint/2010/main" val="1632156423"/>
              </p:ext>
            </p:extLst>
          </p:nvPr>
        </p:nvGraphicFramePr>
        <p:xfrm>
          <a:off x="419725" y="655093"/>
          <a:ext cx="11071689" cy="6284700"/>
        </p:xfrm>
        <a:graphic>
          <a:graphicData uri="http://schemas.openxmlformats.org/drawingml/2006/table">
            <a:tbl>
              <a:tblPr/>
              <a:tblGrid>
                <a:gridCol w="2108893">
                  <a:extLst>
                    <a:ext uri="{9D8B030D-6E8A-4147-A177-3AD203B41FA5}">
                      <a16:colId xmlns:a16="http://schemas.microsoft.com/office/drawing/2014/main" val="660667000"/>
                    </a:ext>
                  </a:extLst>
                </a:gridCol>
                <a:gridCol w="4481398">
                  <a:extLst>
                    <a:ext uri="{9D8B030D-6E8A-4147-A177-3AD203B41FA5}">
                      <a16:colId xmlns:a16="http://schemas.microsoft.com/office/drawing/2014/main" val="534195045"/>
                    </a:ext>
                  </a:extLst>
                </a:gridCol>
                <a:gridCol w="4481398">
                  <a:extLst>
                    <a:ext uri="{9D8B030D-6E8A-4147-A177-3AD203B41FA5}">
                      <a16:colId xmlns:a16="http://schemas.microsoft.com/office/drawing/2014/main" val="1839224285"/>
                    </a:ext>
                  </a:extLst>
                </a:gridCol>
              </a:tblGrid>
              <a:tr h="392889">
                <a:tc>
                  <a:txBody>
                    <a:bodyPr/>
                    <a:lstStyle/>
                    <a:p>
                      <a:pPr algn="ctr" fontAlgn="base"/>
                      <a:r>
                        <a:rPr lang="en-US" sz="1000" b="1">
                          <a:effectLst/>
                        </a:rPr>
                        <a:t>S.No.</a:t>
                      </a:r>
                    </a:p>
                  </a:txBody>
                  <a:tcPr marL="26436" marR="26436" marT="66090" marB="6609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800" b="1" dirty="0">
                          <a:effectLst/>
                        </a:rPr>
                        <a:t>Ansible</a:t>
                      </a:r>
                    </a:p>
                  </a:txBody>
                  <a:tcPr marL="66090" marR="66090" marT="66090" marB="6609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800" b="1">
                          <a:effectLst/>
                        </a:rPr>
                        <a:t>Puppet</a:t>
                      </a:r>
                    </a:p>
                  </a:txBody>
                  <a:tcPr marL="66090" marR="66090" marT="66090" marB="6609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484282007"/>
                  </a:ext>
                </a:extLst>
              </a:tr>
              <a:tr h="414529">
                <a:tc>
                  <a:txBody>
                    <a:bodyPr/>
                    <a:lstStyle/>
                    <a:p>
                      <a:pPr algn="ctr" fontAlgn="base"/>
                      <a:r>
                        <a:rPr lang="en-US" sz="1200" b="1">
                          <a:effectLst/>
                        </a:rPr>
                        <a:t>1.</a:t>
                      </a:r>
                    </a:p>
                  </a:txBody>
                  <a:tcPr marL="26436" marR="26436" marT="54042" marB="5404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Introduced in 2012 by Michael DeHaan.</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Introduced in early 2005 by Puppet Labs.</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67076421"/>
                  </a:ext>
                </a:extLst>
              </a:tr>
              <a:tr h="414529">
                <a:tc>
                  <a:txBody>
                    <a:bodyPr/>
                    <a:lstStyle/>
                    <a:p>
                      <a:pPr algn="ctr" fontAlgn="base"/>
                      <a:r>
                        <a:rPr lang="en-US" sz="1200" b="1">
                          <a:effectLst/>
                        </a:rPr>
                        <a:t>2.</a:t>
                      </a:r>
                    </a:p>
                  </a:txBody>
                  <a:tcPr marL="26436" marR="26436" marT="54042" marB="5404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It is built using python.</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It is built using Ruby, C++, Clojure.</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810957953"/>
                  </a:ext>
                </a:extLst>
              </a:tr>
              <a:tr h="650205">
                <a:tc>
                  <a:txBody>
                    <a:bodyPr/>
                    <a:lstStyle/>
                    <a:p>
                      <a:pPr algn="ctr" fontAlgn="base"/>
                      <a:r>
                        <a:rPr lang="en-US" sz="1200" b="1">
                          <a:effectLst/>
                        </a:rPr>
                        <a:t>3.</a:t>
                      </a:r>
                    </a:p>
                  </a:txBody>
                  <a:tcPr marL="26436" marR="26436" marT="54042" marB="5404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Ansible follows the concept of procedural programming</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Puppet follows the concept of declarative programming.</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546654593"/>
                  </a:ext>
                </a:extLst>
              </a:tr>
              <a:tr h="414529">
                <a:tc>
                  <a:txBody>
                    <a:bodyPr/>
                    <a:lstStyle/>
                    <a:p>
                      <a:pPr algn="ctr" fontAlgn="base"/>
                      <a:r>
                        <a:rPr lang="en-US" sz="1200" b="1">
                          <a:effectLst/>
                        </a:rPr>
                        <a:t>4.</a:t>
                      </a:r>
                    </a:p>
                  </a:txBody>
                  <a:tcPr marL="26436" marR="26436" marT="54042" marB="5404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It follows the push model.</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it follows the pull model.</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83987379"/>
                  </a:ext>
                </a:extLst>
              </a:tr>
              <a:tr h="414529">
                <a:tc>
                  <a:txBody>
                    <a:bodyPr/>
                    <a:lstStyle/>
                    <a:p>
                      <a:pPr algn="ctr" fontAlgn="base"/>
                      <a:r>
                        <a:rPr lang="en-US" sz="1200" b="1">
                          <a:effectLst/>
                        </a:rPr>
                        <a:t>5.</a:t>
                      </a:r>
                    </a:p>
                  </a:txBody>
                  <a:tcPr marL="26436" marR="26436" marT="54042" marB="5404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It is more scalable than Puppet.</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It is less scalable than Ansible.</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598771783"/>
                  </a:ext>
                </a:extLst>
              </a:tr>
              <a:tr h="650205">
                <a:tc>
                  <a:txBody>
                    <a:bodyPr/>
                    <a:lstStyle/>
                    <a:p>
                      <a:pPr algn="ctr" fontAlgn="base"/>
                      <a:r>
                        <a:rPr lang="en-US" sz="1200" b="1">
                          <a:effectLst/>
                        </a:rPr>
                        <a:t>6.</a:t>
                      </a:r>
                    </a:p>
                  </a:txBody>
                  <a:tcPr marL="26436" marR="26436" marT="54042" marB="5404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It is not much efficient than Puppet.</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It is more efficient in completing tasks as compared to Ansible.</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246323680"/>
                  </a:ext>
                </a:extLst>
              </a:tr>
              <a:tr h="414529">
                <a:tc>
                  <a:txBody>
                    <a:bodyPr/>
                    <a:lstStyle/>
                    <a:p>
                      <a:pPr algn="ctr" fontAlgn="base"/>
                      <a:r>
                        <a:rPr lang="en-US" sz="1200" b="1">
                          <a:effectLst/>
                        </a:rPr>
                        <a:t>7.</a:t>
                      </a:r>
                    </a:p>
                  </a:txBody>
                  <a:tcPr marL="26436" marR="26436" marT="54042" marB="5404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There is no role of any agents.</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There is the role of the puppet agent.</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150409705"/>
                  </a:ext>
                </a:extLst>
              </a:tr>
              <a:tr h="414529">
                <a:tc>
                  <a:txBody>
                    <a:bodyPr/>
                    <a:lstStyle/>
                    <a:p>
                      <a:pPr algn="ctr" fontAlgn="base"/>
                      <a:r>
                        <a:rPr lang="en-US" sz="1200" b="1">
                          <a:effectLst/>
                        </a:rPr>
                        <a:t>8.</a:t>
                      </a:r>
                    </a:p>
                  </a:txBody>
                  <a:tcPr marL="26436" marR="26436" marT="54042" marB="5404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Its installation process is quite complex.</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It can be installed easily and conveniently.</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932676611"/>
                  </a:ext>
                </a:extLst>
              </a:tr>
              <a:tr h="414529">
                <a:tc>
                  <a:txBody>
                    <a:bodyPr/>
                    <a:lstStyle/>
                    <a:p>
                      <a:pPr algn="ctr" fontAlgn="base"/>
                      <a:r>
                        <a:rPr lang="en-US" sz="1200" b="1">
                          <a:effectLst/>
                        </a:rPr>
                        <a:t>9.</a:t>
                      </a:r>
                    </a:p>
                  </a:txBody>
                  <a:tcPr marL="26436" marR="26436" marT="54042" marB="5404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It is less secure than that of Puppet.</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It is more secure than Ansible.</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291952191"/>
                  </a:ext>
                </a:extLst>
              </a:tr>
              <a:tr h="414529">
                <a:tc>
                  <a:txBody>
                    <a:bodyPr/>
                    <a:lstStyle/>
                    <a:p>
                      <a:pPr algn="ctr" fontAlgn="base"/>
                      <a:r>
                        <a:rPr lang="en-US" sz="1200" b="1">
                          <a:effectLst/>
                        </a:rPr>
                        <a:t>10.</a:t>
                      </a:r>
                    </a:p>
                  </a:txBody>
                  <a:tcPr marL="26436" marR="26436" marT="54042" marB="5404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It does not offer high availability.</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It offers high availability.</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142336185"/>
                  </a:ext>
                </a:extLst>
              </a:tr>
              <a:tr h="414529">
                <a:tc>
                  <a:txBody>
                    <a:bodyPr/>
                    <a:lstStyle/>
                    <a:p>
                      <a:pPr algn="ctr" fontAlgn="base"/>
                      <a:r>
                        <a:rPr lang="en-US" sz="1200" b="1">
                          <a:effectLst/>
                        </a:rPr>
                        <a:t>11.</a:t>
                      </a:r>
                    </a:p>
                  </a:txBody>
                  <a:tcPr marL="26436" marR="26436" marT="54042" marB="5404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Repository of Ansible is Ansible Galaxy.</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Repository of Puppet is Puppet Forge.</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8148802"/>
                  </a:ext>
                </a:extLst>
              </a:tr>
              <a:tr h="650205">
                <a:tc>
                  <a:txBody>
                    <a:bodyPr/>
                    <a:lstStyle/>
                    <a:p>
                      <a:pPr algn="ctr" fontAlgn="base"/>
                      <a:r>
                        <a:rPr lang="en-US" sz="1200" b="1">
                          <a:effectLst/>
                        </a:rPr>
                        <a:t>12.</a:t>
                      </a:r>
                    </a:p>
                  </a:txBody>
                  <a:tcPr marL="26436" marR="26436" marT="54042" marB="5404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It primarily has </a:t>
                      </a:r>
                      <a:r>
                        <a:rPr lang="en-US" sz="1600" b="0" dirty="0">
                          <a:effectLst/>
                        </a:rPr>
                        <a:t>Command Line Interface.</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It has Command Line Interface and Graphical User Interface.</a:t>
                      </a:r>
                    </a:p>
                  </a:txBody>
                  <a:tcPr marL="66090" marR="66090" marT="92525" marB="9252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270485013"/>
                  </a:ext>
                </a:extLst>
              </a:tr>
            </a:tbl>
          </a:graphicData>
        </a:graphic>
      </p:graphicFrame>
    </p:spTree>
    <p:extLst>
      <p:ext uri="{BB962C8B-B14F-4D97-AF65-F5344CB8AC3E}">
        <p14:creationId xmlns:p14="http://schemas.microsoft.com/office/powerpoint/2010/main" val="420059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43115-1D4B-EB9B-8EB8-73B3491F27AF}"/>
              </a:ext>
            </a:extLst>
          </p:cNvPr>
          <p:cNvSpPr>
            <a:spLocks noGrp="1"/>
          </p:cNvSpPr>
          <p:nvPr>
            <p:ph type="title"/>
          </p:nvPr>
        </p:nvSpPr>
        <p:spPr>
          <a:xfrm>
            <a:off x="838200" y="2766218"/>
            <a:ext cx="10515600" cy="1325563"/>
          </a:xfrm>
        </p:spPr>
        <p:txBody>
          <a:bodyPr/>
          <a:lstStyle/>
          <a:p>
            <a:pPr algn="ctr"/>
            <a:r>
              <a:rPr lang="en-US" dirty="0"/>
              <a:t>End of Slides</a:t>
            </a:r>
          </a:p>
        </p:txBody>
      </p:sp>
    </p:spTree>
    <p:extLst>
      <p:ext uri="{BB962C8B-B14F-4D97-AF65-F5344CB8AC3E}">
        <p14:creationId xmlns:p14="http://schemas.microsoft.com/office/powerpoint/2010/main" val="1300734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435</TotalTime>
  <Words>1541</Words>
  <Application>Microsoft Office PowerPoint</Application>
  <PresentationFormat>Widescreen</PresentationFormat>
  <Paragraphs>151</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Display</vt:lpstr>
      <vt:lpstr>Arial</vt:lpstr>
      <vt:lpstr>Nunito</vt:lpstr>
      <vt:lpstr>Source Sans 3</vt:lpstr>
      <vt:lpstr>Verdana</vt:lpstr>
      <vt:lpstr>Office Theme</vt:lpstr>
      <vt:lpstr>Configuration Management Tools</vt:lpstr>
      <vt:lpstr>System Configuration Management </vt:lpstr>
      <vt:lpstr>System Configuration Management</vt:lpstr>
      <vt:lpstr>Processes involved in SCM</vt:lpstr>
      <vt:lpstr>Processes involved in SCM</vt:lpstr>
      <vt:lpstr>Advantages of SCM </vt:lpstr>
      <vt:lpstr>Disadvantages of SCM </vt:lpstr>
      <vt:lpstr>Ansible</vt:lpstr>
      <vt:lpstr>Ansible</vt:lpstr>
      <vt:lpstr>Ansible</vt:lpstr>
      <vt:lpstr>Ansible</vt:lpstr>
      <vt:lpstr>Ansible Playbook </vt:lpstr>
      <vt:lpstr>Ansible Playbook</vt:lpstr>
      <vt:lpstr>Ansible Tower </vt:lpstr>
      <vt:lpstr>Ansible Modules </vt:lpstr>
      <vt:lpstr>Ansible Modules</vt:lpstr>
      <vt:lpstr>Ansible Installation</vt:lpstr>
      <vt:lpstr>Puppet</vt:lpstr>
      <vt:lpstr>Puppet Architecture</vt:lpstr>
      <vt:lpstr>Puppet Architecture</vt:lpstr>
      <vt:lpstr>Puppet</vt:lpstr>
      <vt:lpstr>Puppet Installation</vt:lpstr>
      <vt:lpstr>Ansible Vs Puppet</vt:lpstr>
      <vt:lpstr>End of Slides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Arjun Arora</dc:creator>
  <cp:lastModifiedBy>Arjun Arora</cp:lastModifiedBy>
  <cp:revision>47</cp:revision>
  <dcterms:created xsi:type="dcterms:W3CDTF">2025-02-24T05:24:13Z</dcterms:created>
  <dcterms:modified xsi:type="dcterms:W3CDTF">2025-04-02T09:12:07Z</dcterms:modified>
</cp:coreProperties>
</file>