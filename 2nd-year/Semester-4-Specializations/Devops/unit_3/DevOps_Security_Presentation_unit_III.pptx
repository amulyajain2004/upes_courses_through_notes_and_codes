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86" r:id="rId4"/>
    <p:sldId id="269" r:id="rId5"/>
    <p:sldId id="288" r:id="rId6"/>
    <p:sldId id="289" r:id="rId7"/>
    <p:sldId id="290" r:id="rId8"/>
    <p:sldId id="291" r:id="rId9"/>
    <p:sldId id="271" r:id="rId10"/>
    <p:sldId id="292" r:id="rId11"/>
    <p:sldId id="293" r:id="rId12"/>
    <p:sldId id="294" r:id="rId13"/>
    <p:sldId id="295" r:id="rId14"/>
    <p:sldId id="296" r:id="rId15"/>
    <p:sldId id="277" r:id="rId16"/>
    <p:sldId id="297" r:id="rId17"/>
    <p:sldId id="278" r:id="rId18"/>
    <p:sldId id="298" r:id="rId19"/>
    <p:sldId id="299" r:id="rId20"/>
    <p:sldId id="300" r:id="rId21"/>
    <p:sldId id="30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91" autoAdjust="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620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DevOps Security &amp;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DevOps Security &amp; Compliance refers to the integration of security and regulatory compliance practices into the DevOps lifecycle—from code development and testing to deployment and operations.</a:t>
            </a:r>
          </a:p>
          <a:p>
            <a:endParaRPr dirty="0"/>
          </a:p>
        </p:txBody>
      </p:sp>
      <p:pic>
        <p:nvPicPr>
          <p:cNvPr id="5" name="Picture 4" descr="A diagram of software security&#10;&#10;AI-generated content may be incorrect.">
            <a:extLst>
              <a:ext uri="{FF2B5EF4-FFF2-40B4-BE49-F238E27FC236}">
                <a16:creationId xmlns:a16="http://schemas.microsoft.com/office/drawing/2014/main" id="{BA5AB330-CF8C-F715-13E4-FD4E38587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487" y="4148137"/>
            <a:ext cx="5153025" cy="22193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DevSecOps?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Integration of security into DevOps practices.</a:t>
            </a:r>
            <a:endParaRPr lang="en-US" dirty="0"/>
          </a:p>
          <a:p>
            <a:endParaRPr lang="en-US" dirty="0"/>
          </a:p>
          <a:p>
            <a:r>
              <a:rPr lang="en-US" dirty="0"/>
              <a:t>Rather than treating security as a final step or separate function, it becomes a shared responsibility across development, operations, and security teams.</a:t>
            </a:r>
          </a:p>
          <a:p>
            <a:endParaRPr lang="en-US" dirty="0"/>
          </a:p>
          <a:p>
            <a:r>
              <a:rPr lang="en-US" dirty="0"/>
              <a:t>Faster releases increase risk. Security must scale with automation.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DF683-AEFD-2E10-B5AD-D080D707F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Goals of DevOps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7B6B3-CEE7-848A-2F9F-8A607930C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b="1" dirty="0"/>
              <a:t>Key Goals: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Shift Left:</a:t>
            </a:r>
            <a:r>
              <a:rPr lang="en-US" dirty="0"/>
              <a:t> Catch and fix vulnerabilities early in the software development life cycle (SDLC).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Automation:</a:t>
            </a:r>
            <a:r>
              <a:rPr lang="en-US" dirty="0"/>
              <a:t> Automate security testing (SAST, DAST), secrets detection, vulnerability scanning, etc.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Continuous Monitoring:</a:t>
            </a:r>
            <a:r>
              <a:rPr lang="en-US" dirty="0"/>
              <a:t> Monitor for security threats in real-time across the CI/CD pipeline and production.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Collaboration:</a:t>
            </a:r>
            <a:r>
              <a:rPr lang="en-US" dirty="0"/>
              <a:t> Promote a culture of secure coding and operations through shared accountability.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5075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Static Application Security Testing (SAST)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SAST is a security testing method that analyzes source code, bytecode, or binary code for vulnerabilities without executing the program.</a:t>
            </a:r>
          </a:p>
          <a:p>
            <a:endParaRPr lang="en-US" dirty="0"/>
          </a:p>
          <a:p>
            <a:r>
              <a:rPr lang="en-US" dirty="0"/>
              <a:t> It's often called white-box testing and is typically performed early in the CI/CD pipeline—during development or at build time.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5561E-AB58-910A-1513-C64313DDF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How SAST Works 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2CEF1-B294-817C-11BC-A7C6CCD0D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Scans the application’s static codebase line-by-line.</a:t>
            </a:r>
          </a:p>
          <a:p>
            <a:endParaRPr lang="en-US" dirty="0"/>
          </a:p>
          <a:p>
            <a:r>
              <a:rPr lang="en-US" dirty="0"/>
              <a:t>Identifies security flaws, such as:</a:t>
            </a:r>
          </a:p>
          <a:p>
            <a:r>
              <a:rPr lang="en-US" dirty="0"/>
              <a:t>SQL injection</a:t>
            </a:r>
          </a:p>
          <a:p>
            <a:r>
              <a:rPr lang="en-US" dirty="0"/>
              <a:t>Cross-site scripting (XSS)</a:t>
            </a:r>
          </a:p>
          <a:p>
            <a:r>
              <a:rPr lang="en-US" dirty="0"/>
              <a:t>Hardcoded secrets</a:t>
            </a:r>
          </a:p>
          <a:p>
            <a:r>
              <a:rPr lang="en-US" dirty="0"/>
              <a:t>Insecure function usage </a:t>
            </a:r>
          </a:p>
          <a:p>
            <a:endParaRPr lang="en-US" dirty="0"/>
          </a:p>
          <a:p>
            <a:r>
              <a:rPr lang="en-US" dirty="0"/>
              <a:t>Integrates into IDEs, version control systems, or CI pipelines.</a:t>
            </a:r>
          </a:p>
        </p:txBody>
      </p:sp>
    </p:spTree>
    <p:extLst>
      <p:ext uri="{BB962C8B-B14F-4D97-AF65-F5344CB8AC3E}">
        <p14:creationId xmlns:p14="http://schemas.microsoft.com/office/powerpoint/2010/main" val="3422444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225D1-D97C-61D7-C198-1D3268309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for SAST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99B09-6087-B69F-8E85-684992BB3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Open Source: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</a:t>
            </a:r>
            <a:r>
              <a:rPr lang="en-US" dirty="0">
                <a:highlight>
                  <a:srgbClr val="FFFF00"/>
                </a:highlight>
              </a:rPr>
              <a:t>SonarQube</a:t>
            </a:r>
            <a:r>
              <a:rPr lang="en-US" dirty="0"/>
              <a:t>, Bandit (Python) and</a:t>
            </a:r>
          </a:p>
          <a:p>
            <a:pPr marL="0" indent="0">
              <a:buNone/>
            </a:pPr>
            <a:r>
              <a:rPr lang="en-US" dirty="0"/>
              <a:t>Brakeman (Rails)</a:t>
            </a:r>
          </a:p>
        </p:txBody>
      </p:sp>
    </p:spTree>
    <p:extLst>
      <p:ext uri="{BB962C8B-B14F-4D97-AF65-F5344CB8AC3E}">
        <p14:creationId xmlns:p14="http://schemas.microsoft.com/office/powerpoint/2010/main" val="892022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700B4-8A7D-815B-43CB-127747A9B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SAST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44DF7-C1F9-E7DD-1B0B-05168C350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Early detection of security weakness (shift-left security)</a:t>
            </a:r>
          </a:p>
          <a:p>
            <a:endParaRPr lang="en-US" dirty="0"/>
          </a:p>
          <a:p>
            <a:r>
              <a:rPr lang="en-US" dirty="0"/>
              <a:t>Language-aware analysis for precise findings</a:t>
            </a:r>
          </a:p>
          <a:p>
            <a:endParaRPr lang="en-US" dirty="0"/>
          </a:p>
          <a:p>
            <a:r>
              <a:rPr lang="en-US" dirty="0"/>
              <a:t>No need for a running application (fast and resource-efficient)</a:t>
            </a:r>
          </a:p>
          <a:p>
            <a:endParaRPr lang="en-US" dirty="0"/>
          </a:p>
          <a:p>
            <a:r>
              <a:rPr lang="en-US" dirty="0"/>
              <a:t>Can be automated in the CI pipeline</a:t>
            </a:r>
          </a:p>
        </p:txBody>
      </p:sp>
    </p:spTree>
    <p:extLst>
      <p:ext uri="{BB962C8B-B14F-4D97-AF65-F5344CB8AC3E}">
        <p14:creationId xmlns:p14="http://schemas.microsoft.com/office/powerpoint/2010/main" val="2145654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FCCC4-3BA3-33A5-60B0-9342DD48D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D5CBD-3D67-CB92-87C0-38B4429FD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May produce false positives</a:t>
            </a:r>
          </a:p>
          <a:p>
            <a:endParaRPr lang="en-US" dirty="0"/>
          </a:p>
          <a:p>
            <a:r>
              <a:rPr lang="en-US" dirty="0"/>
              <a:t>Doesn’t catch runtime issues (unlike DAST)</a:t>
            </a:r>
          </a:p>
          <a:p>
            <a:endParaRPr lang="en-US" dirty="0"/>
          </a:p>
          <a:p>
            <a:r>
              <a:rPr lang="en-US" dirty="0"/>
              <a:t>Limited in detecting configuration or environment-specific flaws</a:t>
            </a:r>
          </a:p>
        </p:txBody>
      </p:sp>
    </p:spTree>
    <p:extLst>
      <p:ext uri="{BB962C8B-B14F-4D97-AF65-F5344CB8AC3E}">
        <p14:creationId xmlns:p14="http://schemas.microsoft.com/office/powerpoint/2010/main" val="4132711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Dynamic Application Security Testing (DAST)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DAST is a type of black-box security testing that analyzes a running application from the outside in. </a:t>
            </a:r>
          </a:p>
          <a:p>
            <a:endParaRPr lang="en-US" dirty="0"/>
          </a:p>
          <a:p>
            <a:r>
              <a:rPr lang="en-US" dirty="0"/>
              <a:t>It simulates attacks on the application to find vulnerabilities in real-time, without needing access to the source code.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9F9E6-4D8B-C873-AFD6-B2100982D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DAST Works?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60966-ADF1-A388-36BF-97A972B36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Interacts with the deployed application via HTTP/S, mimicking a real attacker.</a:t>
            </a:r>
          </a:p>
          <a:p>
            <a:endParaRPr lang="en-US" dirty="0"/>
          </a:p>
          <a:p>
            <a:r>
              <a:rPr lang="en-US" dirty="0"/>
              <a:t>Sends crafted inputs to identify vulnerabilities like:</a:t>
            </a:r>
          </a:p>
          <a:p>
            <a:r>
              <a:rPr lang="en-US" dirty="0"/>
              <a:t>SQL Injection</a:t>
            </a:r>
          </a:p>
          <a:p>
            <a:r>
              <a:rPr lang="en-US" dirty="0"/>
              <a:t>Cross-Site Scripting (XSS)</a:t>
            </a:r>
          </a:p>
          <a:p>
            <a:r>
              <a:rPr lang="en-US" dirty="0"/>
              <a:t>Authentication flaws</a:t>
            </a:r>
          </a:p>
          <a:p>
            <a:r>
              <a:rPr lang="en-US" dirty="0"/>
              <a:t>Session management issues</a:t>
            </a:r>
          </a:p>
          <a:p>
            <a:endParaRPr lang="en-US" dirty="0"/>
          </a:p>
          <a:p>
            <a:r>
              <a:rPr lang="en-US" dirty="0"/>
              <a:t>Used mostly in staging or QA environments, and sometimes in production.</a:t>
            </a:r>
          </a:p>
        </p:txBody>
      </p:sp>
    </p:spTree>
    <p:extLst>
      <p:ext uri="{BB962C8B-B14F-4D97-AF65-F5344CB8AC3E}">
        <p14:creationId xmlns:p14="http://schemas.microsoft.com/office/powerpoint/2010/main" val="2456459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9A0B9-65EF-CDB0-DF58-475A8E9D7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Tools for DAST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FD17B-D73D-C1CC-6F2C-D1CB3F676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Source: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OWASP ZAP, w3af</a:t>
            </a:r>
          </a:p>
        </p:txBody>
      </p:sp>
    </p:spTree>
    <p:extLst>
      <p:ext uri="{BB962C8B-B14F-4D97-AF65-F5344CB8AC3E}">
        <p14:creationId xmlns:p14="http://schemas.microsoft.com/office/powerpoint/2010/main" val="1240843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C0FC5-3046-4910-D3E2-B109AE6EB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DAST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6D1D1-98D8-265F-14BD-9BEE1FEBE2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Detects runtime issues missed by static analysis</a:t>
            </a:r>
          </a:p>
          <a:p>
            <a:endParaRPr lang="en-US" dirty="0"/>
          </a:p>
          <a:p>
            <a:r>
              <a:rPr lang="en-US" dirty="0"/>
              <a:t>Language-independent — works with any tech stack</a:t>
            </a:r>
          </a:p>
          <a:p>
            <a:endParaRPr lang="en-US" dirty="0"/>
          </a:p>
          <a:p>
            <a:r>
              <a:rPr lang="en-US" dirty="0"/>
              <a:t>No need for access to the source code</a:t>
            </a:r>
          </a:p>
          <a:p>
            <a:endParaRPr lang="en-US" dirty="0"/>
          </a:p>
          <a:p>
            <a:r>
              <a:rPr lang="en-US" dirty="0"/>
              <a:t>Simulates real-world attack scenarios</a:t>
            </a:r>
          </a:p>
        </p:txBody>
      </p:sp>
    </p:spTree>
    <p:extLst>
      <p:ext uri="{BB962C8B-B14F-4D97-AF65-F5344CB8AC3E}">
        <p14:creationId xmlns:p14="http://schemas.microsoft.com/office/powerpoint/2010/main" val="4436852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49B9F-ED27-0070-2034-E305FB2D0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242DB-929D-E278-993E-D7036DE972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Requires a deployed and running app</a:t>
            </a:r>
          </a:p>
          <a:p>
            <a:endParaRPr lang="en-US" dirty="0"/>
          </a:p>
          <a:p>
            <a:r>
              <a:rPr lang="en-US" dirty="0"/>
              <a:t>Can’t trace issues directly to source code</a:t>
            </a:r>
          </a:p>
          <a:p>
            <a:endParaRPr lang="en-US" dirty="0"/>
          </a:p>
          <a:p>
            <a:r>
              <a:rPr lang="en-US" dirty="0"/>
              <a:t>May have longer scan times</a:t>
            </a:r>
          </a:p>
          <a:p>
            <a:endParaRPr lang="en-US" dirty="0"/>
          </a:p>
          <a:p>
            <a:r>
              <a:rPr lang="en-US" dirty="0"/>
              <a:t>Doesn’t detect issues in hidden paths or dead code</a:t>
            </a:r>
          </a:p>
        </p:txBody>
      </p:sp>
    </p:spTree>
    <p:extLst>
      <p:ext uri="{BB962C8B-B14F-4D97-AF65-F5344CB8AC3E}">
        <p14:creationId xmlns:p14="http://schemas.microsoft.com/office/powerpoint/2010/main" val="10717577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6CAC1-C137-88F0-05BF-7549AC37A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SAST vs. DAST Comparison</a:t>
            </a:r>
          </a:p>
        </p:txBody>
      </p:sp>
      <p:pic>
        <p:nvPicPr>
          <p:cNvPr id="10" name="Content Placeholder 9" descr="A screenshot of a computer">
            <a:extLst>
              <a:ext uri="{FF2B5EF4-FFF2-40B4-BE49-F238E27FC236}">
                <a16:creationId xmlns:a16="http://schemas.microsoft.com/office/drawing/2014/main" id="{CA4B71EC-BCD9-3D35-3BA3-21A869D5AB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8971" y="2053652"/>
            <a:ext cx="7570708" cy="3597640"/>
          </a:xfrm>
        </p:spPr>
      </p:pic>
    </p:spTree>
    <p:extLst>
      <p:ext uri="{BB962C8B-B14F-4D97-AF65-F5344CB8AC3E}">
        <p14:creationId xmlns:p14="http://schemas.microsoft.com/office/powerpoint/2010/main" val="16497973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DevOps and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DevOps and Compliance</a:t>
            </a:r>
            <a:r>
              <a:rPr lang="en-US" sz="2800" dirty="0"/>
              <a:t> refers to ensuring that software development and delivery processes </a:t>
            </a:r>
            <a:r>
              <a:rPr lang="en-US" sz="2800" b="1" dirty="0"/>
              <a:t>adhere to industry regulations, legal standards, and internal policies</a:t>
            </a:r>
            <a:r>
              <a:rPr lang="en-US" sz="2800" dirty="0"/>
              <a:t>, even as teams move rapidly through continuous integration and delivery cycles.</a:t>
            </a:r>
            <a:endParaRPr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13AC0-CCEF-F8CB-F033-DE88BF4A6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Compliance Challenges in DevOps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FE29D-3A85-2701-0A6F-1A898512D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Speed vs. Control</a:t>
            </a:r>
            <a:r>
              <a:rPr lang="en-US" dirty="0"/>
              <a:t>: DevOps emphasizes fast iteration; compliance needs documentation, controls, and traceability.</a:t>
            </a:r>
          </a:p>
          <a:p>
            <a:endParaRPr lang="en-US" dirty="0"/>
          </a:p>
          <a:p>
            <a:r>
              <a:rPr lang="en-US" b="1" dirty="0"/>
              <a:t>Automation Gaps</a:t>
            </a:r>
            <a:r>
              <a:rPr lang="en-US" dirty="0"/>
              <a:t>: Traditional compliance is manual, while DevOps is automated.</a:t>
            </a:r>
          </a:p>
          <a:p>
            <a:endParaRPr lang="en-US" dirty="0"/>
          </a:p>
          <a:p>
            <a:r>
              <a:rPr lang="en-US" b="1" dirty="0"/>
              <a:t>Complex Toolchains</a:t>
            </a:r>
            <a:r>
              <a:rPr lang="en-US" dirty="0"/>
              <a:t>: Multiple tools across CI/CD pipelines complicate policy enforcement.</a:t>
            </a:r>
          </a:p>
        </p:txBody>
      </p:sp>
    </p:spTree>
    <p:extLst>
      <p:ext uri="{BB962C8B-B14F-4D97-AF65-F5344CB8AC3E}">
        <p14:creationId xmlns:p14="http://schemas.microsoft.com/office/powerpoint/2010/main" val="8236760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Compliance Standards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GDPR – Data privacy and protection</a:t>
            </a:r>
          </a:p>
          <a:p>
            <a:r>
              <a:rPr lang="en-US" dirty="0"/>
              <a:t>HIPAA – Health data security</a:t>
            </a:r>
          </a:p>
          <a:p>
            <a:r>
              <a:rPr lang="en-US" dirty="0"/>
              <a:t>PCI-DSS – Payment card security</a:t>
            </a:r>
          </a:p>
          <a:p>
            <a:r>
              <a:rPr lang="en-US" dirty="0"/>
              <a:t>SOC 2 – Trust service principles</a:t>
            </a:r>
          </a:p>
          <a:p>
            <a:r>
              <a:rPr lang="en-US" dirty="0"/>
              <a:t>ISO/IEC 27001 – Information security management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6849D-5B62-507B-DCF2-0B4DE30B6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DevOps Compliance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E20B9-012F-9E74-AF81-327176BF82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Compliance as Code:</a:t>
            </a:r>
          </a:p>
          <a:p>
            <a:r>
              <a:rPr lang="en-US" dirty="0"/>
              <a:t>Use code (e.g., policies, scripts) to automate compliance checks.</a:t>
            </a:r>
          </a:p>
          <a:p>
            <a:r>
              <a:rPr lang="en-US" dirty="0"/>
              <a:t>Examples: OPA (Open Policy Agent), </a:t>
            </a:r>
            <a:r>
              <a:rPr lang="en-US" dirty="0" err="1"/>
              <a:t>InSpec</a:t>
            </a:r>
            <a:r>
              <a:rPr lang="en-US" dirty="0"/>
              <a:t>, </a:t>
            </a:r>
            <a:r>
              <a:rPr lang="en-US" dirty="0" err="1"/>
              <a:t>HashiCorp</a:t>
            </a:r>
            <a:r>
              <a:rPr lang="en-US" dirty="0"/>
              <a:t> Sentinel</a:t>
            </a:r>
          </a:p>
          <a:p>
            <a:endParaRPr lang="en-US" dirty="0"/>
          </a:p>
          <a:p>
            <a:r>
              <a:rPr lang="en-US" dirty="0"/>
              <a:t>Continuous Compliance Monitoring:</a:t>
            </a:r>
          </a:p>
          <a:p>
            <a:r>
              <a:rPr lang="en-US" dirty="0"/>
              <a:t>Real-time validation of configurations, access controls, and audit trails.</a:t>
            </a:r>
          </a:p>
          <a:p>
            <a:endParaRPr lang="en-US" dirty="0"/>
          </a:p>
          <a:p>
            <a:r>
              <a:rPr lang="en-US" dirty="0"/>
              <a:t>Automated Auditing &amp; Reporting:</a:t>
            </a:r>
          </a:p>
          <a:p>
            <a:r>
              <a:rPr lang="en-US" dirty="0"/>
              <a:t>Collect and report on logs, change history, and user activities.</a:t>
            </a:r>
          </a:p>
          <a:p>
            <a:endParaRPr lang="en-US" dirty="0"/>
          </a:p>
          <a:p>
            <a:r>
              <a:rPr lang="en-US" dirty="0"/>
              <a:t>Access Control &amp; Identity Management:</a:t>
            </a:r>
          </a:p>
          <a:p>
            <a:r>
              <a:rPr lang="en-US" dirty="0"/>
              <a:t>Enforce least privilege, MFA, RBAC across pipelines.</a:t>
            </a:r>
          </a:p>
        </p:txBody>
      </p:sp>
    </p:spTree>
    <p:extLst>
      <p:ext uri="{BB962C8B-B14F-4D97-AF65-F5344CB8AC3E}">
        <p14:creationId xmlns:p14="http://schemas.microsoft.com/office/powerpoint/2010/main" val="27604053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4A0A5-7186-019E-0608-763EF0E3E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Benefits of DevOps-Driven Compliance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22369-25A9-471D-5DB3-BC736A6EA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Reduces risk of regulatory fines</a:t>
            </a:r>
          </a:p>
          <a:p>
            <a:r>
              <a:rPr lang="en-US" dirty="0"/>
              <a:t>Accelerates audits with automated reports</a:t>
            </a:r>
          </a:p>
          <a:p>
            <a:r>
              <a:rPr lang="en-US" dirty="0"/>
              <a:t>Increases confidence in release quality</a:t>
            </a:r>
          </a:p>
          <a:p>
            <a:r>
              <a:rPr lang="en-US" dirty="0"/>
              <a:t>Promotes security-by-default culture</a:t>
            </a:r>
          </a:p>
        </p:txBody>
      </p:sp>
    </p:spTree>
    <p:extLst>
      <p:ext uri="{BB962C8B-B14F-4D97-AF65-F5344CB8AC3E}">
        <p14:creationId xmlns:p14="http://schemas.microsoft.com/office/powerpoint/2010/main" val="13056631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31F5E-DE3C-322D-124E-FD1322D2D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Compliance Pitfalls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E8AF6-82E7-8E7D-E296-7A514BC16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Ignoring security in automation scripts.</a:t>
            </a:r>
          </a:p>
          <a:p>
            <a:endParaRPr lang="en-US" dirty="0"/>
          </a:p>
          <a:p>
            <a:r>
              <a:rPr lang="en-US" dirty="0"/>
              <a:t>Poor secrets management.</a:t>
            </a:r>
          </a:p>
          <a:p>
            <a:endParaRPr lang="en-US" dirty="0"/>
          </a:p>
          <a:p>
            <a:r>
              <a:rPr lang="en-US" dirty="0"/>
              <a:t>Inconsistent configuration across environments.</a:t>
            </a:r>
          </a:p>
          <a:p>
            <a:endParaRPr lang="en-US" dirty="0"/>
          </a:p>
          <a:p>
            <a:r>
              <a:rPr lang="en-US" dirty="0"/>
              <a:t>Lack of traceability in change management.</a:t>
            </a:r>
          </a:p>
        </p:txBody>
      </p:sp>
    </p:spTree>
    <p:extLst>
      <p:ext uri="{BB962C8B-B14F-4D97-AF65-F5344CB8AC3E}">
        <p14:creationId xmlns:p14="http://schemas.microsoft.com/office/powerpoint/2010/main" val="24425701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3E921-3D88-EB57-2B37-C062ADF33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0"/>
            <a:ext cx="8229600" cy="1143000"/>
          </a:xfrm>
        </p:spPr>
        <p:txBody>
          <a:bodyPr/>
          <a:lstStyle/>
          <a:p>
            <a:r>
              <a:rPr lang="en-US" dirty="0"/>
              <a:t>End of Slides</a:t>
            </a:r>
          </a:p>
        </p:txBody>
      </p:sp>
    </p:spTree>
    <p:extLst>
      <p:ext uri="{BB962C8B-B14F-4D97-AF65-F5344CB8AC3E}">
        <p14:creationId xmlns:p14="http://schemas.microsoft.com/office/powerpoint/2010/main" val="2242665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752</Words>
  <Application>Microsoft Office PowerPoint</Application>
  <PresentationFormat>On-screen Show (4:3)</PresentationFormat>
  <Paragraphs>123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DevOps Security &amp; Compliance</vt:lpstr>
      <vt:lpstr>What is DevSecOps?</vt:lpstr>
      <vt:lpstr>Key Goals of DevOps Security</vt:lpstr>
      <vt:lpstr>Static Application Security Testing (SAST)</vt:lpstr>
      <vt:lpstr>How SAST Works ? </vt:lpstr>
      <vt:lpstr>Tools for SAST</vt:lpstr>
      <vt:lpstr>Benefits of SAST</vt:lpstr>
      <vt:lpstr>Limitations</vt:lpstr>
      <vt:lpstr>Dynamic Application Security Testing (DAST)</vt:lpstr>
      <vt:lpstr>How DAST Works?</vt:lpstr>
      <vt:lpstr>Tools for DAST</vt:lpstr>
      <vt:lpstr>Benefits of DAST</vt:lpstr>
      <vt:lpstr>Limitations</vt:lpstr>
      <vt:lpstr>SAST vs. DAST Comparison</vt:lpstr>
      <vt:lpstr>DevOps and Compliance</vt:lpstr>
      <vt:lpstr>Compliance Challenges in DevOps</vt:lpstr>
      <vt:lpstr>Key Compliance Standards</vt:lpstr>
      <vt:lpstr>DevOps Compliance Practices</vt:lpstr>
      <vt:lpstr>Benefits of DevOps-Driven Compliance</vt:lpstr>
      <vt:lpstr>Common Compliance Pitfalls</vt:lpstr>
      <vt:lpstr>End of Slides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Arjun Arora</cp:lastModifiedBy>
  <cp:revision>36</cp:revision>
  <dcterms:created xsi:type="dcterms:W3CDTF">2013-01-27T09:14:16Z</dcterms:created>
  <dcterms:modified xsi:type="dcterms:W3CDTF">2025-04-16T08:30:36Z</dcterms:modified>
  <cp:category/>
</cp:coreProperties>
</file>