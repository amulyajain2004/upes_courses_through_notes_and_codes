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9" r:id="rId14"/>
    <p:sldId id="268"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3" r:id="rId28"/>
    <p:sldId id="282" r:id="rId29"/>
    <p:sldId id="284" r:id="rId30"/>
    <p:sldId id="285" r:id="rId3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4" d="100"/>
          <a:sy n="64" d="100"/>
        </p:scale>
        <p:origin x="954"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250D03-81C2-E952-BBEA-1A9F6C6B397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0604842C-E8C8-668C-AB9D-DF491F573CDE}"/>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62CADE08-437F-F8C0-D58F-2560D81F58E9}"/>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C792B6F9-C2CE-7E07-D193-B5C6E2D3BE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6A9AC53-C21B-780B-9A24-7AEF07898E89}"/>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3263528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374C76-CD2D-B64F-B53A-1329F5F331B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26328E9-E414-E5D6-8F40-1A5AAED0FD6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D7EAC83-82DE-B98B-57BB-2F63F8934F5A}"/>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B2A547F7-A831-A837-DB01-CA18FF712E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E95887C-1D67-4C29-FB3F-070D071E9025}"/>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268093469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70A60-2ED2-67AD-307C-1F6BF4307C7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662D7382-AA27-E8F8-3296-B328916C00A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CAB41E6-2CB2-E8B6-77A0-ECD28D33EB87}"/>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B2C05E2A-9E9F-E01A-E2CC-DC3C97A48D6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D9BB8C-8AE0-CE4D-24EE-33132A53FA7E}"/>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40295387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8EB66-906D-931F-EC6B-38247C45752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4CED62C-1DD5-AC6A-2AD8-02DDBB5A204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A6B5B6A5-4AAD-9732-3EB4-CAC9BE1A186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39B9E1B-EE71-FD0C-B0AF-AA086949AAD0}"/>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6" name="Footer Placeholder 5">
            <a:extLst>
              <a:ext uri="{FF2B5EF4-FFF2-40B4-BE49-F238E27FC236}">
                <a16:creationId xmlns:a16="http://schemas.microsoft.com/office/drawing/2014/main" id="{3CC10BDD-188F-8FB5-A54A-95819EA8268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A9147E-5DB7-5D6A-2379-52C84F107C0D}"/>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30401936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2E030A-0BD2-E839-5CAD-1FDECAFE207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ED81460-8D79-BE24-AF3A-FBE9CF06921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C4E292E-0841-1494-FB89-E3A12E0F1AC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B62674C-593F-4A01-C52E-36F069DB043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CD78C3C-C753-07A1-F707-540F5683AF0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BA7267E-0342-CC19-658B-7214DE9ED610}"/>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8" name="Footer Placeholder 7">
            <a:extLst>
              <a:ext uri="{FF2B5EF4-FFF2-40B4-BE49-F238E27FC236}">
                <a16:creationId xmlns:a16="http://schemas.microsoft.com/office/drawing/2014/main" id="{0EADCB87-69BC-514E-6519-D904332849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E441BCD-3E0D-0EFE-1DC8-25CD7E40AC1D}"/>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3033689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0064F-CE7D-039A-87DA-8F22240F6F1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CC914CCB-DD70-EAF4-78C7-3A3BC8E6A231}"/>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4" name="Footer Placeholder 3">
            <a:extLst>
              <a:ext uri="{FF2B5EF4-FFF2-40B4-BE49-F238E27FC236}">
                <a16:creationId xmlns:a16="http://schemas.microsoft.com/office/drawing/2014/main" id="{F46D17D3-FFE7-75C7-E75B-E666B15F2DD1}"/>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065BD6B-35D4-C2E9-D659-73C5BECE1A9B}"/>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27274515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13A28FF-C0B8-139E-1E43-A287A6CAB5B9}"/>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3" name="Footer Placeholder 2">
            <a:extLst>
              <a:ext uri="{FF2B5EF4-FFF2-40B4-BE49-F238E27FC236}">
                <a16:creationId xmlns:a16="http://schemas.microsoft.com/office/drawing/2014/main" id="{90C492C3-8A4B-29CF-3BF1-51F7BD069B0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B513EB4-C9CE-C99F-8990-1AE54EF5E710}"/>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202035935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8FE282-A907-7AE4-7BE2-D51D3113F46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FEC9D60-669E-6D9C-1A9A-7F336F05F49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C455044-3528-34DA-0712-80B7C57220C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7B0D35-91CD-5688-0E13-EF1AC7B6B4A0}"/>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6" name="Footer Placeholder 5">
            <a:extLst>
              <a:ext uri="{FF2B5EF4-FFF2-40B4-BE49-F238E27FC236}">
                <a16:creationId xmlns:a16="http://schemas.microsoft.com/office/drawing/2014/main" id="{9D8185BA-9B38-8170-BDE0-FE21C00CDF1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AF2B7F4-039F-7EE9-7163-4BDDCF67661B}"/>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5247797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23C713-352C-2770-4978-82F3DF9F25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ECA5F87-3815-7360-B078-FE60A1085A35}"/>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51681CF-A276-15C5-F139-1C652F6344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99182B7-841B-A99C-3066-0A96DAF93038}"/>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6" name="Footer Placeholder 5">
            <a:extLst>
              <a:ext uri="{FF2B5EF4-FFF2-40B4-BE49-F238E27FC236}">
                <a16:creationId xmlns:a16="http://schemas.microsoft.com/office/drawing/2014/main" id="{3F6BD7F5-81B1-A922-732A-A968F4CC027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BAFCA3D-17C8-6906-362C-A2AC6C603E8A}"/>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344850655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678D83-EBB4-D2CF-6298-9EAF7906D392}"/>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AD51E9D-4CD3-E595-2FE5-270BE4C9F66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5F57A43-300A-0D13-FFCF-0F23FDD9022B}"/>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8E41269D-8DEB-66EA-EF78-54212FEC4D4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7999F1-78EB-8850-0E64-37643C84C596}"/>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408130606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5385C9-B5FE-BA6E-6A96-99E1A46565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1E97248-9934-A915-9B92-4538A568201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22D256-5B5B-CA7F-51A0-45ABD9D089A0}"/>
              </a:ext>
            </a:extLst>
          </p:cNvPr>
          <p:cNvSpPr>
            <a:spLocks noGrp="1"/>
          </p:cNvSpPr>
          <p:nvPr>
            <p:ph type="dt" sz="half" idx="10"/>
          </p:nvPr>
        </p:nvSpPr>
        <p:spPr/>
        <p:txBody>
          <a:body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925472E4-2E44-C786-E119-085E6BE12A3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2AFDA8F-452F-3300-F314-854E576C6ACC}"/>
              </a:ext>
            </a:extLst>
          </p:cNvPr>
          <p:cNvSpPr>
            <a:spLocks noGrp="1"/>
          </p:cNvSpPr>
          <p:nvPr>
            <p:ph type="sldNum" sz="quarter" idx="12"/>
          </p:nvPr>
        </p:nvSpPr>
        <p:spPr/>
        <p:txBody>
          <a:bodyPr/>
          <a:lstStyle/>
          <a:p>
            <a:fld id="{0C444FBA-6760-4973-A581-70532D3DE58B}" type="slidenum">
              <a:rPr lang="en-US" smtClean="0"/>
              <a:t>‹#›</a:t>
            </a:fld>
            <a:endParaRPr lang="en-US"/>
          </a:p>
        </p:txBody>
      </p:sp>
    </p:spTree>
    <p:extLst>
      <p:ext uri="{BB962C8B-B14F-4D97-AF65-F5344CB8AC3E}">
        <p14:creationId xmlns:p14="http://schemas.microsoft.com/office/powerpoint/2010/main" val="226268661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A8A93F7-B0C8-5808-27DB-E263D0B8A85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4247C0DD-D78B-6881-9B68-C7D1EDAACE1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091346-1AE2-C09B-3983-7C055A588C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849CC6E-FB78-4A6A-BE36-C452628B093E}" type="datetimeFigureOut">
              <a:rPr lang="en-US" smtClean="0"/>
              <a:t>4/2/2025</a:t>
            </a:fld>
            <a:endParaRPr lang="en-US"/>
          </a:p>
        </p:txBody>
      </p:sp>
      <p:sp>
        <p:nvSpPr>
          <p:cNvPr id="5" name="Footer Placeholder 4">
            <a:extLst>
              <a:ext uri="{FF2B5EF4-FFF2-40B4-BE49-F238E27FC236}">
                <a16:creationId xmlns:a16="http://schemas.microsoft.com/office/drawing/2014/main" id="{752FFA94-C05B-5E13-90EB-50235D0D7A0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927157A-8B0D-E80B-34E2-EBC93987FE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0C444FBA-6760-4973-A581-70532D3DE58B}" type="slidenum">
              <a:rPr lang="en-US" smtClean="0"/>
              <a:t>‹#›</a:t>
            </a:fld>
            <a:endParaRPr lang="en-US"/>
          </a:p>
        </p:txBody>
      </p:sp>
    </p:spTree>
    <p:extLst>
      <p:ext uri="{BB962C8B-B14F-4D97-AF65-F5344CB8AC3E}">
        <p14:creationId xmlns:p14="http://schemas.microsoft.com/office/powerpoint/2010/main" val="284013071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F7E93D-AAB4-274F-E612-51EA126832C1}"/>
              </a:ext>
            </a:extLst>
          </p:cNvPr>
          <p:cNvSpPr>
            <a:spLocks noGrp="1"/>
          </p:cNvSpPr>
          <p:nvPr>
            <p:ph type="ctrTitle"/>
          </p:nvPr>
        </p:nvSpPr>
        <p:spPr/>
        <p:txBody>
          <a:bodyPr/>
          <a:lstStyle/>
          <a:p>
            <a:r>
              <a:rPr lang="en-US" dirty="0"/>
              <a:t>Infrastructure Provisioning</a:t>
            </a:r>
          </a:p>
        </p:txBody>
      </p:sp>
      <p:sp>
        <p:nvSpPr>
          <p:cNvPr id="3" name="Subtitle 2">
            <a:extLst>
              <a:ext uri="{FF2B5EF4-FFF2-40B4-BE49-F238E27FC236}">
                <a16:creationId xmlns:a16="http://schemas.microsoft.com/office/drawing/2014/main" id="{36C5552D-B53C-7E08-D071-EF3252FA1127}"/>
              </a:ext>
            </a:extLst>
          </p:cNvPr>
          <p:cNvSpPr>
            <a:spLocks noGrp="1"/>
          </p:cNvSpPr>
          <p:nvPr>
            <p:ph type="subTitle" idx="1"/>
          </p:nvPr>
        </p:nvSpPr>
        <p:spPr/>
        <p:txBody>
          <a:bodyPr/>
          <a:lstStyle/>
          <a:p>
            <a:endParaRPr lang="en-US"/>
          </a:p>
        </p:txBody>
      </p:sp>
    </p:spTree>
    <p:extLst>
      <p:ext uri="{BB962C8B-B14F-4D97-AF65-F5344CB8AC3E}">
        <p14:creationId xmlns:p14="http://schemas.microsoft.com/office/powerpoint/2010/main" val="153181463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038795-ED91-3378-55CB-43569725B2EF}"/>
              </a:ext>
            </a:extLst>
          </p:cNvPr>
          <p:cNvSpPr>
            <a:spLocks noGrp="1"/>
          </p:cNvSpPr>
          <p:nvPr>
            <p:ph type="title"/>
          </p:nvPr>
        </p:nvSpPr>
        <p:spPr/>
        <p:txBody>
          <a:bodyPr/>
          <a:lstStyle/>
          <a:p>
            <a:r>
              <a:rPr lang="en-US" dirty="0"/>
              <a:t>Infrastructure Provisioning</a:t>
            </a:r>
          </a:p>
        </p:txBody>
      </p:sp>
      <p:sp>
        <p:nvSpPr>
          <p:cNvPr id="3" name="Content Placeholder 2">
            <a:extLst>
              <a:ext uri="{FF2B5EF4-FFF2-40B4-BE49-F238E27FC236}">
                <a16:creationId xmlns:a16="http://schemas.microsoft.com/office/drawing/2014/main" id="{FABAEE41-FC8E-0254-AB3A-FB61172EEED6}"/>
              </a:ext>
            </a:extLst>
          </p:cNvPr>
          <p:cNvSpPr>
            <a:spLocks noGrp="1"/>
          </p:cNvSpPr>
          <p:nvPr>
            <p:ph idx="1"/>
          </p:nvPr>
        </p:nvSpPr>
        <p:spPr/>
        <p:txBody>
          <a:bodyPr/>
          <a:lstStyle/>
          <a:p>
            <a:r>
              <a:rPr lang="en-US" b="0" i="0" dirty="0">
                <a:solidFill>
                  <a:srgbClr val="383838"/>
                </a:solidFill>
                <a:effectLst/>
                <a:latin typeface="Open Sans" panose="020B0606030504020204" pitchFamily="34" charset="0"/>
              </a:rPr>
              <a:t>Infrastructure provisioning, as it pertains to IT, involves the preparation, specification, and activation of IT infrastructure components in a way that enables the availability of necessary computing resources when needed. Such resources can include:</a:t>
            </a:r>
          </a:p>
          <a:p>
            <a:endParaRPr lang="en-US" b="0" i="0" dirty="0">
              <a:solidFill>
                <a:srgbClr val="383838"/>
              </a:solidFill>
              <a:effectLst/>
              <a:latin typeface="Open Sans" panose="020B0606030504020204" pitchFamily="34" charset="0"/>
            </a:endParaRPr>
          </a:p>
          <a:p>
            <a:pPr algn="l">
              <a:spcBef>
                <a:spcPts val="750"/>
              </a:spcBef>
              <a:spcAft>
                <a:spcPts val="750"/>
              </a:spcAft>
              <a:buFont typeface="Arial" panose="020B0604020202020204" pitchFamily="34" charset="0"/>
              <a:buChar char="•"/>
            </a:pPr>
            <a:r>
              <a:rPr lang="en-US" b="0" i="0" dirty="0">
                <a:solidFill>
                  <a:srgbClr val="383838"/>
                </a:solidFill>
                <a:effectLst/>
                <a:latin typeface="Open Sans" panose="020B0606030504020204" pitchFamily="34" charset="0"/>
              </a:rPr>
              <a:t>Servers</a:t>
            </a:r>
          </a:p>
          <a:p>
            <a:pPr algn="l">
              <a:spcBef>
                <a:spcPts val="750"/>
              </a:spcBef>
              <a:spcAft>
                <a:spcPts val="750"/>
              </a:spcAft>
              <a:buFont typeface="Arial" panose="020B0604020202020204" pitchFamily="34" charset="0"/>
              <a:buChar char="•"/>
            </a:pPr>
            <a:r>
              <a:rPr lang="en-US" b="0" i="0" dirty="0">
                <a:solidFill>
                  <a:srgbClr val="383838"/>
                </a:solidFill>
                <a:effectLst/>
                <a:latin typeface="Open Sans" panose="020B0606030504020204" pitchFamily="34" charset="0"/>
              </a:rPr>
              <a:t>Networks</a:t>
            </a:r>
          </a:p>
          <a:p>
            <a:pPr algn="l">
              <a:spcBef>
                <a:spcPts val="750"/>
              </a:spcBef>
              <a:spcAft>
                <a:spcPts val="750"/>
              </a:spcAft>
              <a:buFont typeface="Arial" panose="020B0604020202020204" pitchFamily="34" charset="0"/>
              <a:buChar char="•"/>
            </a:pPr>
            <a:r>
              <a:rPr lang="en-US" b="0" i="0" dirty="0">
                <a:solidFill>
                  <a:srgbClr val="383838"/>
                </a:solidFill>
                <a:effectLst/>
                <a:latin typeface="Open Sans" panose="020B0606030504020204" pitchFamily="34" charset="0"/>
              </a:rPr>
              <a:t>Storage</a:t>
            </a:r>
          </a:p>
          <a:p>
            <a:endParaRPr lang="en-US" dirty="0"/>
          </a:p>
        </p:txBody>
      </p:sp>
    </p:spTree>
    <p:extLst>
      <p:ext uri="{BB962C8B-B14F-4D97-AF65-F5344CB8AC3E}">
        <p14:creationId xmlns:p14="http://schemas.microsoft.com/office/powerpoint/2010/main" val="22633870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96171E-6E68-4AA7-3F23-4CA924B097DA}"/>
              </a:ext>
            </a:extLst>
          </p:cNvPr>
          <p:cNvSpPr>
            <a:spLocks noGrp="1"/>
          </p:cNvSpPr>
          <p:nvPr>
            <p:ph type="title"/>
          </p:nvPr>
        </p:nvSpPr>
        <p:spPr/>
        <p:txBody>
          <a:bodyPr/>
          <a:lstStyle/>
          <a:p>
            <a:r>
              <a:rPr lang="en-US" dirty="0"/>
              <a:t>Infrastructure Provisioning</a:t>
            </a:r>
          </a:p>
        </p:txBody>
      </p:sp>
      <p:sp>
        <p:nvSpPr>
          <p:cNvPr id="3" name="Content Placeholder 2">
            <a:extLst>
              <a:ext uri="{FF2B5EF4-FFF2-40B4-BE49-F238E27FC236}">
                <a16:creationId xmlns:a16="http://schemas.microsoft.com/office/drawing/2014/main" id="{0955790C-333C-D1CA-6B76-565DFB607648}"/>
              </a:ext>
            </a:extLst>
          </p:cNvPr>
          <p:cNvSpPr>
            <a:spLocks noGrp="1"/>
          </p:cNvSpPr>
          <p:nvPr>
            <p:ph idx="1"/>
          </p:nvPr>
        </p:nvSpPr>
        <p:spPr/>
        <p:txBody>
          <a:bodyPr>
            <a:normAutofit fontScale="92500" lnSpcReduction="20000"/>
          </a:bodyPr>
          <a:lstStyle/>
          <a:p>
            <a:r>
              <a:rPr lang="en-US" b="0" i="0" dirty="0">
                <a:solidFill>
                  <a:srgbClr val="383838"/>
                </a:solidFill>
                <a:effectLst/>
                <a:latin typeface="Open Sans" panose="020B0606030504020204" pitchFamily="34" charset="0"/>
              </a:rPr>
              <a:t>Provisioning is generally done before configuring and deploying resources either locally or in the cloud; and while it may sound like it involves these steps, provisioning is different from configuration and deployment.</a:t>
            </a:r>
          </a:p>
          <a:p>
            <a:endParaRPr lang="en-US" b="0" i="0" dirty="0">
              <a:solidFill>
                <a:srgbClr val="383838"/>
              </a:solidFill>
              <a:effectLst/>
              <a:latin typeface="Open Sans" panose="020B0606030504020204" pitchFamily="34" charset="0"/>
            </a:endParaRPr>
          </a:p>
          <a:p>
            <a:r>
              <a:rPr lang="en-US" b="0" i="0" dirty="0">
                <a:solidFill>
                  <a:srgbClr val="383838"/>
                </a:solidFill>
                <a:effectLst/>
                <a:latin typeface="Open Sans" panose="020B0606030504020204" pitchFamily="34" charset="0"/>
              </a:rPr>
              <a:t> Provisioning includes the preparatory process needed to get an IT system ready for configuration and can be done in-house or by utilizing </a:t>
            </a:r>
            <a:r>
              <a:rPr lang="en-US" b="0" i="0" u="none" strike="noStrike" dirty="0">
                <a:solidFill>
                  <a:srgbClr val="419C48"/>
                </a:solidFill>
                <a:effectLst/>
                <a:latin typeface="Open Sans" panose="020B0606030504020204" pitchFamily="34" charset="0"/>
              </a:rPr>
              <a:t>Infrastructure as a Service (IaaS)</a:t>
            </a:r>
            <a:r>
              <a:rPr lang="en-US" b="0" i="0" dirty="0">
                <a:solidFill>
                  <a:srgbClr val="383838"/>
                </a:solidFill>
                <a:effectLst/>
                <a:latin typeface="Open Sans" panose="020B0606030504020204" pitchFamily="34" charset="0"/>
              </a:rPr>
              <a:t>. </a:t>
            </a:r>
          </a:p>
          <a:p>
            <a:endParaRPr lang="en-US" b="0" i="0" dirty="0">
              <a:solidFill>
                <a:srgbClr val="383838"/>
              </a:solidFill>
              <a:effectLst/>
              <a:latin typeface="Open Sans" panose="020B0606030504020204" pitchFamily="34" charset="0"/>
            </a:endParaRPr>
          </a:p>
          <a:p>
            <a:r>
              <a:rPr lang="en-US" b="0" i="0" dirty="0">
                <a:solidFill>
                  <a:srgbClr val="383838"/>
                </a:solidFill>
                <a:effectLst/>
                <a:latin typeface="Open Sans" panose="020B0606030504020204" pitchFamily="34" charset="0"/>
              </a:rPr>
              <a:t>During configuration that resources can be allocated, dependencies can be set, and components can be enabled to handle necessary workloads.</a:t>
            </a:r>
            <a:endParaRPr lang="en-US" dirty="0"/>
          </a:p>
        </p:txBody>
      </p:sp>
    </p:spTree>
    <p:extLst>
      <p:ext uri="{BB962C8B-B14F-4D97-AF65-F5344CB8AC3E}">
        <p14:creationId xmlns:p14="http://schemas.microsoft.com/office/powerpoint/2010/main" val="1305147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9FD127-B42A-B87A-4F3A-E71648B7B056}"/>
              </a:ext>
            </a:extLst>
          </p:cNvPr>
          <p:cNvSpPr>
            <a:spLocks noGrp="1"/>
          </p:cNvSpPr>
          <p:nvPr>
            <p:ph type="title"/>
          </p:nvPr>
        </p:nvSpPr>
        <p:spPr/>
        <p:txBody>
          <a:bodyPr>
            <a:normAutofit/>
          </a:bodyPr>
          <a:lstStyle/>
          <a:p>
            <a:r>
              <a:rPr lang="en-US" b="1" i="0" dirty="0">
                <a:solidFill>
                  <a:srgbClr val="1A1A1A"/>
                </a:solidFill>
                <a:effectLst/>
                <a:latin typeface="Roboto Condensed" panose="020F0502020204030204" pitchFamily="2" charset="0"/>
              </a:rPr>
              <a:t>Benefits of Infrastructure Provisioning</a:t>
            </a:r>
            <a:br>
              <a:rPr lang="en-US" b="1" i="0" dirty="0">
                <a:solidFill>
                  <a:srgbClr val="1A1A1A"/>
                </a:solidFill>
                <a:effectLst/>
                <a:latin typeface="Roboto Condensed" panose="020F0502020204030204" pitchFamily="2" charset="0"/>
              </a:rPr>
            </a:br>
            <a:endParaRPr lang="en-US" dirty="0"/>
          </a:p>
        </p:txBody>
      </p:sp>
      <p:sp>
        <p:nvSpPr>
          <p:cNvPr id="3" name="Content Placeholder 2">
            <a:extLst>
              <a:ext uri="{FF2B5EF4-FFF2-40B4-BE49-F238E27FC236}">
                <a16:creationId xmlns:a16="http://schemas.microsoft.com/office/drawing/2014/main" id="{652F9DE8-6720-4D1A-9A17-DAB7F705D169}"/>
              </a:ext>
            </a:extLst>
          </p:cNvPr>
          <p:cNvSpPr>
            <a:spLocks noGrp="1"/>
          </p:cNvSpPr>
          <p:nvPr>
            <p:ph idx="1"/>
          </p:nvPr>
        </p:nvSpPr>
        <p:spPr/>
        <p:txBody>
          <a:bodyPr>
            <a:normAutofit fontScale="77500" lnSpcReduction="20000"/>
          </a:bodyPr>
          <a:lstStyle/>
          <a:p>
            <a:pPr algn="l">
              <a:spcBef>
                <a:spcPts val="750"/>
              </a:spcBef>
              <a:spcAft>
                <a:spcPts val="750"/>
              </a:spcAft>
              <a:buFont typeface="Arial" panose="020B0604020202020204" pitchFamily="34" charset="0"/>
              <a:buChar char="•"/>
            </a:pPr>
            <a:r>
              <a:rPr lang="en-US" b="1" i="0" dirty="0">
                <a:solidFill>
                  <a:srgbClr val="383838"/>
                </a:solidFill>
                <a:effectLst/>
                <a:latin typeface="Open Sans" panose="020B0606030504020204" pitchFamily="34" charset="0"/>
              </a:rPr>
              <a:t>Efficiency:</a:t>
            </a:r>
            <a:r>
              <a:rPr lang="en-US" b="0" i="0" dirty="0">
                <a:solidFill>
                  <a:srgbClr val="383838"/>
                </a:solidFill>
                <a:effectLst/>
                <a:latin typeface="Open Sans" panose="020B0606030504020204" pitchFamily="34" charset="0"/>
              </a:rPr>
              <a:t> Provisioning significantly reduces the time required to set up resources, streamlining processes and enabling quicker deployment.</a:t>
            </a:r>
          </a:p>
          <a:p>
            <a:pPr algn="l">
              <a:spcBef>
                <a:spcPts val="750"/>
              </a:spcBef>
              <a:spcAft>
                <a:spcPts val="750"/>
              </a:spcAft>
              <a:buFont typeface="Arial" panose="020B0604020202020204" pitchFamily="34" charset="0"/>
              <a:buChar char="•"/>
            </a:pPr>
            <a:r>
              <a:rPr lang="en-US" b="1" i="0" dirty="0">
                <a:solidFill>
                  <a:srgbClr val="383838"/>
                </a:solidFill>
                <a:effectLst/>
                <a:latin typeface="Open Sans" panose="020B0606030504020204" pitchFamily="34" charset="0"/>
              </a:rPr>
              <a:t>Consistency:</a:t>
            </a:r>
            <a:r>
              <a:rPr lang="en-US" b="0" i="0" dirty="0">
                <a:solidFill>
                  <a:srgbClr val="383838"/>
                </a:solidFill>
                <a:effectLst/>
                <a:latin typeface="Open Sans" panose="020B0606030504020204" pitchFamily="34" charset="0"/>
              </a:rPr>
              <a:t> Ensures consistent configurations and setups, minimizing the chances of human error that can often accompany manual processes.</a:t>
            </a:r>
          </a:p>
          <a:p>
            <a:pPr algn="l">
              <a:spcBef>
                <a:spcPts val="750"/>
              </a:spcBef>
              <a:spcAft>
                <a:spcPts val="750"/>
              </a:spcAft>
              <a:buFont typeface="Arial" panose="020B0604020202020204" pitchFamily="34" charset="0"/>
              <a:buChar char="•"/>
            </a:pPr>
            <a:r>
              <a:rPr lang="en-US" b="1" i="0" dirty="0">
                <a:solidFill>
                  <a:srgbClr val="383838"/>
                </a:solidFill>
                <a:effectLst/>
                <a:latin typeface="Open Sans" panose="020B0606030504020204" pitchFamily="34" charset="0"/>
              </a:rPr>
              <a:t>Productivity:</a:t>
            </a:r>
            <a:r>
              <a:rPr lang="en-US" b="0" i="0" dirty="0">
                <a:solidFill>
                  <a:srgbClr val="383838"/>
                </a:solidFill>
                <a:effectLst/>
                <a:latin typeface="Open Sans" panose="020B0606030504020204" pitchFamily="34" charset="0"/>
              </a:rPr>
              <a:t> Provisioning reduces the need for extensive intervention by team members, which can increase productivity and enable IT teams to focus more time on revenue-generating initiatives or projects to enhance user experience.</a:t>
            </a:r>
          </a:p>
          <a:p>
            <a:pPr algn="l">
              <a:spcBef>
                <a:spcPts val="750"/>
              </a:spcBef>
              <a:spcAft>
                <a:spcPts val="750"/>
              </a:spcAft>
              <a:buFont typeface="Arial" panose="020B0604020202020204" pitchFamily="34" charset="0"/>
              <a:buChar char="•"/>
            </a:pPr>
            <a:r>
              <a:rPr lang="en-US" b="1" i="0" dirty="0">
                <a:solidFill>
                  <a:srgbClr val="383838"/>
                </a:solidFill>
                <a:effectLst/>
                <a:latin typeface="Open Sans" panose="020B0606030504020204" pitchFamily="34" charset="0"/>
              </a:rPr>
              <a:t>Scalability:</a:t>
            </a:r>
            <a:r>
              <a:rPr lang="en-US" b="0" i="0" dirty="0">
                <a:solidFill>
                  <a:srgbClr val="383838"/>
                </a:solidFill>
                <a:effectLst/>
                <a:latin typeface="Open Sans" panose="020B0606030504020204" pitchFamily="34" charset="0"/>
              </a:rPr>
              <a:t> With </a:t>
            </a:r>
            <a:r>
              <a:rPr lang="en-US" dirty="0">
                <a:solidFill>
                  <a:srgbClr val="383838"/>
                </a:solidFill>
                <a:latin typeface="Open Sans" panose="020B0606030504020204" pitchFamily="34" charset="0"/>
              </a:rPr>
              <a:t>infrastructure provisioning </a:t>
            </a:r>
            <a:r>
              <a:rPr lang="en-US" b="0" i="0" dirty="0">
                <a:solidFill>
                  <a:srgbClr val="383838"/>
                </a:solidFill>
                <a:effectLst/>
                <a:latin typeface="Open Sans" panose="020B0606030504020204" pitchFamily="34" charset="0"/>
              </a:rPr>
              <a:t>it’s easier to scale operations and deploy resources across various environments efficiently.</a:t>
            </a:r>
          </a:p>
          <a:p>
            <a:pPr algn="l">
              <a:spcBef>
                <a:spcPts val="750"/>
              </a:spcBef>
              <a:spcAft>
                <a:spcPts val="750"/>
              </a:spcAft>
              <a:buFont typeface="Arial" panose="020B0604020202020204" pitchFamily="34" charset="0"/>
              <a:buChar char="•"/>
            </a:pPr>
            <a:r>
              <a:rPr lang="en-US" b="1" i="0" dirty="0">
                <a:solidFill>
                  <a:srgbClr val="383838"/>
                </a:solidFill>
                <a:effectLst/>
                <a:latin typeface="Open Sans" panose="020B0606030504020204" pitchFamily="34" charset="0"/>
              </a:rPr>
              <a:t>Less Downtime:</a:t>
            </a:r>
            <a:r>
              <a:rPr lang="en-US" b="0" i="0" dirty="0">
                <a:solidFill>
                  <a:srgbClr val="383838"/>
                </a:solidFill>
                <a:effectLst/>
                <a:latin typeface="Open Sans" panose="020B0606030504020204" pitchFamily="34" charset="0"/>
              </a:rPr>
              <a:t> </a:t>
            </a:r>
            <a:r>
              <a:rPr lang="en-US" dirty="0">
                <a:solidFill>
                  <a:srgbClr val="383838"/>
                </a:solidFill>
                <a:latin typeface="Open Sans" panose="020B0606030504020204" pitchFamily="34" charset="0"/>
              </a:rPr>
              <a:t>H</a:t>
            </a:r>
            <a:r>
              <a:rPr lang="en-US" b="0" i="0" dirty="0">
                <a:solidFill>
                  <a:srgbClr val="383838"/>
                </a:solidFill>
                <a:effectLst/>
                <a:latin typeface="Open Sans" panose="020B0606030504020204" pitchFamily="34" charset="0"/>
              </a:rPr>
              <a:t>elps in quick and consistent resource provisioning, reducing downtime and enhancing overall system reliability.</a:t>
            </a:r>
          </a:p>
          <a:p>
            <a:endParaRPr lang="en-US" dirty="0"/>
          </a:p>
        </p:txBody>
      </p:sp>
    </p:spTree>
    <p:extLst>
      <p:ext uri="{BB962C8B-B14F-4D97-AF65-F5344CB8AC3E}">
        <p14:creationId xmlns:p14="http://schemas.microsoft.com/office/powerpoint/2010/main" val="238798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A23260-9D5E-C193-1B10-F12476A68D1D}"/>
              </a:ext>
            </a:extLst>
          </p:cNvPr>
          <p:cNvSpPr>
            <a:spLocks noGrp="1"/>
          </p:cNvSpPr>
          <p:nvPr>
            <p:ph type="title"/>
          </p:nvPr>
        </p:nvSpPr>
        <p:spPr/>
        <p:txBody>
          <a:bodyPr/>
          <a:lstStyle/>
          <a:p>
            <a:r>
              <a:rPr lang="en-US" b="1" i="0" dirty="0">
                <a:solidFill>
                  <a:srgbClr val="1A1A1A"/>
                </a:solidFill>
                <a:effectLst/>
                <a:latin typeface="Roboto Condensed" panose="02000000000000000000" pitchFamily="2" charset="0"/>
              </a:rPr>
              <a:t>Types of Infrastructure Provisioning</a:t>
            </a:r>
            <a:br>
              <a:rPr lang="en-US" b="1" i="0" dirty="0">
                <a:solidFill>
                  <a:srgbClr val="1A1A1A"/>
                </a:solidFill>
                <a:effectLst/>
                <a:latin typeface="Roboto Condensed" panose="02000000000000000000" pitchFamily="2" charset="0"/>
              </a:rPr>
            </a:br>
            <a:endParaRPr lang="en-US" dirty="0"/>
          </a:p>
        </p:txBody>
      </p:sp>
      <p:pic>
        <p:nvPicPr>
          <p:cNvPr id="5" name="Content Placeholder 4" descr="A group of icons with text&#10;&#10;AI-generated content may be incorrect.">
            <a:extLst>
              <a:ext uri="{FF2B5EF4-FFF2-40B4-BE49-F238E27FC236}">
                <a16:creationId xmlns:a16="http://schemas.microsoft.com/office/drawing/2014/main" id="{AC4E4866-46EC-FF94-EFF8-B13EE795699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70870" y="2668249"/>
            <a:ext cx="9871950" cy="2180770"/>
          </a:xfrm>
        </p:spPr>
      </p:pic>
    </p:spTree>
    <p:extLst>
      <p:ext uri="{BB962C8B-B14F-4D97-AF65-F5344CB8AC3E}">
        <p14:creationId xmlns:p14="http://schemas.microsoft.com/office/powerpoint/2010/main" val="310164646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4E4BEC-C008-AF5E-27D8-CAFCD0ACA996}"/>
              </a:ext>
            </a:extLst>
          </p:cNvPr>
          <p:cNvSpPr>
            <a:spLocks noGrp="1"/>
          </p:cNvSpPr>
          <p:nvPr>
            <p:ph type="title"/>
          </p:nvPr>
        </p:nvSpPr>
        <p:spPr/>
        <p:txBody>
          <a:bodyPr/>
          <a:lstStyle/>
          <a:p>
            <a:r>
              <a:rPr lang="en-US" b="1" i="0" dirty="0">
                <a:solidFill>
                  <a:srgbClr val="1A1A1A"/>
                </a:solidFill>
                <a:effectLst/>
                <a:latin typeface="Roboto Condensed" panose="02000000000000000000" pitchFamily="2" charset="0"/>
              </a:rPr>
              <a:t>Types of Infrastructure Provisioning</a:t>
            </a:r>
            <a:endParaRPr lang="en-US" dirty="0"/>
          </a:p>
        </p:txBody>
      </p:sp>
      <p:sp>
        <p:nvSpPr>
          <p:cNvPr id="3" name="Content Placeholder 2">
            <a:extLst>
              <a:ext uri="{FF2B5EF4-FFF2-40B4-BE49-F238E27FC236}">
                <a16:creationId xmlns:a16="http://schemas.microsoft.com/office/drawing/2014/main" id="{6A38755F-D264-2282-62DF-3EC1C4483A5A}"/>
              </a:ext>
            </a:extLst>
          </p:cNvPr>
          <p:cNvSpPr>
            <a:spLocks noGrp="1"/>
          </p:cNvSpPr>
          <p:nvPr>
            <p:ph idx="1"/>
          </p:nvPr>
        </p:nvSpPr>
        <p:spPr/>
        <p:txBody>
          <a:bodyPr>
            <a:normAutofit lnSpcReduction="10000"/>
          </a:bodyPr>
          <a:lstStyle/>
          <a:p>
            <a:pPr algn="l">
              <a:spcBef>
                <a:spcPts val="1500"/>
              </a:spcBef>
              <a:spcAft>
                <a:spcPts val="1500"/>
              </a:spcAft>
            </a:pPr>
            <a:r>
              <a:rPr lang="en-US" b="1" i="0" dirty="0">
                <a:solidFill>
                  <a:srgbClr val="1A1A1A"/>
                </a:solidFill>
                <a:effectLst/>
                <a:latin typeface="Roboto Condensed" panose="02000000000000000000" pitchFamily="2" charset="0"/>
              </a:rPr>
              <a:t>Cloud Infrastructure Provisioning</a:t>
            </a:r>
          </a:p>
          <a:p>
            <a:pPr algn="l">
              <a:spcBef>
                <a:spcPts val="1500"/>
              </a:spcBef>
              <a:spcAft>
                <a:spcPts val="1575"/>
              </a:spcAft>
            </a:pPr>
            <a:r>
              <a:rPr lang="en-US" b="0" i="0" dirty="0">
                <a:solidFill>
                  <a:srgbClr val="383838"/>
                </a:solidFill>
                <a:effectLst/>
                <a:latin typeface="Open Sans" panose="020B0606030504020204" pitchFamily="34" charset="0"/>
              </a:rPr>
              <a:t>The goal of cloud infrastructure provisioning is to efficiently establish and manage the resources needed to run applications and services in a cloud environment.</a:t>
            </a:r>
          </a:p>
          <a:p>
            <a:pPr algn="l">
              <a:spcBef>
                <a:spcPts val="1500"/>
              </a:spcBef>
              <a:spcAft>
                <a:spcPts val="1500"/>
              </a:spcAft>
            </a:pPr>
            <a:r>
              <a:rPr lang="en-US" b="1" i="0" dirty="0">
                <a:solidFill>
                  <a:srgbClr val="1A1A1A"/>
                </a:solidFill>
                <a:effectLst/>
                <a:latin typeface="Roboto Condensed" panose="02000000000000000000" pitchFamily="2" charset="0"/>
              </a:rPr>
              <a:t>Network Provisioning</a:t>
            </a:r>
          </a:p>
          <a:p>
            <a:pPr algn="l">
              <a:spcBef>
                <a:spcPts val="1500"/>
              </a:spcBef>
              <a:spcAft>
                <a:spcPts val="1575"/>
              </a:spcAft>
            </a:pPr>
            <a:r>
              <a:rPr lang="en-US" b="0" i="0" dirty="0">
                <a:solidFill>
                  <a:srgbClr val="383838"/>
                </a:solidFill>
                <a:effectLst/>
                <a:latin typeface="Open Sans" panose="020B0606030504020204" pitchFamily="34" charset="0"/>
              </a:rPr>
              <a:t>Network provisioning involves the configuration of essential components within an enterprise network, such as routers, switches, firewalls, and access points.</a:t>
            </a:r>
          </a:p>
          <a:p>
            <a:pPr algn="l">
              <a:spcBef>
                <a:spcPts val="1500"/>
              </a:spcBef>
              <a:spcAft>
                <a:spcPts val="1575"/>
              </a:spcAft>
            </a:pPr>
            <a:endParaRPr lang="en-US" b="0" i="0" dirty="0">
              <a:solidFill>
                <a:srgbClr val="383838"/>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91452999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1BCEDA-69CE-A3FE-32D9-440DD82A07E3}"/>
              </a:ext>
            </a:extLst>
          </p:cNvPr>
          <p:cNvSpPr>
            <a:spLocks noGrp="1"/>
          </p:cNvSpPr>
          <p:nvPr>
            <p:ph type="title"/>
          </p:nvPr>
        </p:nvSpPr>
        <p:spPr/>
        <p:txBody>
          <a:bodyPr/>
          <a:lstStyle/>
          <a:p>
            <a:r>
              <a:rPr lang="en-US" b="1" i="0" dirty="0">
                <a:solidFill>
                  <a:srgbClr val="1A1A1A"/>
                </a:solidFill>
                <a:effectLst/>
                <a:latin typeface="Roboto Condensed" panose="02000000000000000000" pitchFamily="2" charset="0"/>
              </a:rPr>
              <a:t>Types of Infrastructure Provisioning</a:t>
            </a:r>
            <a:endParaRPr lang="en-US" dirty="0"/>
          </a:p>
        </p:txBody>
      </p:sp>
      <p:sp>
        <p:nvSpPr>
          <p:cNvPr id="3" name="Content Placeholder 2">
            <a:extLst>
              <a:ext uri="{FF2B5EF4-FFF2-40B4-BE49-F238E27FC236}">
                <a16:creationId xmlns:a16="http://schemas.microsoft.com/office/drawing/2014/main" id="{75DBA4D5-D6A4-941A-508F-A5D607765DD2}"/>
              </a:ext>
            </a:extLst>
          </p:cNvPr>
          <p:cNvSpPr>
            <a:spLocks noGrp="1"/>
          </p:cNvSpPr>
          <p:nvPr>
            <p:ph idx="1"/>
          </p:nvPr>
        </p:nvSpPr>
        <p:spPr/>
        <p:txBody>
          <a:bodyPr>
            <a:normAutofit fontScale="85000" lnSpcReduction="20000"/>
          </a:bodyPr>
          <a:lstStyle/>
          <a:p>
            <a:pPr algn="l">
              <a:spcBef>
                <a:spcPts val="1500"/>
              </a:spcBef>
              <a:spcAft>
                <a:spcPts val="1500"/>
              </a:spcAft>
            </a:pPr>
            <a:r>
              <a:rPr lang="en-US" b="1" i="0" dirty="0">
                <a:solidFill>
                  <a:srgbClr val="1A1A1A"/>
                </a:solidFill>
                <a:effectLst/>
                <a:latin typeface="Roboto Condensed" panose="02000000000000000000" pitchFamily="2" charset="0"/>
              </a:rPr>
              <a:t>Server Provisioning</a:t>
            </a:r>
          </a:p>
          <a:p>
            <a:pPr algn="l">
              <a:spcBef>
                <a:spcPts val="1500"/>
              </a:spcBef>
              <a:spcAft>
                <a:spcPts val="1575"/>
              </a:spcAft>
            </a:pPr>
            <a:r>
              <a:rPr lang="en-US" b="0" i="0" dirty="0">
                <a:solidFill>
                  <a:srgbClr val="383838"/>
                </a:solidFill>
                <a:effectLst/>
                <a:latin typeface="Open Sans" panose="020B0606030504020204" pitchFamily="34" charset="0"/>
              </a:rPr>
              <a:t>Server provisioning is the process of setting up and configuring various servers, whether they are physical hardware or </a:t>
            </a:r>
            <a:r>
              <a:rPr lang="en-US" b="0" i="0" u="none" strike="noStrike" dirty="0">
                <a:solidFill>
                  <a:srgbClr val="419C48"/>
                </a:solidFill>
                <a:effectLst/>
                <a:latin typeface="Open Sans" panose="020B0606030504020204" pitchFamily="34" charset="0"/>
              </a:rPr>
              <a:t>virtual machines</a:t>
            </a:r>
            <a:r>
              <a:rPr lang="en-US" b="0" i="0" dirty="0">
                <a:solidFill>
                  <a:srgbClr val="383838"/>
                </a:solidFill>
                <a:effectLst/>
                <a:latin typeface="Open Sans" panose="020B0606030504020204" pitchFamily="34" charset="0"/>
              </a:rPr>
              <a:t> (VMs). It involves the installation and configuration of necessary software, including operating systems (OS), applications, and middleware.</a:t>
            </a:r>
          </a:p>
          <a:p>
            <a:pPr algn="l">
              <a:spcBef>
                <a:spcPts val="1500"/>
              </a:spcBef>
              <a:spcAft>
                <a:spcPts val="1500"/>
              </a:spcAft>
            </a:pPr>
            <a:r>
              <a:rPr lang="en-US" b="1" i="0" dirty="0">
                <a:solidFill>
                  <a:srgbClr val="1A1A1A"/>
                </a:solidFill>
                <a:effectLst/>
                <a:latin typeface="Roboto Condensed" panose="02000000000000000000" pitchFamily="2" charset="0"/>
              </a:rPr>
              <a:t>Account Provisioning</a:t>
            </a:r>
          </a:p>
          <a:p>
            <a:pPr algn="l">
              <a:spcBef>
                <a:spcPts val="1500"/>
              </a:spcBef>
              <a:spcAft>
                <a:spcPts val="1575"/>
              </a:spcAft>
            </a:pPr>
            <a:r>
              <a:rPr lang="en-US" b="0" i="0" dirty="0">
                <a:solidFill>
                  <a:srgbClr val="383838"/>
                </a:solidFill>
                <a:effectLst/>
                <a:latin typeface="Open Sans" panose="020B0606030504020204" pitchFamily="34" charset="0"/>
              </a:rPr>
              <a:t>Account provisioning (also referred to as user provisioning) is the management of user accounts across various systems and applications used by an organization and involves setting up initial accounts with the correct credentials, access rights, permissions, user roles.</a:t>
            </a:r>
          </a:p>
          <a:p>
            <a:pPr algn="l">
              <a:spcBef>
                <a:spcPts val="1500"/>
              </a:spcBef>
              <a:spcAft>
                <a:spcPts val="1575"/>
              </a:spcAft>
            </a:pPr>
            <a:endParaRPr lang="en-US" b="0" i="0" dirty="0">
              <a:solidFill>
                <a:srgbClr val="383838"/>
              </a:solidFill>
              <a:effectLst/>
              <a:latin typeface="Open Sans" panose="020B0606030504020204" pitchFamily="34" charset="0"/>
            </a:endParaRPr>
          </a:p>
          <a:p>
            <a:endParaRPr lang="en-US" dirty="0"/>
          </a:p>
        </p:txBody>
      </p:sp>
    </p:spTree>
    <p:extLst>
      <p:ext uri="{BB962C8B-B14F-4D97-AF65-F5344CB8AC3E}">
        <p14:creationId xmlns:p14="http://schemas.microsoft.com/office/powerpoint/2010/main" val="251671099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DE19FA-92B7-516E-24D6-1357E49AB241}"/>
              </a:ext>
            </a:extLst>
          </p:cNvPr>
          <p:cNvSpPr>
            <a:spLocks noGrp="1"/>
          </p:cNvSpPr>
          <p:nvPr>
            <p:ph type="title"/>
          </p:nvPr>
        </p:nvSpPr>
        <p:spPr/>
        <p:txBody>
          <a:bodyPr/>
          <a:lstStyle/>
          <a:p>
            <a:r>
              <a:rPr lang="en-US" b="1" i="0" dirty="0">
                <a:solidFill>
                  <a:srgbClr val="1A1A1A"/>
                </a:solidFill>
                <a:effectLst/>
                <a:latin typeface="Roboto Condensed" panose="02000000000000000000" pitchFamily="2" charset="0"/>
              </a:rPr>
              <a:t>Types of Infrastructure Provisioning</a:t>
            </a:r>
            <a:endParaRPr lang="en-US" dirty="0"/>
          </a:p>
        </p:txBody>
      </p:sp>
      <p:sp>
        <p:nvSpPr>
          <p:cNvPr id="3" name="Content Placeholder 2">
            <a:extLst>
              <a:ext uri="{FF2B5EF4-FFF2-40B4-BE49-F238E27FC236}">
                <a16:creationId xmlns:a16="http://schemas.microsoft.com/office/drawing/2014/main" id="{988A11AB-3459-5FCB-E441-686A8AC20C02}"/>
              </a:ext>
            </a:extLst>
          </p:cNvPr>
          <p:cNvSpPr>
            <a:spLocks noGrp="1"/>
          </p:cNvSpPr>
          <p:nvPr>
            <p:ph idx="1"/>
          </p:nvPr>
        </p:nvSpPr>
        <p:spPr/>
        <p:txBody>
          <a:bodyPr/>
          <a:lstStyle/>
          <a:p>
            <a:pPr algn="l">
              <a:spcBef>
                <a:spcPts val="1500"/>
              </a:spcBef>
              <a:spcAft>
                <a:spcPts val="1500"/>
              </a:spcAft>
            </a:pPr>
            <a:r>
              <a:rPr lang="en-US" b="1" i="0" dirty="0">
                <a:solidFill>
                  <a:srgbClr val="1A1A1A"/>
                </a:solidFill>
                <a:effectLst/>
                <a:latin typeface="Roboto Condensed" panose="02000000000000000000" pitchFamily="2" charset="0"/>
              </a:rPr>
              <a:t>Service Provisioning</a:t>
            </a:r>
          </a:p>
          <a:p>
            <a:pPr algn="l">
              <a:spcBef>
                <a:spcPts val="1500"/>
              </a:spcBef>
              <a:spcAft>
                <a:spcPts val="1575"/>
              </a:spcAft>
            </a:pPr>
            <a:r>
              <a:rPr lang="en-US" b="0" i="0" dirty="0">
                <a:solidFill>
                  <a:srgbClr val="383838"/>
                </a:solidFill>
                <a:effectLst/>
                <a:latin typeface="Open Sans" panose="020B0606030504020204" pitchFamily="34" charset="0"/>
              </a:rPr>
              <a:t>Service provisioning refers to the process of setting up and preparing IT services and applications end users may need to complete their daily tasks. Service provisioning commonly includes tasks like configuration, installation, and activation, ensuring that these services are operational and ready for use by authorized users or systems.</a:t>
            </a:r>
          </a:p>
          <a:p>
            <a:endParaRPr lang="en-US" dirty="0"/>
          </a:p>
        </p:txBody>
      </p:sp>
    </p:spTree>
    <p:extLst>
      <p:ext uri="{BB962C8B-B14F-4D97-AF65-F5344CB8AC3E}">
        <p14:creationId xmlns:p14="http://schemas.microsoft.com/office/powerpoint/2010/main" val="7262049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92019-4D88-936F-11FC-D283F7E723AC}"/>
              </a:ext>
            </a:extLst>
          </p:cNvPr>
          <p:cNvSpPr>
            <a:spLocks noGrp="1"/>
          </p:cNvSpPr>
          <p:nvPr>
            <p:ph type="title"/>
          </p:nvPr>
        </p:nvSpPr>
        <p:spPr/>
        <p:txBody>
          <a:bodyPr/>
          <a:lstStyle/>
          <a:p>
            <a:r>
              <a:rPr lang="en-US" dirty="0"/>
              <a:t>Infrastructure Provisioning Tools</a:t>
            </a:r>
          </a:p>
        </p:txBody>
      </p:sp>
      <p:sp>
        <p:nvSpPr>
          <p:cNvPr id="3" name="Content Placeholder 2">
            <a:extLst>
              <a:ext uri="{FF2B5EF4-FFF2-40B4-BE49-F238E27FC236}">
                <a16:creationId xmlns:a16="http://schemas.microsoft.com/office/drawing/2014/main" id="{FD818404-4884-888F-42F9-788CD63422CB}"/>
              </a:ext>
            </a:extLst>
          </p:cNvPr>
          <p:cNvSpPr>
            <a:spLocks noGrp="1"/>
          </p:cNvSpPr>
          <p:nvPr>
            <p:ph idx="1"/>
          </p:nvPr>
        </p:nvSpPr>
        <p:spPr>
          <a:xfrm>
            <a:off x="614597" y="1825625"/>
            <a:ext cx="10987790" cy="4351338"/>
          </a:xfrm>
        </p:spPr>
        <p:txBody>
          <a:bodyPr>
            <a:normAutofit fontScale="92500" lnSpcReduction="10000"/>
          </a:bodyPr>
          <a:lstStyle/>
          <a:p>
            <a:r>
              <a:rPr lang="en-US" sz="3200" b="1" i="0" u="sng" dirty="0">
                <a:solidFill>
                  <a:srgbClr val="1F1F1F"/>
                </a:solidFill>
                <a:effectLst/>
                <a:latin typeface="Google Sans"/>
              </a:rPr>
              <a:t>Terraform</a:t>
            </a:r>
          </a:p>
          <a:p>
            <a:r>
              <a:rPr lang="en-US" b="0" i="0" dirty="0">
                <a:solidFill>
                  <a:srgbClr val="273239"/>
                </a:solidFill>
                <a:effectLst/>
                <a:latin typeface="Nunito" pitchFamily="2" charset="0"/>
              </a:rPr>
              <a:t>Terraform is an open-source infrastructure as code (</a:t>
            </a:r>
            <a:r>
              <a:rPr lang="en-US" b="0" i="0" dirty="0" err="1">
                <a:solidFill>
                  <a:srgbClr val="273239"/>
                </a:solidFill>
                <a:effectLst/>
                <a:latin typeface="Nunito" pitchFamily="2" charset="0"/>
              </a:rPr>
              <a:t>IaC</a:t>
            </a:r>
            <a:r>
              <a:rPr lang="en-US" b="0" i="0" dirty="0">
                <a:solidFill>
                  <a:srgbClr val="273239"/>
                </a:solidFill>
                <a:effectLst/>
                <a:latin typeface="Nunito" pitchFamily="2" charset="0"/>
              </a:rPr>
              <a:t>) software tool which can be used to provision the infrastructure of a cloud platform. </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The Hashi Corp Configuration Language(HCL) scripts which have been used to provision infrastructure can be human-readable configuration files that can be versioned, reused, and shared.</a:t>
            </a:r>
          </a:p>
          <a:p>
            <a:endParaRPr lang="en-US" dirty="0">
              <a:solidFill>
                <a:srgbClr val="273239"/>
              </a:solidFill>
              <a:latin typeface="Nunito" pitchFamily="2" charset="0"/>
            </a:endParaRPr>
          </a:p>
          <a:p>
            <a:r>
              <a:rPr lang="en-US" dirty="0">
                <a:solidFill>
                  <a:srgbClr val="273239"/>
                </a:solidFill>
                <a:latin typeface="Nunito" pitchFamily="2" charset="0"/>
              </a:rPr>
              <a:t>One</a:t>
            </a:r>
            <a:r>
              <a:rPr lang="en-US" b="0" i="0" dirty="0">
                <a:solidFill>
                  <a:srgbClr val="273239"/>
                </a:solidFill>
                <a:effectLst/>
                <a:latin typeface="Nunito" pitchFamily="2" charset="0"/>
              </a:rPr>
              <a:t> can provision wide range of resources in the cloud by using terraform like compute, storage, networking, and application services, across a variety of cloud providers and on-premises environments.</a:t>
            </a:r>
            <a:endParaRPr lang="en-US" dirty="0"/>
          </a:p>
        </p:txBody>
      </p:sp>
    </p:spTree>
    <p:extLst>
      <p:ext uri="{BB962C8B-B14F-4D97-AF65-F5344CB8AC3E}">
        <p14:creationId xmlns:p14="http://schemas.microsoft.com/office/powerpoint/2010/main" val="32904804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AEDE1C-BF60-837E-60B5-21438CC8FAF5}"/>
              </a:ext>
            </a:extLst>
          </p:cNvPr>
          <p:cNvSpPr>
            <a:spLocks noGrp="1"/>
          </p:cNvSpPr>
          <p:nvPr>
            <p:ph type="title"/>
          </p:nvPr>
        </p:nvSpPr>
        <p:spPr>
          <a:xfrm>
            <a:off x="838200" y="365126"/>
            <a:ext cx="10515600" cy="654206"/>
          </a:xfrm>
        </p:spPr>
        <p:txBody>
          <a:bodyPr>
            <a:normAutofit fontScale="90000"/>
          </a:bodyPr>
          <a:lstStyle/>
          <a:p>
            <a:r>
              <a:rPr lang="en-US" sz="4400" b="1" i="0" u="sng" dirty="0">
                <a:solidFill>
                  <a:srgbClr val="1F1F1F"/>
                </a:solidFill>
                <a:effectLst/>
                <a:latin typeface="Google Sans"/>
              </a:rPr>
              <a:t>Terraform</a:t>
            </a:r>
            <a:br>
              <a:rPr lang="en-US" sz="4400" b="1" i="0" u="sng" dirty="0">
                <a:solidFill>
                  <a:srgbClr val="1F1F1F"/>
                </a:solidFill>
                <a:effectLst/>
                <a:latin typeface="Google Sans"/>
              </a:rPr>
            </a:br>
            <a:endParaRPr lang="en-US" dirty="0"/>
          </a:p>
        </p:txBody>
      </p:sp>
      <p:pic>
        <p:nvPicPr>
          <p:cNvPr id="5" name="Content Placeholder 4" descr="A diagram of a structure&#10;&#10;AI-generated content may be incorrect.">
            <a:extLst>
              <a:ext uri="{FF2B5EF4-FFF2-40B4-BE49-F238E27FC236}">
                <a16:creationId xmlns:a16="http://schemas.microsoft.com/office/drawing/2014/main" id="{8DEED074-27B7-A551-F667-FC83CF22F0A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289155" y="1424067"/>
            <a:ext cx="9263920" cy="4429840"/>
          </a:xfrm>
        </p:spPr>
      </p:pic>
    </p:spTree>
    <p:extLst>
      <p:ext uri="{BB962C8B-B14F-4D97-AF65-F5344CB8AC3E}">
        <p14:creationId xmlns:p14="http://schemas.microsoft.com/office/powerpoint/2010/main" val="283628089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9ED60-C848-5EBD-A680-B04C35829ECB}"/>
              </a:ext>
            </a:extLst>
          </p:cNvPr>
          <p:cNvSpPr>
            <a:spLocks noGrp="1"/>
          </p:cNvSpPr>
          <p:nvPr>
            <p:ph type="title"/>
          </p:nvPr>
        </p:nvSpPr>
        <p:spPr>
          <a:xfrm>
            <a:off x="838200" y="-219492"/>
            <a:ext cx="10515600" cy="1325563"/>
          </a:xfrm>
        </p:spPr>
        <p:txBody>
          <a:bodyPr/>
          <a:lstStyle/>
          <a:p>
            <a:r>
              <a:rPr lang="en-US" sz="4400" b="1" i="0" u="sng" dirty="0">
                <a:solidFill>
                  <a:srgbClr val="1F1F1F"/>
                </a:solidFill>
                <a:effectLst/>
                <a:latin typeface="Google Sans"/>
              </a:rPr>
              <a:t>Terraform</a:t>
            </a:r>
            <a:endParaRPr lang="en-US" dirty="0"/>
          </a:p>
        </p:txBody>
      </p:sp>
      <p:sp>
        <p:nvSpPr>
          <p:cNvPr id="3" name="Content Placeholder 2">
            <a:extLst>
              <a:ext uri="{FF2B5EF4-FFF2-40B4-BE49-F238E27FC236}">
                <a16:creationId xmlns:a16="http://schemas.microsoft.com/office/drawing/2014/main" id="{3716055D-623E-B90A-063C-3CA8D4A81790}"/>
              </a:ext>
            </a:extLst>
          </p:cNvPr>
          <p:cNvSpPr>
            <a:spLocks noGrp="1"/>
          </p:cNvSpPr>
          <p:nvPr>
            <p:ph idx="1"/>
          </p:nvPr>
        </p:nvSpPr>
        <p:spPr>
          <a:xfrm>
            <a:off x="838200" y="1214203"/>
            <a:ext cx="10515600" cy="4962760"/>
          </a:xfrm>
        </p:spPr>
        <p:txBody>
          <a:bodyPr>
            <a:normAutofit fontScale="77500" lnSpcReduction="20000"/>
          </a:bodyPr>
          <a:lstStyle/>
          <a:p>
            <a:r>
              <a:rPr lang="en-US" b="1" dirty="0">
                <a:solidFill>
                  <a:srgbClr val="273239"/>
                </a:solidFill>
                <a:latin typeface="Nunito" pitchFamily="2" charset="0"/>
              </a:rPr>
              <a:t>Application Area</a:t>
            </a:r>
            <a:r>
              <a:rPr lang="en-US" b="1" i="0" dirty="0">
                <a:solidFill>
                  <a:srgbClr val="273239"/>
                </a:solidFill>
                <a:effectLst/>
                <a:latin typeface="Nunito" pitchFamily="2" charset="0"/>
              </a:rPr>
              <a:t> of Terraform</a:t>
            </a:r>
          </a:p>
          <a:p>
            <a:endParaRPr lang="en-US" b="1" i="0" dirty="0">
              <a:solidFill>
                <a:srgbClr val="273239"/>
              </a:solidFill>
              <a:effectLst/>
              <a:latin typeface="Nunito" pitchFamily="2" charset="0"/>
            </a:endParaRP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Provisioning Cloud Resources: </a:t>
            </a:r>
            <a:r>
              <a:rPr lang="en-US" b="0" i="0" dirty="0">
                <a:solidFill>
                  <a:srgbClr val="273239"/>
                </a:solidFill>
                <a:effectLst/>
                <a:latin typeface="Nunito" pitchFamily="2" charset="0"/>
              </a:rPr>
              <a:t>Different types of cloud resources can be provisioned by using terraform like AWS,GCP, and others. </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Multi-Cloud Management: </a:t>
            </a:r>
            <a:r>
              <a:rPr lang="en-US" b="0" i="0" dirty="0">
                <a:solidFill>
                  <a:srgbClr val="273239"/>
                </a:solidFill>
                <a:effectLst/>
                <a:latin typeface="Nunito" pitchFamily="2" charset="0"/>
              </a:rPr>
              <a:t>You can manage the infrastructure of different cloud platform at a time which will helps you to maintain the multi-cloud or hybrid cloud environments.</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Infrastructure Versioning and Collaboration: </a:t>
            </a:r>
            <a:r>
              <a:rPr lang="en-US" b="0" i="0" dirty="0">
                <a:solidFill>
                  <a:srgbClr val="273239"/>
                </a:solidFill>
                <a:effectLst/>
                <a:latin typeface="Nunito" pitchFamily="2" charset="0"/>
              </a:rPr>
              <a:t>You can store the scripts which have been written to provision the infrastructure in the version control system like git form where other teams can collaborate on infrastructure changes, track revisions, and roll back to previous states if needed.</a:t>
            </a:r>
          </a:p>
          <a:p>
            <a:pPr algn="l" fontAlgn="base">
              <a:spcAft>
                <a:spcPts val="1800"/>
              </a:spcAft>
              <a:buFont typeface="Arial" panose="020B0604020202020204" pitchFamily="34" charset="0"/>
              <a:buChar char="•"/>
            </a:pPr>
            <a:r>
              <a:rPr lang="en-US" b="1" i="0" dirty="0">
                <a:solidFill>
                  <a:srgbClr val="273239"/>
                </a:solidFill>
                <a:effectLst/>
                <a:latin typeface="Nunito" pitchFamily="2" charset="0"/>
              </a:rPr>
              <a:t>Automation and Continuous Integration/Continuous Deployment (CI/CD): </a:t>
            </a:r>
            <a:r>
              <a:rPr lang="en-US" b="0" i="0" dirty="0">
                <a:solidFill>
                  <a:srgbClr val="273239"/>
                </a:solidFill>
                <a:effectLst/>
                <a:latin typeface="Nunito" pitchFamily="2" charset="0"/>
              </a:rPr>
              <a:t>You can also integrate the terraform into your </a:t>
            </a:r>
            <a:r>
              <a:rPr lang="en-US" b="0" i="0" u="sng" dirty="0">
                <a:solidFill>
                  <a:srgbClr val="273239"/>
                </a:solidFill>
                <a:effectLst/>
                <a:latin typeface="Nunito" pitchFamily="2" charset="0"/>
              </a:rPr>
              <a:t>CI/CD pipelines</a:t>
            </a:r>
            <a:r>
              <a:rPr lang="en-US" b="0" i="0" dirty="0">
                <a:solidFill>
                  <a:srgbClr val="273239"/>
                </a:solidFill>
                <a:effectLst/>
                <a:latin typeface="Nunito" pitchFamily="2" charset="0"/>
              </a:rPr>
              <a:t> wherever the build is triggered if there is any changes the infrastructure will upgrades automatically.</a:t>
            </a:r>
          </a:p>
          <a:p>
            <a:endParaRPr lang="en-US" dirty="0"/>
          </a:p>
        </p:txBody>
      </p:sp>
    </p:spTree>
    <p:extLst>
      <p:ext uri="{BB962C8B-B14F-4D97-AF65-F5344CB8AC3E}">
        <p14:creationId xmlns:p14="http://schemas.microsoft.com/office/powerpoint/2010/main" val="213859854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4E8D66-A653-650B-7033-8C07DAAE8EE2}"/>
              </a:ext>
            </a:extLst>
          </p:cNvPr>
          <p:cNvSpPr>
            <a:spLocks noGrp="1"/>
          </p:cNvSpPr>
          <p:nvPr>
            <p:ph type="title"/>
          </p:nvPr>
        </p:nvSpPr>
        <p:spPr>
          <a:xfrm>
            <a:off x="838200" y="0"/>
            <a:ext cx="10515600" cy="1325563"/>
          </a:xfrm>
        </p:spPr>
        <p:txBody>
          <a:bodyPr/>
          <a:lstStyle/>
          <a:p>
            <a:r>
              <a:rPr lang="en-US" sz="4400" b="1" i="0" u="sng" dirty="0">
                <a:solidFill>
                  <a:srgbClr val="1F1F1F"/>
                </a:solidFill>
                <a:effectLst/>
                <a:latin typeface="Google Sans"/>
              </a:rPr>
              <a:t>Terraform</a:t>
            </a:r>
            <a:endParaRPr lang="en-US" dirty="0"/>
          </a:p>
        </p:txBody>
      </p:sp>
      <p:sp>
        <p:nvSpPr>
          <p:cNvPr id="3" name="Content Placeholder 2">
            <a:extLst>
              <a:ext uri="{FF2B5EF4-FFF2-40B4-BE49-F238E27FC236}">
                <a16:creationId xmlns:a16="http://schemas.microsoft.com/office/drawing/2014/main" id="{7DBCEBBE-E758-3C4E-0ED4-54D7FC9D7B84}"/>
              </a:ext>
            </a:extLst>
          </p:cNvPr>
          <p:cNvSpPr>
            <a:spLocks noGrp="1"/>
          </p:cNvSpPr>
          <p:nvPr>
            <p:ph idx="1"/>
          </p:nvPr>
        </p:nvSpPr>
        <p:spPr>
          <a:xfrm>
            <a:off x="838200" y="1768840"/>
            <a:ext cx="10515600" cy="4257207"/>
          </a:xfrm>
        </p:spPr>
        <p:txBody>
          <a:bodyPr>
            <a:normAutofit/>
          </a:bodyPr>
          <a:lstStyle/>
          <a:p>
            <a:r>
              <a:rPr lang="en-US" b="1" i="0" dirty="0">
                <a:solidFill>
                  <a:srgbClr val="273239"/>
                </a:solidFill>
                <a:effectLst/>
                <a:latin typeface="Nunito" pitchFamily="2" charset="0"/>
              </a:rPr>
              <a:t>Components of Terraform Architecture</a:t>
            </a:r>
          </a:p>
          <a:p>
            <a:endParaRPr lang="en-US" b="1" i="0" dirty="0">
              <a:solidFill>
                <a:srgbClr val="273239"/>
              </a:solidFill>
              <a:effectLst/>
              <a:latin typeface="Nunito" pitchFamily="2" charset="0"/>
            </a:endParaRPr>
          </a:p>
          <a:p>
            <a:pPr marL="0" indent="0" algn="l" fontAlgn="base">
              <a:spcBef>
                <a:spcPts val="1800"/>
              </a:spcBef>
              <a:spcAft>
                <a:spcPts val="1800"/>
              </a:spcAft>
              <a:buNone/>
            </a:pPr>
            <a:r>
              <a:rPr lang="en-US" b="1" i="0" dirty="0">
                <a:solidFill>
                  <a:srgbClr val="273239"/>
                </a:solidFill>
                <a:effectLst/>
                <a:latin typeface="Nunito" pitchFamily="2" charset="0"/>
              </a:rPr>
              <a:t>1. Terraform Configuration Files(TCF)</a:t>
            </a:r>
          </a:p>
          <a:p>
            <a:pPr algn="just" rtl="0" fontAlgn="base">
              <a:spcAft>
                <a:spcPts val="750"/>
              </a:spcAft>
            </a:pPr>
            <a:r>
              <a:rPr lang="en-US" b="0" i="0" dirty="0">
                <a:solidFill>
                  <a:srgbClr val="273239"/>
                </a:solidFill>
                <a:effectLst/>
                <a:latin typeface="Nunito" pitchFamily="2" charset="0"/>
              </a:rPr>
              <a:t>These files contain the definition of the infrastructure resources that Terraform will manage, as well as any input and output variables and modules. The configuration files are written in the </a:t>
            </a:r>
            <a:r>
              <a:rPr lang="en-US" b="0" i="0" dirty="0" err="1">
                <a:solidFill>
                  <a:srgbClr val="273239"/>
                </a:solidFill>
                <a:effectLst/>
                <a:latin typeface="Nunito" pitchFamily="2" charset="0"/>
              </a:rPr>
              <a:t>HashiCorp</a:t>
            </a:r>
            <a:r>
              <a:rPr lang="en-US" b="0" i="0" dirty="0">
                <a:solidFill>
                  <a:srgbClr val="273239"/>
                </a:solidFill>
                <a:effectLst/>
                <a:latin typeface="Nunito" pitchFamily="2" charset="0"/>
              </a:rPr>
              <a:t> Configuration Language (HCL), which is a domain-specific language designed specifically for Terraform.</a:t>
            </a:r>
          </a:p>
          <a:p>
            <a:endParaRPr lang="en-US" dirty="0"/>
          </a:p>
        </p:txBody>
      </p:sp>
    </p:spTree>
    <p:extLst>
      <p:ext uri="{BB962C8B-B14F-4D97-AF65-F5344CB8AC3E}">
        <p14:creationId xmlns:p14="http://schemas.microsoft.com/office/powerpoint/2010/main" val="774265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7416B6-BC99-065C-0BE5-57F84906A601}"/>
              </a:ext>
            </a:extLst>
          </p:cNvPr>
          <p:cNvSpPr>
            <a:spLocks noGrp="1"/>
          </p:cNvSpPr>
          <p:nvPr>
            <p:ph type="title"/>
          </p:nvPr>
        </p:nvSpPr>
        <p:spPr/>
        <p:txBody>
          <a:bodyPr/>
          <a:lstStyle/>
          <a:p>
            <a:r>
              <a:rPr lang="en-US" sz="4400" b="1" i="0" u="sng" dirty="0">
                <a:solidFill>
                  <a:srgbClr val="1F1F1F"/>
                </a:solidFill>
                <a:effectLst/>
                <a:latin typeface="Google Sans"/>
              </a:rPr>
              <a:t>Terraform</a:t>
            </a:r>
            <a:endParaRPr lang="en-US" dirty="0"/>
          </a:p>
        </p:txBody>
      </p:sp>
      <p:sp>
        <p:nvSpPr>
          <p:cNvPr id="3" name="Content Placeholder 2">
            <a:extLst>
              <a:ext uri="{FF2B5EF4-FFF2-40B4-BE49-F238E27FC236}">
                <a16:creationId xmlns:a16="http://schemas.microsoft.com/office/drawing/2014/main" id="{FA706260-DAAA-086A-0380-3258C098693A}"/>
              </a:ext>
            </a:extLst>
          </p:cNvPr>
          <p:cNvSpPr>
            <a:spLocks noGrp="1"/>
          </p:cNvSpPr>
          <p:nvPr>
            <p:ph idx="1"/>
          </p:nvPr>
        </p:nvSpPr>
        <p:spPr/>
        <p:txBody>
          <a:bodyPr>
            <a:normAutofit fontScale="92500" lnSpcReduction="20000"/>
          </a:bodyPr>
          <a:lstStyle/>
          <a:p>
            <a:pPr marL="0" indent="0" algn="l" fontAlgn="base">
              <a:spcBef>
                <a:spcPts val="1800"/>
              </a:spcBef>
              <a:spcAft>
                <a:spcPts val="1800"/>
              </a:spcAft>
              <a:buNone/>
            </a:pPr>
            <a:r>
              <a:rPr lang="en-US" b="1" i="0" dirty="0">
                <a:solidFill>
                  <a:srgbClr val="273239"/>
                </a:solidFill>
                <a:effectLst/>
                <a:latin typeface="Nunito" pitchFamily="2" charset="0"/>
              </a:rPr>
              <a:t>2. Terraform State File(TSF)</a:t>
            </a:r>
          </a:p>
          <a:p>
            <a:pPr algn="just" rtl="0" fontAlgn="base">
              <a:spcAft>
                <a:spcPts val="750"/>
              </a:spcAft>
            </a:pPr>
            <a:r>
              <a:rPr lang="en-US" b="0" i="0" dirty="0">
                <a:solidFill>
                  <a:srgbClr val="273239"/>
                </a:solidFill>
                <a:effectLst/>
                <a:latin typeface="Nunito" pitchFamily="2" charset="0"/>
              </a:rPr>
              <a:t>This file stores the current state of the infrastructure resources managed by </a:t>
            </a:r>
            <a:r>
              <a:rPr lang="en-US" b="0" i="0" u="sng" dirty="0">
                <a:solidFill>
                  <a:srgbClr val="273239"/>
                </a:solidFill>
                <a:effectLst/>
                <a:latin typeface="Nunito" pitchFamily="2" charset="0"/>
              </a:rPr>
              <a:t>Terraform </a:t>
            </a:r>
            <a:r>
              <a:rPr lang="en-US" b="0" i="0" u="sng" dirty="0" err="1">
                <a:solidFill>
                  <a:srgbClr val="273239"/>
                </a:solidFill>
                <a:effectLst/>
                <a:latin typeface="Nunito" pitchFamily="2" charset="0"/>
              </a:rPr>
              <a:t>statefile</a:t>
            </a:r>
            <a:r>
              <a:rPr lang="en-US" b="0" i="0" u="sng" dirty="0">
                <a:solidFill>
                  <a:srgbClr val="273239"/>
                </a:solidFill>
                <a:effectLst/>
                <a:latin typeface="Nunito" pitchFamily="2" charset="0"/>
              </a:rPr>
              <a:t>.</a:t>
            </a:r>
            <a:r>
              <a:rPr lang="en-US" b="0" i="0" dirty="0">
                <a:solidFill>
                  <a:srgbClr val="273239"/>
                </a:solidFill>
                <a:effectLst/>
                <a:latin typeface="Nunito" pitchFamily="2" charset="0"/>
              </a:rPr>
              <a:t> The state file is used to track the resources that have been created, modified, or destroyed, and it is used to ensure that the infrastructure resources match the desired state defined in the configuration files.</a:t>
            </a:r>
          </a:p>
          <a:p>
            <a:pPr marL="0" indent="0" algn="l" fontAlgn="base">
              <a:spcBef>
                <a:spcPts val="1800"/>
              </a:spcBef>
              <a:spcAft>
                <a:spcPts val="1800"/>
              </a:spcAft>
              <a:buNone/>
            </a:pPr>
            <a:r>
              <a:rPr lang="en-US" b="1" i="0" dirty="0">
                <a:solidFill>
                  <a:srgbClr val="273239"/>
                </a:solidFill>
                <a:effectLst/>
                <a:latin typeface="Nunito" pitchFamily="2" charset="0"/>
              </a:rPr>
              <a:t>3. Infrastructure as Code(</a:t>
            </a:r>
            <a:r>
              <a:rPr lang="en-US" b="1" dirty="0" err="1">
                <a:solidFill>
                  <a:srgbClr val="273239"/>
                </a:solidFill>
                <a:latin typeface="Nunito" pitchFamily="2" charset="0"/>
              </a:rPr>
              <a:t>IaC</a:t>
            </a:r>
            <a:r>
              <a:rPr lang="en-US" b="1" dirty="0">
                <a:solidFill>
                  <a:srgbClr val="273239"/>
                </a:solidFill>
                <a:latin typeface="Nunito" pitchFamily="2" charset="0"/>
              </a:rPr>
              <a:t>)</a:t>
            </a:r>
            <a:endParaRPr lang="en-US" b="1" i="0" dirty="0">
              <a:solidFill>
                <a:srgbClr val="273239"/>
              </a:solidFill>
              <a:effectLst/>
              <a:latin typeface="Nunito" pitchFamily="2" charset="0"/>
            </a:endParaRPr>
          </a:p>
          <a:p>
            <a:pPr algn="just" rtl="0" fontAlgn="base">
              <a:spcAft>
                <a:spcPts val="750"/>
              </a:spcAft>
            </a:pPr>
            <a:r>
              <a:rPr lang="en-US" b="0" i="0" dirty="0">
                <a:solidFill>
                  <a:srgbClr val="273239"/>
                </a:solidFill>
                <a:effectLst/>
                <a:latin typeface="Nunito" pitchFamily="2" charset="0"/>
              </a:rPr>
              <a:t>Terraform allows you to use code to define and manage your infrastructure, rather than manually configuring resources through a user interface. This makes it easier to </a:t>
            </a:r>
            <a:r>
              <a:rPr lang="en-US" b="0" i="0">
                <a:solidFill>
                  <a:srgbClr val="273239"/>
                </a:solidFill>
                <a:effectLst/>
                <a:latin typeface="Nunito" pitchFamily="2" charset="0"/>
              </a:rPr>
              <a:t>version control, </a:t>
            </a:r>
            <a:r>
              <a:rPr lang="en-US" b="0" i="0" dirty="0">
                <a:solidFill>
                  <a:srgbClr val="273239"/>
                </a:solidFill>
                <a:effectLst/>
                <a:latin typeface="Nunito" pitchFamily="2" charset="0"/>
              </a:rPr>
              <a:t>review, and collaborate on infrastructure changes.</a:t>
            </a:r>
          </a:p>
          <a:p>
            <a:endParaRPr lang="en-US" dirty="0"/>
          </a:p>
        </p:txBody>
      </p:sp>
    </p:spTree>
    <p:extLst>
      <p:ext uri="{BB962C8B-B14F-4D97-AF65-F5344CB8AC3E}">
        <p14:creationId xmlns:p14="http://schemas.microsoft.com/office/powerpoint/2010/main" val="228236846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4CFEA5-4CF4-2087-7190-98317F8751EB}"/>
              </a:ext>
            </a:extLst>
          </p:cNvPr>
          <p:cNvSpPr>
            <a:spLocks noGrp="1"/>
          </p:cNvSpPr>
          <p:nvPr>
            <p:ph type="title"/>
          </p:nvPr>
        </p:nvSpPr>
        <p:spPr/>
        <p:txBody>
          <a:bodyPr/>
          <a:lstStyle/>
          <a:p>
            <a:r>
              <a:rPr lang="en-US" sz="4400" b="1" i="0" u="sng" dirty="0">
                <a:solidFill>
                  <a:srgbClr val="1F1F1F"/>
                </a:solidFill>
                <a:effectLst/>
                <a:latin typeface="Google Sans"/>
              </a:rPr>
              <a:t>Terraform</a:t>
            </a:r>
            <a:endParaRPr lang="en-US" dirty="0"/>
          </a:p>
        </p:txBody>
      </p:sp>
      <p:sp>
        <p:nvSpPr>
          <p:cNvPr id="3" name="Content Placeholder 2">
            <a:extLst>
              <a:ext uri="{FF2B5EF4-FFF2-40B4-BE49-F238E27FC236}">
                <a16:creationId xmlns:a16="http://schemas.microsoft.com/office/drawing/2014/main" id="{99F2B74E-318C-56D2-2A7C-757447C9B6CD}"/>
              </a:ext>
            </a:extLst>
          </p:cNvPr>
          <p:cNvSpPr>
            <a:spLocks noGrp="1"/>
          </p:cNvSpPr>
          <p:nvPr>
            <p:ph idx="1"/>
          </p:nvPr>
        </p:nvSpPr>
        <p:spPr/>
        <p:txBody>
          <a:bodyPr>
            <a:normAutofit fontScale="92500" lnSpcReduction="20000"/>
          </a:bodyPr>
          <a:lstStyle/>
          <a:p>
            <a:pPr marL="0" indent="0" algn="l" fontAlgn="base">
              <a:spcBef>
                <a:spcPts val="1800"/>
              </a:spcBef>
              <a:spcAft>
                <a:spcPts val="1800"/>
              </a:spcAft>
              <a:buNone/>
            </a:pPr>
            <a:r>
              <a:rPr lang="en-US" b="1" i="0" dirty="0">
                <a:solidFill>
                  <a:srgbClr val="273239"/>
                </a:solidFill>
                <a:effectLst/>
                <a:latin typeface="Nunito" pitchFamily="2" charset="0"/>
              </a:rPr>
              <a:t>4. Cloud APIs or other Infrastructure Providers</a:t>
            </a:r>
          </a:p>
          <a:p>
            <a:pPr algn="just" rtl="0" fontAlgn="base">
              <a:spcAft>
                <a:spcPts val="750"/>
              </a:spcAft>
            </a:pPr>
            <a:r>
              <a:rPr lang="en-US" b="0" i="0" dirty="0">
                <a:solidFill>
                  <a:srgbClr val="273239"/>
                </a:solidFill>
                <a:effectLst/>
                <a:latin typeface="Nunito" pitchFamily="2" charset="0"/>
              </a:rPr>
              <a:t>These are the APIs or other interfaces that Terraform uses to create, modify, or destroy infrastructure resources. Terraform supports multiple cloud providers, as well as on-premises and open-source tools.</a:t>
            </a:r>
          </a:p>
          <a:p>
            <a:pPr marL="0" indent="0" algn="l" fontAlgn="base">
              <a:spcBef>
                <a:spcPts val="1800"/>
              </a:spcBef>
              <a:spcAft>
                <a:spcPts val="1800"/>
              </a:spcAft>
              <a:buNone/>
            </a:pPr>
            <a:r>
              <a:rPr lang="en-US" b="1" i="0" dirty="0">
                <a:solidFill>
                  <a:srgbClr val="273239"/>
                </a:solidFill>
                <a:effectLst/>
                <a:latin typeface="Nunito" pitchFamily="2" charset="0"/>
              </a:rPr>
              <a:t>5. Providers</a:t>
            </a:r>
          </a:p>
          <a:p>
            <a:pPr algn="just" rtl="0" fontAlgn="base">
              <a:spcAft>
                <a:spcPts val="750"/>
              </a:spcAft>
            </a:pPr>
            <a:r>
              <a:rPr lang="en-US" b="0" i="0" dirty="0">
                <a:solidFill>
                  <a:srgbClr val="273239"/>
                </a:solidFill>
                <a:effectLst/>
                <a:latin typeface="Nunito" pitchFamily="2" charset="0"/>
              </a:rPr>
              <a:t>Terraform integrates with a wide range of cloud and infrastructure providers, including AWS, Azure, GCP, and more. These providers allow Terraform to create and manage resources on those platforms.</a:t>
            </a:r>
          </a:p>
          <a:p>
            <a:endParaRPr lang="en-US" dirty="0"/>
          </a:p>
        </p:txBody>
      </p:sp>
    </p:spTree>
    <p:extLst>
      <p:ext uri="{BB962C8B-B14F-4D97-AF65-F5344CB8AC3E}">
        <p14:creationId xmlns:p14="http://schemas.microsoft.com/office/powerpoint/2010/main" val="31288071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981820-7F23-A528-F23D-3D6B9AC87483}"/>
              </a:ext>
            </a:extLst>
          </p:cNvPr>
          <p:cNvSpPr>
            <a:spLocks noGrp="1"/>
          </p:cNvSpPr>
          <p:nvPr>
            <p:ph type="title"/>
          </p:nvPr>
        </p:nvSpPr>
        <p:spPr/>
        <p:txBody>
          <a:bodyPr/>
          <a:lstStyle/>
          <a:p>
            <a:r>
              <a:rPr lang="en-US" sz="4400" b="1" i="0" u="sng" dirty="0">
                <a:solidFill>
                  <a:srgbClr val="1F1F1F"/>
                </a:solidFill>
                <a:effectLst/>
                <a:latin typeface="Google Sans"/>
              </a:rPr>
              <a:t>Terraform</a:t>
            </a:r>
            <a:endParaRPr lang="en-US" dirty="0"/>
          </a:p>
        </p:txBody>
      </p:sp>
      <p:pic>
        <p:nvPicPr>
          <p:cNvPr id="5" name="Content Placeholder 4" descr="A diagram of a cloud computing system">
            <a:extLst>
              <a:ext uri="{FF2B5EF4-FFF2-40B4-BE49-F238E27FC236}">
                <a16:creationId xmlns:a16="http://schemas.microsoft.com/office/drawing/2014/main" id="{72BE3809-5060-35FE-0CD0-4AE4A7915E6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154244" y="2215356"/>
            <a:ext cx="9473782" cy="3795700"/>
          </a:xfrm>
        </p:spPr>
      </p:pic>
    </p:spTree>
    <p:extLst>
      <p:ext uri="{BB962C8B-B14F-4D97-AF65-F5344CB8AC3E}">
        <p14:creationId xmlns:p14="http://schemas.microsoft.com/office/powerpoint/2010/main" val="11280697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E2CE01-F976-D37F-5428-FC866A70DEF7}"/>
              </a:ext>
            </a:extLst>
          </p:cNvPr>
          <p:cNvSpPr>
            <a:spLocks noGrp="1"/>
          </p:cNvSpPr>
          <p:nvPr>
            <p:ph type="title"/>
          </p:nvPr>
        </p:nvSpPr>
        <p:spPr/>
        <p:txBody>
          <a:bodyPr/>
          <a:lstStyle/>
          <a:p>
            <a:r>
              <a:rPr lang="en-US" dirty="0"/>
              <a:t>Basic Terraform Commands</a:t>
            </a:r>
          </a:p>
        </p:txBody>
      </p:sp>
      <p:sp>
        <p:nvSpPr>
          <p:cNvPr id="3" name="Content Placeholder 2">
            <a:extLst>
              <a:ext uri="{FF2B5EF4-FFF2-40B4-BE49-F238E27FC236}">
                <a16:creationId xmlns:a16="http://schemas.microsoft.com/office/drawing/2014/main" id="{86FCEF88-9E5B-22FB-C388-B8C61E807A27}"/>
              </a:ext>
            </a:extLst>
          </p:cNvPr>
          <p:cNvSpPr>
            <a:spLocks noGrp="1"/>
          </p:cNvSpPr>
          <p:nvPr>
            <p:ph idx="1"/>
          </p:nvPr>
        </p:nvSpPr>
        <p:spPr/>
        <p:txBody>
          <a:bodyPr/>
          <a:lstStyle/>
          <a:p>
            <a:pPr marL="0" indent="0" algn="l" fontAlgn="base">
              <a:spcBef>
                <a:spcPts val="1800"/>
              </a:spcBef>
              <a:spcAft>
                <a:spcPts val="1800"/>
              </a:spcAft>
              <a:buNone/>
            </a:pPr>
            <a:r>
              <a:rPr lang="en-US" b="1" i="0" dirty="0">
                <a:solidFill>
                  <a:srgbClr val="273239"/>
                </a:solidFill>
                <a:effectLst/>
                <a:latin typeface="Nunito" pitchFamily="2" charset="0"/>
              </a:rPr>
              <a:t>1. Terraform </a:t>
            </a:r>
            <a:r>
              <a:rPr lang="en-US" b="1" i="0" dirty="0" err="1">
                <a:solidFill>
                  <a:srgbClr val="273239"/>
                </a:solidFill>
                <a:effectLst/>
                <a:latin typeface="Nunito" pitchFamily="2" charset="0"/>
              </a:rPr>
              <a:t>init</a:t>
            </a:r>
            <a:endParaRPr lang="en-US" b="1" i="0" dirty="0">
              <a:solidFill>
                <a:srgbClr val="273239"/>
              </a:solidFill>
              <a:effectLst/>
              <a:latin typeface="Nunito" pitchFamily="2" charset="0"/>
            </a:endParaRPr>
          </a:p>
          <a:p>
            <a:pPr algn="just" rtl="0" fontAlgn="base">
              <a:spcAft>
                <a:spcPts val="750"/>
              </a:spcAft>
            </a:pPr>
            <a:r>
              <a:rPr lang="en-US" b="0" i="0" dirty="0">
                <a:solidFill>
                  <a:srgbClr val="273239"/>
                </a:solidFill>
                <a:effectLst/>
                <a:latin typeface="Nunito" pitchFamily="2" charset="0"/>
              </a:rPr>
              <a:t>Terraform </a:t>
            </a:r>
            <a:r>
              <a:rPr lang="en-US" b="0" i="0" dirty="0" err="1">
                <a:solidFill>
                  <a:srgbClr val="273239"/>
                </a:solidFill>
                <a:effectLst/>
                <a:latin typeface="Nunito" pitchFamily="2" charset="0"/>
              </a:rPr>
              <a:t>init</a:t>
            </a:r>
            <a:r>
              <a:rPr lang="en-US" b="0" i="0" dirty="0">
                <a:solidFill>
                  <a:srgbClr val="273239"/>
                </a:solidFill>
                <a:effectLst/>
                <a:latin typeface="Nunito" pitchFamily="2" charset="0"/>
              </a:rPr>
              <a:t> command initializes a Terraform working directory by downloading and installing any required plugins and dependencies.</a:t>
            </a:r>
          </a:p>
          <a:p>
            <a:pPr marL="0" indent="0" algn="l" fontAlgn="base">
              <a:spcBef>
                <a:spcPts val="1800"/>
              </a:spcBef>
              <a:spcAft>
                <a:spcPts val="1800"/>
              </a:spcAft>
              <a:buNone/>
            </a:pPr>
            <a:r>
              <a:rPr lang="en-US" b="1" i="0" dirty="0">
                <a:solidFill>
                  <a:srgbClr val="273239"/>
                </a:solidFill>
                <a:effectLst/>
                <a:latin typeface="Nunito" pitchFamily="2" charset="0"/>
              </a:rPr>
              <a:t>2. Terraform validate</a:t>
            </a:r>
          </a:p>
          <a:p>
            <a:pPr algn="l" rtl="0" fontAlgn="base">
              <a:spcAft>
                <a:spcPts val="750"/>
              </a:spcAft>
            </a:pPr>
            <a:r>
              <a:rPr lang="en-US" b="0" i="0" dirty="0">
                <a:solidFill>
                  <a:srgbClr val="273239"/>
                </a:solidFill>
                <a:effectLst/>
                <a:latin typeface="Nunito" pitchFamily="2" charset="0"/>
              </a:rPr>
              <a:t>The </a:t>
            </a:r>
            <a:r>
              <a:rPr lang="en-US" b="0" i="0" u="sng" dirty="0">
                <a:solidFill>
                  <a:srgbClr val="273239"/>
                </a:solidFill>
                <a:effectLst/>
                <a:latin typeface="Nunito" pitchFamily="2" charset="0"/>
              </a:rPr>
              <a:t>validate command </a:t>
            </a:r>
            <a:r>
              <a:rPr lang="en-US" b="0" i="0" dirty="0">
                <a:solidFill>
                  <a:srgbClr val="273239"/>
                </a:solidFill>
                <a:effectLst/>
                <a:latin typeface="Nunito" pitchFamily="2" charset="0"/>
              </a:rPr>
              <a:t>performs precisely what its name implies. It ensures that the code is internally coherent and examines it for syntax mistakes.</a:t>
            </a:r>
          </a:p>
          <a:p>
            <a:endParaRPr lang="en-US" dirty="0"/>
          </a:p>
        </p:txBody>
      </p:sp>
    </p:spTree>
    <p:extLst>
      <p:ext uri="{BB962C8B-B14F-4D97-AF65-F5344CB8AC3E}">
        <p14:creationId xmlns:p14="http://schemas.microsoft.com/office/powerpoint/2010/main" val="361182551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E80513-E91D-8026-32EA-AC26F0188C2F}"/>
              </a:ext>
            </a:extLst>
          </p:cNvPr>
          <p:cNvSpPr>
            <a:spLocks noGrp="1"/>
          </p:cNvSpPr>
          <p:nvPr>
            <p:ph type="title"/>
          </p:nvPr>
        </p:nvSpPr>
        <p:spPr/>
        <p:txBody>
          <a:bodyPr/>
          <a:lstStyle/>
          <a:p>
            <a:r>
              <a:rPr lang="en-US" dirty="0"/>
              <a:t>Basic Terraform Commands</a:t>
            </a:r>
          </a:p>
        </p:txBody>
      </p:sp>
      <p:sp>
        <p:nvSpPr>
          <p:cNvPr id="3" name="Content Placeholder 2">
            <a:extLst>
              <a:ext uri="{FF2B5EF4-FFF2-40B4-BE49-F238E27FC236}">
                <a16:creationId xmlns:a16="http://schemas.microsoft.com/office/drawing/2014/main" id="{470A9817-4C8E-1DB9-7643-4AB2CC00E4FC}"/>
              </a:ext>
            </a:extLst>
          </p:cNvPr>
          <p:cNvSpPr>
            <a:spLocks noGrp="1"/>
          </p:cNvSpPr>
          <p:nvPr>
            <p:ph idx="1"/>
          </p:nvPr>
        </p:nvSpPr>
        <p:spPr/>
        <p:txBody>
          <a:bodyPr/>
          <a:lstStyle/>
          <a:p>
            <a:pPr marL="0" indent="0" algn="l" fontAlgn="base">
              <a:spcBef>
                <a:spcPts val="1800"/>
              </a:spcBef>
              <a:spcAft>
                <a:spcPts val="1800"/>
              </a:spcAft>
              <a:buNone/>
            </a:pPr>
            <a:r>
              <a:rPr lang="en-US" b="1" i="0" dirty="0">
                <a:solidFill>
                  <a:srgbClr val="273239"/>
                </a:solidFill>
                <a:effectLst/>
                <a:latin typeface="Nunito" pitchFamily="2" charset="0"/>
              </a:rPr>
              <a:t>3. Terraform apply </a:t>
            </a:r>
          </a:p>
          <a:p>
            <a:pPr algn="l" rtl="0" fontAlgn="base">
              <a:spcAft>
                <a:spcPts val="750"/>
              </a:spcAft>
            </a:pPr>
            <a:r>
              <a:rPr lang="en-US" b="0" i="0" dirty="0">
                <a:solidFill>
                  <a:srgbClr val="273239"/>
                </a:solidFill>
                <a:effectLst/>
                <a:latin typeface="Nunito" pitchFamily="2" charset="0"/>
              </a:rPr>
              <a:t>Terraform apply command applies the changes defined in the configuration to your infrastructure.</a:t>
            </a:r>
          </a:p>
          <a:p>
            <a:pPr algn="l" rtl="0" fontAlgn="base">
              <a:spcAft>
                <a:spcPts val="750"/>
              </a:spcAft>
            </a:pPr>
            <a:endParaRPr lang="en-US" dirty="0">
              <a:solidFill>
                <a:srgbClr val="273239"/>
              </a:solidFill>
              <a:latin typeface="Nunito" pitchFamily="2" charset="0"/>
            </a:endParaRPr>
          </a:p>
          <a:p>
            <a:pPr marL="0" indent="0" algn="l" fontAlgn="base">
              <a:spcBef>
                <a:spcPts val="1800"/>
              </a:spcBef>
              <a:spcAft>
                <a:spcPts val="1800"/>
              </a:spcAft>
              <a:buNone/>
            </a:pPr>
            <a:r>
              <a:rPr lang="en-US" b="1" i="0" dirty="0">
                <a:solidFill>
                  <a:srgbClr val="273239"/>
                </a:solidFill>
                <a:effectLst/>
                <a:latin typeface="Nunito" pitchFamily="2" charset="0"/>
              </a:rPr>
              <a:t>4. Terraform destroy </a:t>
            </a:r>
          </a:p>
          <a:p>
            <a:pPr algn="l" rtl="0" fontAlgn="base">
              <a:spcAft>
                <a:spcPts val="750"/>
              </a:spcAft>
            </a:pPr>
            <a:r>
              <a:rPr lang="en-US" b="0" i="0" dirty="0">
                <a:solidFill>
                  <a:srgbClr val="273239"/>
                </a:solidFill>
                <a:effectLst/>
                <a:latin typeface="Nunito" pitchFamily="2" charset="0"/>
              </a:rPr>
              <a:t>Terraform destroy command will destroy all the resources created by Terraform in the current working directory.</a:t>
            </a:r>
          </a:p>
          <a:p>
            <a:pPr algn="l" rtl="0" fontAlgn="base">
              <a:spcAft>
                <a:spcPts val="750"/>
              </a:spcAft>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378270128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B70D0E-25BF-ACDC-C231-3D1C4EF81FEE}"/>
              </a:ext>
            </a:extLst>
          </p:cNvPr>
          <p:cNvSpPr>
            <a:spLocks noGrp="1"/>
          </p:cNvSpPr>
          <p:nvPr>
            <p:ph type="title"/>
          </p:nvPr>
        </p:nvSpPr>
        <p:spPr/>
        <p:txBody>
          <a:bodyPr/>
          <a:lstStyle/>
          <a:p>
            <a:r>
              <a:rPr lang="en-US" dirty="0"/>
              <a:t>Basic Terraform Commands</a:t>
            </a:r>
          </a:p>
        </p:txBody>
      </p:sp>
      <p:sp>
        <p:nvSpPr>
          <p:cNvPr id="3" name="Content Placeholder 2">
            <a:extLst>
              <a:ext uri="{FF2B5EF4-FFF2-40B4-BE49-F238E27FC236}">
                <a16:creationId xmlns:a16="http://schemas.microsoft.com/office/drawing/2014/main" id="{6869B95E-94F9-6EEB-4AE4-CCC98C630BA7}"/>
              </a:ext>
            </a:extLst>
          </p:cNvPr>
          <p:cNvSpPr>
            <a:spLocks noGrp="1"/>
          </p:cNvSpPr>
          <p:nvPr>
            <p:ph idx="1"/>
          </p:nvPr>
        </p:nvSpPr>
        <p:spPr/>
        <p:txBody>
          <a:bodyPr/>
          <a:lstStyle/>
          <a:p>
            <a:pPr marL="0" indent="0" algn="l" fontAlgn="base">
              <a:spcBef>
                <a:spcPts val="1800"/>
              </a:spcBef>
              <a:spcAft>
                <a:spcPts val="1800"/>
              </a:spcAft>
              <a:buNone/>
            </a:pPr>
            <a:r>
              <a:rPr lang="en-US" b="1" i="0" dirty="0">
                <a:solidFill>
                  <a:srgbClr val="273239"/>
                </a:solidFill>
                <a:effectLst/>
                <a:latin typeface="Nunito" pitchFamily="2" charset="0"/>
              </a:rPr>
              <a:t>5. Terraform import</a:t>
            </a:r>
          </a:p>
          <a:p>
            <a:pPr algn="just" rtl="0" fontAlgn="base">
              <a:spcAft>
                <a:spcPts val="750"/>
              </a:spcAft>
            </a:pPr>
            <a:r>
              <a:rPr lang="en-US" b="0" i="0" dirty="0">
                <a:solidFill>
                  <a:srgbClr val="273239"/>
                </a:solidFill>
                <a:effectLst/>
                <a:latin typeface="Nunito" pitchFamily="2" charset="0"/>
              </a:rPr>
              <a:t>Imports an existing resource into the Terraform state, allowing it to be managed by Terraform.</a:t>
            </a:r>
          </a:p>
          <a:p>
            <a:endParaRPr lang="en-US" dirty="0"/>
          </a:p>
          <a:p>
            <a:pPr marL="0" indent="0" algn="l" fontAlgn="base">
              <a:spcBef>
                <a:spcPts val="1800"/>
              </a:spcBef>
              <a:spcAft>
                <a:spcPts val="1800"/>
              </a:spcAft>
              <a:buNone/>
            </a:pPr>
            <a:r>
              <a:rPr lang="en-US" b="1" i="0" dirty="0">
                <a:solidFill>
                  <a:srgbClr val="273239"/>
                </a:solidFill>
                <a:effectLst/>
                <a:latin typeface="Nunito" pitchFamily="2" charset="0"/>
              </a:rPr>
              <a:t>6. Terraform console</a:t>
            </a:r>
          </a:p>
          <a:p>
            <a:pPr algn="l" rtl="0" fontAlgn="base">
              <a:spcAft>
                <a:spcPts val="750"/>
              </a:spcAft>
            </a:pPr>
            <a:r>
              <a:rPr lang="en-US" b="0" i="0" dirty="0">
                <a:solidFill>
                  <a:srgbClr val="273239"/>
                </a:solidFill>
                <a:effectLst/>
                <a:latin typeface="Nunito" pitchFamily="2" charset="0"/>
              </a:rPr>
              <a:t>Opens an interactive console for evaluating expressions in the Terraform configuration.</a:t>
            </a:r>
          </a:p>
          <a:p>
            <a:endParaRPr lang="en-US" dirty="0"/>
          </a:p>
        </p:txBody>
      </p:sp>
    </p:spTree>
    <p:extLst>
      <p:ext uri="{BB962C8B-B14F-4D97-AF65-F5344CB8AC3E}">
        <p14:creationId xmlns:p14="http://schemas.microsoft.com/office/powerpoint/2010/main" val="21885582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D208AB-EF74-08D7-C9EA-596572D9CA9C}"/>
              </a:ext>
            </a:extLst>
          </p:cNvPr>
          <p:cNvSpPr>
            <a:spLocks noGrp="1"/>
          </p:cNvSpPr>
          <p:nvPr>
            <p:ph type="title"/>
          </p:nvPr>
        </p:nvSpPr>
        <p:spPr/>
        <p:txBody>
          <a:bodyPr/>
          <a:lstStyle/>
          <a:p>
            <a:r>
              <a:rPr lang="en-US" dirty="0"/>
              <a:t>Basic Terraform Commands</a:t>
            </a:r>
          </a:p>
        </p:txBody>
      </p:sp>
      <p:sp>
        <p:nvSpPr>
          <p:cNvPr id="3" name="Content Placeholder 2">
            <a:extLst>
              <a:ext uri="{FF2B5EF4-FFF2-40B4-BE49-F238E27FC236}">
                <a16:creationId xmlns:a16="http://schemas.microsoft.com/office/drawing/2014/main" id="{3DDE9453-D28E-D716-992A-B8E944B59846}"/>
              </a:ext>
            </a:extLst>
          </p:cNvPr>
          <p:cNvSpPr>
            <a:spLocks noGrp="1"/>
          </p:cNvSpPr>
          <p:nvPr>
            <p:ph idx="1"/>
          </p:nvPr>
        </p:nvSpPr>
        <p:spPr/>
        <p:txBody>
          <a:bodyPr/>
          <a:lstStyle/>
          <a:p>
            <a:pPr marL="0" indent="0" algn="l" fontAlgn="base">
              <a:spcBef>
                <a:spcPts val="1800"/>
              </a:spcBef>
              <a:spcAft>
                <a:spcPts val="1800"/>
              </a:spcAft>
              <a:buNone/>
            </a:pPr>
            <a:r>
              <a:rPr lang="en-US" b="1" i="0" dirty="0">
                <a:solidFill>
                  <a:srgbClr val="273239"/>
                </a:solidFill>
                <a:effectLst/>
                <a:latin typeface="Nunito" pitchFamily="2" charset="0"/>
              </a:rPr>
              <a:t>7. Terraform refresh </a:t>
            </a:r>
          </a:p>
          <a:p>
            <a:pPr algn="l" rtl="0" fontAlgn="base">
              <a:spcAft>
                <a:spcPts val="750"/>
              </a:spcAft>
            </a:pPr>
            <a:r>
              <a:rPr lang="en-US" b="0" i="0" dirty="0">
                <a:solidFill>
                  <a:srgbClr val="273239"/>
                </a:solidFill>
                <a:effectLst/>
                <a:latin typeface="Nunito" pitchFamily="2" charset="0"/>
              </a:rPr>
              <a:t>This command updates the state of your infrastructure to reflect the actual state of your resources. It is useful when you want to ensure that your Terraform state is in sync with the actual state of your infrastructure.</a:t>
            </a:r>
          </a:p>
          <a:p>
            <a:endParaRPr lang="en-US" dirty="0"/>
          </a:p>
        </p:txBody>
      </p:sp>
    </p:spTree>
    <p:extLst>
      <p:ext uri="{BB962C8B-B14F-4D97-AF65-F5344CB8AC3E}">
        <p14:creationId xmlns:p14="http://schemas.microsoft.com/office/powerpoint/2010/main" val="261364654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43D0C5-A44F-3442-D100-DCF0D38FFD19}"/>
              </a:ext>
            </a:extLst>
          </p:cNvPr>
          <p:cNvSpPr>
            <a:spLocks noGrp="1"/>
          </p:cNvSpPr>
          <p:nvPr>
            <p:ph type="title"/>
          </p:nvPr>
        </p:nvSpPr>
        <p:spPr/>
        <p:txBody>
          <a:bodyPr/>
          <a:lstStyle/>
          <a:p>
            <a:r>
              <a:rPr lang="en-US" dirty="0"/>
              <a:t>CloudFormation(AWS)</a:t>
            </a:r>
          </a:p>
        </p:txBody>
      </p:sp>
      <p:sp>
        <p:nvSpPr>
          <p:cNvPr id="3" name="Content Placeholder 2">
            <a:extLst>
              <a:ext uri="{FF2B5EF4-FFF2-40B4-BE49-F238E27FC236}">
                <a16:creationId xmlns:a16="http://schemas.microsoft.com/office/drawing/2014/main" id="{6879CCA7-EDD4-3F35-C1AE-2520FAFFAF2E}"/>
              </a:ext>
            </a:extLst>
          </p:cNvPr>
          <p:cNvSpPr>
            <a:spLocks noGrp="1"/>
          </p:cNvSpPr>
          <p:nvPr>
            <p:ph idx="1"/>
          </p:nvPr>
        </p:nvSpPr>
        <p:spPr/>
        <p:txBody>
          <a:bodyPr>
            <a:normAutofit fontScale="92500" lnSpcReduction="10000"/>
          </a:bodyPr>
          <a:lstStyle/>
          <a:p>
            <a:r>
              <a:rPr lang="en-US" b="0" i="0" dirty="0">
                <a:solidFill>
                  <a:srgbClr val="273239"/>
                </a:solidFill>
                <a:effectLst/>
                <a:latin typeface="Nunito" pitchFamily="2" charset="0"/>
              </a:rPr>
              <a:t>Amazon Web Services(AWS) offers cloud formation as a service by which you can provision and manage complicated services offered by AWS by using </a:t>
            </a:r>
            <a:r>
              <a:rPr lang="en-US" b="0" i="0" dirty="0" err="1">
                <a:solidFill>
                  <a:srgbClr val="273239"/>
                </a:solidFill>
                <a:effectLst/>
                <a:latin typeface="Nunito" pitchFamily="2" charset="0"/>
              </a:rPr>
              <a:t>IaC</a:t>
            </a:r>
            <a:r>
              <a:rPr lang="en-US" b="0" i="0" dirty="0">
                <a:solidFill>
                  <a:srgbClr val="273239"/>
                </a:solidFill>
                <a:effectLst/>
                <a:latin typeface="Nunito" pitchFamily="2" charset="0"/>
              </a:rPr>
              <a:t>. </a:t>
            </a:r>
          </a:p>
          <a:p>
            <a:endParaRPr lang="en-US" dirty="0">
              <a:solidFill>
                <a:srgbClr val="273239"/>
              </a:solidFill>
              <a:latin typeface="Nunito" pitchFamily="2" charset="0"/>
            </a:endParaRPr>
          </a:p>
          <a:p>
            <a:r>
              <a:rPr lang="en-US" dirty="0">
                <a:solidFill>
                  <a:srgbClr val="273239"/>
                </a:solidFill>
                <a:latin typeface="Nunito" pitchFamily="2" charset="0"/>
              </a:rPr>
              <a:t>CloudFormation</a:t>
            </a:r>
            <a:r>
              <a:rPr lang="en-US" b="0" i="0" dirty="0">
                <a:solidFill>
                  <a:srgbClr val="273239"/>
                </a:solidFill>
                <a:effectLst/>
                <a:latin typeface="Nunito" pitchFamily="2" charset="0"/>
              </a:rPr>
              <a:t> is the service offered by the AWS cloud mainly used to provision the service in the AWS like </a:t>
            </a:r>
            <a:r>
              <a:rPr lang="en-US" b="0" i="0" dirty="0">
                <a:effectLst/>
                <a:latin typeface="Nunito" pitchFamily="2" charset="0"/>
              </a:rPr>
              <a:t>Autoscaling</a:t>
            </a:r>
            <a:r>
              <a:rPr lang="en-US" dirty="0">
                <a:solidFill>
                  <a:srgbClr val="273239"/>
                </a:solidFill>
                <a:latin typeface="Nunito" pitchFamily="2" charset="0"/>
              </a:rPr>
              <a:t> and </a:t>
            </a:r>
            <a:r>
              <a:rPr lang="en-US" b="0" i="0" dirty="0">
                <a:solidFill>
                  <a:srgbClr val="273239"/>
                </a:solidFill>
                <a:effectLst/>
                <a:latin typeface="Nunito" pitchFamily="2" charset="0"/>
              </a:rPr>
              <a:t>l</a:t>
            </a:r>
            <a:r>
              <a:rPr lang="en-US" b="0" i="0" dirty="0">
                <a:effectLst/>
                <a:latin typeface="Nunito" pitchFamily="2" charset="0"/>
              </a:rPr>
              <a:t>oad balancing</a:t>
            </a:r>
            <a:r>
              <a:rPr lang="en-US" b="0" i="0" dirty="0">
                <a:solidFill>
                  <a:srgbClr val="273239"/>
                </a:solidFill>
                <a:effectLst/>
                <a:latin typeface="Nunito" pitchFamily="2" charset="0"/>
              </a:rPr>
              <a:t> and so on.</a:t>
            </a:r>
          </a:p>
          <a:p>
            <a:endParaRPr lang="en-US" b="0" i="0" dirty="0">
              <a:solidFill>
                <a:srgbClr val="273239"/>
              </a:solidFill>
              <a:effectLst/>
              <a:latin typeface="Nunito" pitchFamily="2" charset="0"/>
            </a:endParaRPr>
          </a:p>
          <a:p>
            <a:r>
              <a:rPr lang="en-US" b="0" i="0" dirty="0">
                <a:solidFill>
                  <a:srgbClr val="273239"/>
                </a:solidFill>
                <a:effectLst/>
                <a:latin typeface="Nunito" pitchFamily="2" charset="0"/>
              </a:rPr>
              <a:t> One can provision all the service automation with the Infrastructure as a code (IAC), instead of managing all of them manually with the help of AWS </a:t>
            </a:r>
            <a:r>
              <a:rPr lang="en-US" b="0" i="0" dirty="0" err="1">
                <a:solidFill>
                  <a:srgbClr val="273239"/>
                </a:solidFill>
                <a:effectLst/>
                <a:latin typeface="Nunito" pitchFamily="2" charset="0"/>
              </a:rPr>
              <a:t>Cloudformation</a:t>
            </a:r>
            <a:r>
              <a:rPr lang="en-US" b="0" i="0" dirty="0">
                <a:solidFill>
                  <a:srgbClr val="273239"/>
                </a:solidFill>
                <a:effectLst/>
                <a:latin typeface="Nunito" pitchFamily="2" charset="0"/>
              </a:rPr>
              <a:t>.</a:t>
            </a:r>
            <a:endParaRPr lang="en-US" dirty="0"/>
          </a:p>
        </p:txBody>
      </p:sp>
    </p:spTree>
    <p:extLst>
      <p:ext uri="{BB962C8B-B14F-4D97-AF65-F5344CB8AC3E}">
        <p14:creationId xmlns:p14="http://schemas.microsoft.com/office/powerpoint/2010/main" val="299529630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70D75C-1E10-2590-9ABC-C5AFCFB21451}"/>
              </a:ext>
            </a:extLst>
          </p:cNvPr>
          <p:cNvSpPr>
            <a:spLocks noGrp="1"/>
          </p:cNvSpPr>
          <p:nvPr>
            <p:ph type="title"/>
          </p:nvPr>
        </p:nvSpPr>
        <p:spPr/>
        <p:txBody>
          <a:bodyPr/>
          <a:lstStyle/>
          <a:p>
            <a:r>
              <a:rPr lang="en-US" b="1" i="0" dirty="0">
                <a:solidFill>
                  <a:srgbClr val="273239"/>
                </a:solidFill>
                <a:effectLst/>
                <a:latin typeface="Nunito" pitchFamily="2" charset="0"/>
              </a:rPr>
              <a:t>Features Of AWS </a:t>
            </a:r>
            <a:r>
              <a:rPr lang="en-US" b="1" i="0" dirty="0" err="1">
                <a:solidFill>
                  <a:srgbClr val="273239"/>
                </a:solidFill>
                <a:effectLst/>
                <a:latin typeface="Nunito" pitchFamily="2" charset="0"/>
              </a:rPr>
              <a:t>Cloudformation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13BDA382-234D-2C2B-2010-74E4EE765E91}"/>
              </a:ext>
            </a:extLst>
          </p:cNvPr>
          <p:cNvSpPr>
            <a:spLocks noGrp="1"/>
          </p:cNvSpPr>
          <p:nvPr>
            <p:ph idx="1"/>
          </p:nvPr>
        </p:nvSpPr>
        <p:spPr/>
        <p:txBody>
          <a:bodyPr/>
          <a:lstStyle/>
          <a:p>
            <a:pPr algn="l" fontAlgn="base">
              <a:spcAft>
                <a:spcPts val="1800"/>
              </a:spcAft>
              <a:buFont typeface="+mj-lt"/>
              <a:buAutoNum type="arabicPeriod"/>
            </a:pPr>
            <a:r>
              <a:rPr lang="en-US" b="0" i="0" dirty="0">
                <a:solidFill>
                  <a:srgbClr val="273239"/>
                </a:solidFill>
                <a:effectLst/>
                <a:latin typeface="Nunito" pitchFamily="2" charset="0"/>
              </a:rPr>
              <a:t>No up-front investment</a:t>
            </a:r>
          </a:p>
          <a:p>
            <a:pPr algn="l" fontAlgn="base">
              <a:spcAft>
                <a:spcPts val="1800"/>
              </a:spcAft>
              <a:buFont typeface="+mj-lt"/>
              <a:buAutoNum type="arabicPeriod" startAt="2"/>
            </a:pPr>
            <a:r>
              <a:rPr lang="en-US" b="0" i="0" dirty="0">
                <a:solidFill>
                  <a:srgbClr val="273239"/>
                </a:solidFill>
                <a:effectLst/>
                <a:latin typeface="Nunito" pitchFamily="2" charset="0"/>
              </a:rPr>
              <a:t>Lowering operating cost</a:t>
            </a:r>
          </a:p>
          <a:p>
            <a:pPr algn="l" fontAlgn="base">
              <a:spcAft>
                <a:spcPts val="1800"/>
              </a:spcAft>
              <a:buFont typeface="+mj-lt"/>
              <a:buAutoNum type="arabicPeriod" startAt="3"/>
            </a:pPr>
            <a:r>
              <a:rPr lang="en-US" b="0" i="0" dirty="0">
                <a:solidFill>
                  <a:srgbClr val="273239"/>
                </a:solidFill>
                <a:effectLst/>
                <a:latin typeface="Nunito" pitchFamily="2" charset="0"/>
              </a:rPr>
              <a:t>Highly scalable</a:t>
            </a:r>
          </a:p>
          <a:p>
            <a:pPr algn="l" fontAlgn="base">
              <a:spcAft>
                <a:spcPts val="1800"/>
              </a:spcAft>
              <a:buFont typeface="+mj-lt"/>
              <a:buAutoNum type="arabicPeriod" startAt="4"/>
            </a:pPr>
            <a:r>
              <a:rPr lang="en-US" b="0" i="0" dirty="0">
                <a:solidFill>
                  <a:srgbClr val="273239"/>
                </a:solidFill>
                <a:effectLst/>
                <a:latin typeface="Nunito" pitchFamily="2" charset="0"/>
              </a:rPr>
              <a:t>Easy access</a:t>
            </a:r>
          </a:p>
          <a:p>
            <a:pPr algn="l" fontAlgn="base">
              <a:spcAft>
                <a:spcPts val="1800"/>
              </a:spcAft>
              <a:buFont typeface="+mj-lt"/>
              <a:buAutoNum type="arabicPeriod" startAt="5"/>
            </a:pPr>
            <a:r>
              <a:rPr lang="en-US" b="0" i="0" dirty="0">
                <a:solidFill>
                  <a:srgbClr val="273239"/>
                </a:solidFill>
                <a:effectLst/>
                <a:latin typeface="Nunito" pitchFamily="2" charset="0"/>
              </a:rPr>
              <a:t>Reducing business risks and maintenance expenses</a:t>
            </a:r>
          </a:p>
          <a:p>
            <a:endParaRPr lang="en-US" dirty="0"/>
          </a:p>
        </p:txBody>
      </p:sp>
    </p:spTree>
    <p:extLst>
      <p:ext uri="{BB962C8B-B14F-4D97-AF65-F5344CB8AC3E}">
        <p14:creationId xmlns:p14="http://schemas.microsoft.com/office/powerpoint/2010/main" val="235147343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C76C29-49A9-949D-7F7B-05FC003722DD}"/>
              </a:ext>
            </a:extLst>
          </p:cNvPr>
          <p:cNvSpPr>
            <a:spLocks noGrp="1"/>
          </p:cNvSpPr>
          <p:nvPr>
            <p:ph type="title"/>
          </p:nvPr>
        </p:nvSpPr>
        <p:spPr>
          <a:xfrm>
            <a:off x="838200" y="634949"/>
            <a:ext cx="10515600" cy="624226"/>
          </a:xfrm>
        </p:spPr>
        <p:txBody>
          <a:bodyPr>
            <a:normAutofit fontScale="90000"/>
          </a:bodyPr>
          <a:lstStyle/>
          <a:p>
            <a:r>
              <a:rPr lang="en-US" b="1" i="0" dirty="0">
                <a:solidFill>
                  <a:srgbClr val="273239"/>
                </a:solidFill>
                <a:effectLst/>
                <a:latin typeface="Nunito" pitchFamily="2" charset="0"/>
              </a:rPr>
              <a:t>Benefits of AWS </a:t>
            </a:r>
            <a:r>
              <a:rPr lang="en-US" b="1" i="0" dirty="0" err="1">
                <a:solidFill>
                  <a:srgbClr val="273239"/>
                </a:solidFill>
                <a:effectLst/>
                <a:latin typeface="Nunito" pitchFamily="2" charset="0"/>
              </a:rPr>
              <a:t>Cloudformation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A52C853A-FC37-EEC7-35A6-46777D83B766}"/>
              </a:ext>
            </a:extLst>
          </p:cNvPr>
          <p:cNvSpPr>
            <a:spLocks noGrp="1"/>
          </p:cNvSpPr>
          <p:nvPr>
            <p:ph idx="1"/>
          </p:nvPr>
        </p:nvSpPr>
        <p:spPr>
          <a:xfrm>
            <a:off x="838200" y="1588958"/>
            <a:ext cx="10515600" cy="5022720"/>
          </a:xfrm>
        </p:spPr>
        <p:txBody>
          <a:bodyPr>
            <a:normAutofit fontScale="92500" lnSpcReduction="20000"/>
          </a:bodyPr>
          <a:lstStyle/>
          <a:p>
            <a:pPr algn="l" fontAlgn="base">
              <a:spcAft>
                <a:spcPts val="1800"/>
              </a:spcAft>
              <a:buFont typeface="+mj-lt"/>
              <a:buAutoNum type="arabicPeriod"/>
            </a:pPr>
            <a:r>
              <a:rPr lang="en-US" b="1" i="0" dirty="0">
                <a:solidFill>
                  <a:srgbClr val="273239"/>
                </a:solidFill>
                <a:effectLst/>
                <a:latin typeface="Nunito" pitchFamily="2" charset="0"/>
              </a:rPr>
              <a:t>Automation: </a:t>
            </a:r>
            <a:r>
              <a:rPr lang="en-US" b="0" i="0" dirty="0">
                <a:solidFill>
                  <a:srgbClr val="273239"/>
                </a:solidFill>
                <a:effectLst/>
                <a:latin typeface="Nunito" pitchFamily="2" charset="0"/>
              </a:rPr>
              <a:t>AWS CloudFormation helps to automate the process of creating, configuring, and managing AWS resources. This allows for the infrastructure to be deployed quickly, reliably, and repeatedly.</a:t>
            </a:r>
          </a:p>
          <a:p>
            <a:pPr algn="l" fontAlgn="base">
              <a:spcAft>
                <a:spcPts val="1800"/>
              </a:spcAft>
              <a:buFont typeface="+mj-lt"/>
              <a:buAutoNum type="arabicPeriod" startAt="2"/>
            </a:pPr>
            <a:r>
              <a:rPr lang="en-US" b="1" i="0" dirty="0">
                <a:solidFill>
                  <a:srgbClr val="273239"/>
                </a:solidFill>
                <a:effectLst/>
                <a:latin typeface="Nunito" pitchFamily="2" charset="0"/>
              </a:rPr>
              <a:t>Consistency and standardization: </a:t>
            </a:r>
            <a:r>
              <a:rPr lang="en-US" b="0" i="0" dirty="0">
                <a:solidFill>
                  <a:srgbClr val="273239"/>
                </a:solidFill>
                <a:effectLst/>
                <a:latin typeface="Nunito" pitchFamily="2" charset="0"/>
              </a:rPr>
              <a:t>With AWS CloudFormation, it is possible to create standard templates of infrastructure stacks that can be used to create identical copies of the same infrastructure. This ensures consistency in the infrastructure deployment and makes it easier to maintain.</a:t>
            </a:r>
          </a:p>
          <a:p>
            <a:pPr algn="l" fontAlgn="base">
              <a:spcAft>
                <a:spcPts val="1800"/>
              </a:spcAft>
              <a:buFont typeface="+mj-lt"/>
              <a:buAutoNum type="arabicPeriod" startAt="3"/>
            </a:pPr>
            <a:r>
              <a:rPr lang="en-US" b="1" i="0" dirty="0">
                <a:solidFill>
                  <a:srgbClr val="273239"/>
                </a:solidFill>
                <a:effectLst/>
                <a:latin typeface="Nunito" pitchFamily="2" charset="0"/>
              </a:rPr>
              <a:t>Cost savings: </a:t>
            </a:r>
            <a:r>
              <a:rPr lang="en-US" b="0" i="0" dirty="0">
                <a:solidFill>
                  <a:srgbClr val="273239"/>
                </a:solidFill>
                <a:effectLst/>
                <a:latin typeface="Nunito" pitchFamily="2" charset="0"/>
              </a:rPr>
              <a:t>AWS CloudFormation helps to reduce costs by allowing customers to use existing infrastructure templates and reuse them across multiple environments. This reduces the cost of designing and deploying new infrastructure.</a:t>
            </a:r>
          </a:p>
          <a:p>
            <a:endParaRPr lang="en-US" dirty="0"/>
          </a:p>
        </p:txBody>
      </p:sp>
    </p:spTree>
    <p:extLst>
      <p:ext uri="{BB962C8B-B14F-4D97-AF65-F5344CB8AC3E}">
        <p14:creationId xmlns:p14="http://schemas.microsoft.com/office/powerpoint/2010/main" val="428743966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84E177-6CAE-C8A7-9C95-FC6C82CDFA26}"/>
              </a:ext>
            </a:extLst>
          </p:cNvPr>
          <p:cNvSpPr>
            <a:spLocks noGrp="1"/>
          </p:cNvSpPr>
          <p:nvPr>
            <p:ph type="title"/>
          </p:nvPr>
        </p:nvSpPr>
        <p:spPr/>
        <p:txBody>
          <a:bodyPr/>
          <a:lstStyle/>
          <a:p>
            <a:r>
              <a:rPr lang="en-US" b="1" i="0" dirty="0">
                <a:solidFill>
                  <a:srgbClr val="273239"/>
                </a:solidFill>
                <a:effectLst/>
                <a:latin typeface="Nunito" pitchFamily="2" charset="0"/>
              </a:rPr>
              <a:t>Benefits of AWS </a:t>
            </a:r>
            <a:r>
              <a:rPr lang="en-US" b="1" i="0" dirty="0" err="1">
                <a:solidFill>
                  <a:srgbClr val="273239"/>
                </a:solidFill>
                <a:effectLst/>
                <a:latin typeface="Nunito" pitchFamily="2" charset="0"/>
              </a:rPr>
              <a:t>Cloudformation</a:t>
            </a:r>
            <a:endParaRPr lang="en-US" dirty="0"/>
          </a:p>
        </p:txBody>
      </p:sp>
      <p:sp>
        <p:nvSpPr>
          <p:cNvPr id="3" name="Content Placeholder 2">
            <a:extLst>
              <a:ext uri="{FF2B5EF4-FFF2-40B4-BE49-F238E27FC236}">
                <a16:creationId xmlns:a16="http://schemas.microsoft.com/office/drawing/2014/main" id="{FACFD630-00A8-6A14-C539-85965E569A7E}"/>
              </a:ext>
            </a:extLst>
          </p:cNvPr>
          <p:cNvSpPr>
            <a:spLocks noGrp="1"/>
          </p:cNvSpPr>
          <p:nvPr>
            <p:ph idx="1"/>
          </p:nvPr>
        </p:nvSpPr>
        <p:spPr/>
        <p:txBody>
          <a:bodyPr/>
          <a:lstStyle/>
          <a:p>
            <a:pPr algn="l" fontAlgn="base">
              <a:spcAft>
                <a:spcPts val="1800"/>
              </a:spcAft>
              <a:buFont typeface="+mj-lt"/>
              <a:buAutoNum type="arabicPeriod" startAt="4"/>
            </a:pPr>
            <a:r>
              <a:rPr lang="en-US" b="1" i="0" dirty="0">
                <a:solidFill>
                  <a:srgbClr val="273239"/>
                </a:solidFill>
                <a:effectLst/>
                <a:latin typeface="Nunito" pitchFamily="2" charset="0"/>
              </a:rPr>
              <a:t>Security: </a:t>
            </a:r>
            <a:r>
              <a:rPr lang="en-US" b="0" i="0" dirty="0">
                <a:solidFill>
                  <a:srgbClr val="273239"/>
                </a:solidFill>
                <a:effectLst/>
                <a:latin typeface="Nunito" pitchFamily="2" charset="0"/>
              </a:rPr>
              <a:t>AWS CloudFormation helps to ensure that all AWS resources are configured securely by using security policies and rules. This helps to protect the infrastructure from potential security threats.</a:t>
            </a:r>
          </a:p>
          <a:p>
            <a:pPr algn="l" fontAlgn="base">
              <a:spcAft>
                <a:spcPts val="1800"/>
              </a:spcAft>
              <a:buFont typeface="+mj-lt"/>
              <a:buAutoNum type="arabicPeriod" startAt="5"/>
            </a:pPr>
            <a:r>
              <a:rPr lang="en-US" b="1" i="0" dirty="0">
                <a:solidFill>
                  <a:srgbClr val="273239"/>
                </a:solidFill>
                <a:effectLst/>
                <a:latin typeface="Nunito" pitchFamily="2" charset="0"/>
              </a:rPr>
              <a:t>Scalability: </a:t>
            </a:r>
            <a:r>
              <a:rPr lang="en-US" b="0" i="0" dirty="0">
                <a:solidFill>
                  <a:srgbClr val="273239"/>
                </a:solidFill>
                <a:effectLst/>
                <a:latin typeface="Nunito" pitchFamily="2" charset="0"/>
              </a:rPr>
              <a:t>AWS CloudFormation allows for the quick and easy scaling of resources on demand. This means that customers(developers) can quickly and easily add resources to meet their changing needs.</a:t>
            </a:r>
          </a:p>
          <a:p>
            <a:endParaRPr lang="en-US" dirty="0"/>
          </a:p>
        </p:txBody>
      </p:sp>
    </p:spTree>
    <p:extLst>
      <p:ext uri="{BB962C8B-B14F-4D97-AF65-F5344CB8AC3E}">
        <p14:creationId xmlns:p14="http://schemas.microsoft.com/office/powerpoint/2010/main" val="104214504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A4807B-FC69-F014-3385-CFA2B2B2FA8C}"/>
              </a:ext>
            </a:extLst>
          </p:cNvPr>
          <p:cNvSpPr>
            <a:spLocks noGrp="1"/>
          </p:cNvSpPr>
          <p:nvPr>
            <p:ph type="title"/>
          </p:nvPr>
        </p:nvSpPr>
        <p:spPr/>
        <p:txBody>
          <a:bodyPr>
            <a:normAutofit fontScale="90000"/>
          </a:bodyPr>
          <a:lstStyle/>
          <a:p>
            <a:r>
              <a:rPr lang="en-US" b="1" dirty="0">
                <a:solidFill>
                  <a:srgbClr val="273239"/>
                </a:solidFill>
                <a:latin typeface="Nunito" pitchFamily="2" charset="0"/>
              </a:rPr>
              <a:t>Application Areas</a:t>
            </a:r>
            <a:r>
              <a:rPr lang="en-US" b="1" i="0" dirty="0">
                <a:solidFill>
                  <a:srgbClr val="273239"/>
                </a:solidFill>
                <a:effectLst/>
                <a:latin typeface="Nunito" pitchFamily="2" charset="0"/>
              </a:rPr>
              <a:t> Of AWS </a:t>
            </a:r>
            <a:r>
              <a:rPr lang="en-US" b="1" i="0" dirty="0" err="1">
                <a:solidFill>
                  <a:srgbClr val="273239"/>
                </a:solidFill>
                <a:effectLst/>
                <a:latin typeface="Nunito" pitchFamily="2" charset="0"/>
              </a:rPr>
              <a:t>Cloudformation</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0C0BE973-D182-6A42-B3FA-BB2F8C78FB59}"/>
              </a:ext>
            </a:extLst>
          </p:cNvPr>
          <p:cNvSpPr>
            <a:spLocks noGrp="1"/>
          </p:cNvSpPr>
          <p:nvPr>
            <p:ph idx="1"/>
          </p:nvPr>
        </p:nvSpPr>
        <p:spPr/>
        <p:txBody>
          <a:bodyPr>
            <a:normAutofit fontScale="77500" lnSpcReduction="20000"/>
          </a:bodyPr>
          <a:lstStyle/>
          <a:p>
            <a:pPr algn="l" fontAlgn="base">
              <a:spcAft>
                <a:spcPts val="1800"/>
              </a:spcAft>
              <a:buFont typeface="+mj-lt"/>
              <a:buAutoNum type="arabicPeriod"/>
            </a:pPr>
            <a:r>
              <a:rPr lang="en-US" b="1" i="0" dirty="0">
                <a:solidFill>
                  <a:srgbClr val="273239"/>
                </a:solidFill>
                <a:effectLst/>
                <a:latin typeface="Nunito" pitchFamily="2" charset="0"/>
              </a:rPr>
              <a:t>Infrastructure Provisioning: </a:t>
            </a:r>
            <a:r>
              <a:rPr lang="en-US" b="0" i="0" dirty="0">
                <a:solidFill>
                  <a:srgbClr val="273239"/>
                </a:solidFill>
                <a:effectLst/>
                <a:latin typeface="Nunito" pitchFamily="2" charset="0"/>
              </a:rPr>
              <a:t>AWS </a:t>
            </a:r>
            <a:r>
              <a:rPr lang="en-US" b="0" i="0" dirty="0" err="1">
                <a:solidFill>
                  <a:srgbClr val="273239"/>
                </a:solidFill>
                <a:effectLst/>
                <a:latin typeface="Nunito" pitchFamily="2" charset="0"/>
              </a:rPr>
              <a:t>Cloudformation</a:t>
            </a:r>
            <a:r>
              <a:rPr lang="en-US" b="0" i="0" dirty="0">
                <a:solidFill>
                  <a:srgbClr val="273239"/>
                </a:solidFill>
                <a:effectLst/>
                <a:latin typeface="Nunito" pitchFamily="2" charset="0"/>
              </a:rPr>
              <a:t> is used to provision the infrastructure which means as an infrastructure as a code and it can be performed multiple times to get exact replicas across all the environments.</a:t>
            </a:r>
          </a:p>
          <a:p>
            <a:pPr algn="l" fontAlgn="base">
              <a:spcAft>
                <a:spcPts val="1800"/>
              </a:spcAft>
              <a:buFont typeface="+mj-lt"/>
              <a:buAutoNum type="arabicPeriod" startAt="2"/>
            </a:pPr>
            <a:r>
              <a:rPr lang="en-US" b="1" i="0" dirty="0" err="1">
                <a:solidFill>
                  <a:srgbClr val="273239"/>
                </a:solidFill>
                <a:effectLst/>
                <a:latin typeface="Nunito" pitchFamily="2" charset="0"/>
              </a:rPr>
              <a:t>AutoScaling</a:t>
            </a:r>
            <a:r>
              <a:rPr lang="en-US" b="1" i="0" dirty="0">
                <a:solidFill>
                  <a:srgbClr val="273239"/>
                </a:solidFill>
                <a:effectLst/>
                <a:latin typeface="Nunito" pitchFamily="2" charset="0"/>
              </a:rPr>
              <a:t> Environments: </a:t>
            </a:r>
            <a:r>
              <a:rPr lang="en-US" b="0" i="0" dirty="0">
                <a:solidFill>
                  <a:srgbClr val="273239"/>
                </a:solidFill>
                <a:effectLst/>
                <a:latin typeface="Nunito" pitchFamily="2" charset="0"/>
              </a:rPr>
              <a:t>The infrastructure provisioned using AWS </a:t>
            </a:r>
            <a:r>
              <a:rPr lang="en-US" b="0" i="0" dirty="0" err="1">
                <a:solidFill>
                  <a:srgbClr val="273239"/>
                </a:solidFill>
                <a:effectLst/>
                <a:latin typeface="Nunito" pitchFamily="2" charset="0"/>
              </a:rPr>
              <a:t>Cloudformation</a:t>
            </a:r>
            <a:r>
              <a:rPr lang="en-US" b="0" i="0" dirty="0">
                <a:solidFill>
                  <a:srgbClr val="273239"/>
                </a:solidFill>
                <a:effectLst/>
                <a:latin typeface="Nunito" pitchFamily="2" charset="0"/>
              </a:rPr>
              <a:t> will always get provisioned with scaling environments which will help you scale up and scale down depending on the incoming load.</a:t>
            </a:r>
          </a:p>
          <a:p>
            <a:pPr algn="l" fontAlgn="base">
              <a:spcAft>
                <a:spcPts val="1800"/>
              </a:spcAft>
              <a:buFont typeface="+mj-lt"/>
              <a:buAutoNum type="arabicPeriod" startAt="3"/>
            </a:pPr>
            <a:r>
              <a:rPr lang="en-US" b="1" i="0" dirty="0">
                <a:solidFill>
                  <a:srgbClr val="273239"/>
                </a:solidFill>
                <a:effectLst/>
                <a:latin typeface="Nunito" pitchFamily="2" charset="0"/>
              </a:rPr>
              <a:t>Integration With Services: </a:t>
            </a:r>
            <a:r>
              <a:rPr lang="en-US" i="0" dirty="0">
                <a:solidFill>
                  <a:srgbClr val="273239"/>
                </a:solidFill>
                <a:effectLst/>
                <a:latin typeface="Nunito" pitchFamily="2" charset="0"/>
              </a:rPr>
              <a:t>Y</a:t>
            </a:r>
            <a:r>
              <a:rPr lang="en-US" b="0" i="0" dirty="0">
                <a:solidFill>
                  <a:srgbClr val="273239"/>
                </a:solidFill>
                <a:effectLst/>
                <a:latin typeface="Nunito" pitchFamily="2" charset="0"/>
              </a:rPr>
              <a:t>ou can integrate the AWS </a:t>
            </a:r>
            <a:r>
              <a:rPr lang="en-US" b="0" i="0" dirty="0" err="1">
                <a:solidFill>
                  <a:srgbClr val="273239"/>
                </a:solidFill>
                <a:effectLst/>
                <a:latin typeface="Nunito" pitchFamily="2" charset="0"/>
              </a:rPr>
              <a:t>Cloudformation</a:t>
            </a:r>
            <a:r>
              <a:rPr lang="en-US" b="0" i="0" dirty="0">
                <a:solidFill>
                  <a:srgbClr val="273239"/>
                </a:solidFill>
                <a:effectLst/>
                <a:latin typeface="Nunito" pitchFamily="2" charset="0"/>
              </a:rPr>
              <a:t> with different services like code pipeline, Jenkins CI/CD pipeline and so on which will help to automate the deployment.</a:t>
            </a:r>
          </a:p>
          <a:p>
            <a:pPr algn="l" fontAlgn="base">
              <a:spcAft>
                <a:spcPts val="1800"/>
              </a:spcAft>
              <a:buFont typeface="+mj-lt"/>
              <a:buAutoNum type="arabicPeriod" startAt="4"/>
            </a:pPr>
            <a:r>
              <a:rPr lang="en-US" b="1" i="0" dirty="0">
                <a:solidFill>
                  <a:srgbClr val="273239"/>
                </a:solidFill>
                <a:effectLst/>
                <a:latin typeface="Nunito" pitchFamily="2" charset="0"/>
              </a:rPr>
              <a:t>Deployment In Multiple Regions: </a:t>
            </a:r>
            <a:r>
              <a:rPr lang="en-US" b="0" i="0" dirty="0">
                <a:solidFill>
                  <a:srgbClr val="273239"/>
                </a:solidFill>
                <a:effectLst/>
                <a:latin typeface="Nunito" pitchFamily="2" charset="0"/>
              </a:rPr>
              <a:t>You can manage the AWS cloud formation to deploy it in multiple regions which will help you in disasters.</a:t>
            </a:r>
          </a:p>
          <a:p>
            <a:endParaRPr lang="en-US" dirty="0"/>
          </a:p>
        </p:txBody>
      </p:sp>
    </p:spTree>
    <p:extLst>
      <p:ext uri="{BB962C8B-B14F-4D97-AF65-F5344CB8AC3E}">
        <p14:creationId xmlns:p14="http://schemas.microsoft.com/office/powerpoint/2010/main" val="211105089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4E779B-745E-ED17-C2C7-264049F81462}"/>
              </a:ext>
            </a:extLst>
          </p:cNvPr>
          <p:cNvSpPr>
            <a:spLocks noGrp="1"/>
          </p:cNvSpPr>
          <p:nvPr>
            <p:ph type="title"/>
          </p:nvPr>
        </p:nvSpPr>
        <p:spPr/>
        <p:txBody>
          <a:bodyPr>
            <a:normAutofit fontScale="90000"/>
          </a:bodyPr>
          <a:lstStyle/>
          <a:p>
            <a:br>
              <a:rPr lang="en-US" b="1" i="0" dirty="0">
                <a:solidFill>
                  <a:srgbClr val="273239"/>
                </a:solidFill>
                <a:effectLst/>
                <a:latin typeface="Nunito" pitchFamily="2" charset="0"/>
              </a:rPr>
            </a:br>
            <a:r>
              <a:rPr lang="en-US" b="1" i="0" dirty="0">
                <a:solidFill>
                  <a:srgbClr val="273239"/>
                </a:solidFill>
                <a:effectLst/>
                <a:latin typeface="Nunito" pitchFamily="2" charset="0"/>
              </a:rPr>
              <a:t>CloudFormation (Terms and Concepts)</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284D33A0-DC46-5C82-B2C8-C2774AD72434}"/>
              </a:ext>
            </a:extLst>
          </p:cNvPr>
          <p:cNvSpPr>
            <a:spLocks noGrp="1"/>
          </p:cNvSpPr>
          <p:nvPr>
            <p:ph idx="1"/>
          </p:nvPr>
        </p:nvSpPr>
        <p:spPr/>
        <p:txBody>
          <a:bodyPr/>
          <a:lstStyle/>
          <a:p>
            <a:pPr marL="0" indent="0" algn="l" fontAlgn="base">
              <a:spcBef>
                <a:spcPts val="1800"/>
              </a:spcBef>
              <a:spcAft>
                <a:spcPts val="1800"/>
              </a:spcAft>
              <a:buNone/>
            </a:pPr>
            <a:r>
              <a:rPr lang="en-US" b="1" i="0" dirty="0">
                <a:solidFill>
                  <a:srgbClr val="273239"/>
                </a:solidFill>
                <a:effectLst/>
                <a:latin typeface="Nunito" pitchFamily="2" charset="0"/>
              </a:rPr>
              <a:t>1.Template</a:t>
            </a:r>
          </a:p>
          <a:p>
            <a:pPr algn="l" rtl="0" fontAlgn="base">
              <a:spcAft>
                <a:spcPts val="750"/>
              </a:spcAft>
            </a:pPr>
            <a:r>
              <a:rPr lang="en-US" b="0" i="0" dirty="0">
                <a:solidFill>
                  <a:srgbClr val="273239"/>
                </a:solidFill>
                <a:effectLst/>
                <a:latin typeface="Nunito" pitchFamily="2" charset="0"/>
              </a:rPr>
              <a:t>A CloudFormation template is a simply </a:t>
            </a:r>
            <a:r>
              <a:rPr lang="en-US" b="0" i="0" dirty="0" err="1">
                <a:solidFill>
                  <a:srgbClr val="273239"/>
                </a:solidFill>
                <a:effectLst/>
                <a:latin typeface="Nunito" pitchFamily="2" charset="0"/>
              </a:rPr>
              <a:t>Javascript</a:t>
            </a:r>
            <a:r>
              <a:rPr lang="en-US" b="0" i="0" dirty="0">
                <a:solidFill>
                  <a:srgbClr val="273239"/>
                </a:solidFill>
                <a:effectLst/>
                <a:latin typeface="Nunito" pitchFamily="2" charset="0"/>
              </a:rPr>
              <a:t> Object Notation(JSON) or Yet Another Markup Language(YAML) file that defines the AWS resources to be created and configured.</a:t>
            </a:r>
          </a:p>
          <a:p>
            <a:pPr marL="0" indent="0" algn="l" fontAlgn="base">
              <a:spcBef>
                <a:spcPts val="1800"/>
              </a:spcBef>
              <a:spcAft>
                <a:spcPts val="1800"/>
              </a:spcAft>
              <a:buNone/>
            </a:pPr>
            <a:r>
              <a:rPr lang="en-US" b="1" i="0" dirty="0">
                <a:solidFill>
                  <a:srgbClr val="273239"/>
                </a:solidFill>
                <a:effectLst/>
                <a:latin typeface="Nunito" pitchFamily="2" charset="0"/>
              </a:rPr>
              <a:t>2.Stacks</a:t>
            </a:r>
          </a:p>
          <a:p>
            <a:pPr algn="l" rtl="0" fontAlgn="base">
              <a:spcAft>
                <a:spcPts val="750"/>
              </a:spcAft>
            </a:pPr>
            <a:r>
              <a:rPr lang="en-US" b="0" i="0" dirty="0">
                <a:solidFill>
                  <a:srgbClr val="273239"/>
                </a:solidFill>
                <a:effectLst/>
                <a:latin typeface="Nunito" pitchFamily="2" charset="0"/>
              </a:rPr>
              <a:t>Stacks are the totality of the resources which are contained within a CloudFormation Template.</a:t>
            </a:r>
          </a:p>
          <a:p>
            <a:endParaRPr lang="en-US" dirty="0"/>
          </a:p>
        </p:txBody>
      </p:sp>
    </p:spTree>
    <p:extLst>
      <p:ext uri="{BB962C8B-B14F-4D97-AF65-F5344CB8AC3E}">
        <p14:creationId xmlns:p14="http://schemas.microsoft.com/office/powerpoint/2010/main" val="2389958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360A9-DA41-6B9B-C356-947F30329EE2}"/>
              </a:ext>
            </a:extLst>
          </p:cNvPr>
          <p:cNvSpPr>
            <a:spLocks noGrp="1"/>
          </p:cNvSpPr>
          <p:nvPr>
            <p:ph type="title"/>
          </p:nvPr>
        </p:nvSpPr>
        <p:spPr/>
        <p:txBody>
          <a:bodyPr/>
          <a:lstStyle/>
          <a:p>
            <a:r>
              <a:rPr lang="en-US" b="1" i="0" dirty="0">
                <a:solidFill>
                  <a:srgbClr val="273239"/>
                </a:solidFill>
                <a:effectLst/>
                <a:latin typeface="Nunito" pitchFamily="2" charset="0"/>
              </a:rPr>
              <a:t>CloudFormation (Terms and Concepts)</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0D359DB1-0FBF-7BAD-B644-A2F546CA5FF8}"/>
              </a:ext>
            </a:extLst>
          </p:cNvPr>
          <p:cNvSpPr>
            <a:spLocks noGrp="1"/>
          </p:cNvSpPr>
          <p:nvPr>
            <p:ph idx="1"/>
          </p:nvPr>
        </p:nvSpPr>
        <p:spPr/>
        <p:txBody>
          <a:bodyPr>
            <a:normAutofit fontScale="92500" lnSpcReduction="10000"/>
          </a:bodyPr>
          <a:lstStyle/>
          <a:p>
            <a:pPr marL="0" indent="0" algn="l" fontAlgn="base">
              <a:spcBef>
                <a:spcPts val="1800"/>
              </a:spcBef>
              <a:spcAft>
                <a:spcPts val="1800"/>
              </a:spcAft>
              <a:buNone/>
            </a:pPr>
            <a:r>
              <a:rPr lang="en-US" b="1" i="0" dirty="0">
                <a:solidFill>
                  <a:srgbClr val="273239"/>
                </a:solidFill>
                <a:effectLst/>
                <a:latin typeface="Nunito" pitchFamily="2" charset="0"/>
              </a:rPr>
              <a:t>3.Formatting</a:t>
            </a:r>
          </a:p>
          <a:p>
            <a:pPr algn="just" rtl="0" fontAlgn="base">
              <a:spcAft>
                <a:spcPts val="750"/>
              </a:spcAft>
            </a:pPr>
            <a:r>
              <a:rPr lang="en-US" b="0" i="0" dirty="0">
                <a:solidFill>
                  <a:srgbClr val="273239"/>
                </a:solidFill>
                <a:effectLst/>
                <a:latin typeface="Nunito" pitchFamily="2" charset="0"/>
              </a:rPr>
              <a:t>JSON and YAML is used in handling templates within CloudFormation. YAML is the more appropriate choice and is very much opted for in terms of usage.</a:t>
            </a:r>
          </a:p>
          <a:p>
            <a:pPr algn="just" rtl="0" fontAlgn="base">
              <a:spcAft>
                <a:spcPts val="750"/>
              </a:spcAft>
            </a:pPr>
            <a:endParaRPr lang="en-US" dirty="0">
              <a:solidFill>
                <a:srgbClr val="273239"/>
              </a:solidFill>
              <a:latin typeface="Nunito" pitchFamily="2" charset="0"/>
            </a:endParaRPr>
          </a:p>
          <a:p>
            <a:pPr marL="0" indent="0" algn="l" fontAlgn="base">
              <a:spcBef>
                <a:spcPts val="1800"/>
              </a:spcBef>
              <a:spcAft>
                <a:spcPts val="1800"/>
              </a:spcAft>
              <a:buNone/>
            </a:pPr>
            <a:r>
              <a:rPr lang="en-US" b="1" i="0" dirty="0">
                <a:solidFill>
                  <a:srgbClr val="273239"/>
                </a:solidFill>
                <a:effectLst/>
                <a:latin typeface="Nunito" pitchFamily="2" charset="0"/>
              </a:rPr>
              <a:t>4.Change Sets</a:t>
            </a:r>
          </a:p>
          <a:p>
            <a:pPr algn="just" rtl="0" fontAlgn="base">
              <a:spcAft>
                <a:spcPts val="750"/>
              </a:spcAft>
            </a:pPr>
            <a:r>
              <a:rPr lang="en-US" b="0" i="0" dirty="0">
                <a:solidFill>
                  <a:srgbClr val="273239"/>
                </a:solidFill>
                <a:effectLst/>
                <a:latin typeface="Nunito" pitchFamily="2" charset="0"/>
              </a:rPr>
              <a:t>Change sets are used to examine what CloudFormation will do, in terms of modification or change , to the deployed resources when an update operation is required on a specific stack.</a:t>
            </a:r>
          </a:p>
          <a:p>
            <a:pPr algn="just" rtl="0" fontAlgn="base">
              <a:spcAft>
                <a:spcPts val="750"/>
              </a:spcAft>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282236361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371E47-DBFF-607F-86CD-D10A730DE74A}"/>
              </a:ext>
            </a:extLst>
          </p:cNvPr>
          <p:cNvSpPr>
            <a:spLocks noGrp="1"/>
          </p:cNvSpPr>
          <p:nvPr>
            <p:ph type="title"/>
          </p:nvPr>
        </p:nvSpPr>
        <p:spPr/>
        <p:txBody>
          <a:bodyPr/>
          <a:lstStyle/>
          <a:p>
            <a:r>
              <a:rPr lang="en-US" b="1" i="0" dirty="0">
                <a:solidFill>
                  <a:srgbClr val="273239"/>
                </a:solidFill>
                <a:effectLst/>
                <a:latin typeface="Nunito" pitchFamily="2" charset="0"/>
              </a:rPr>
              <a:t>CloudFormation (Terms and Concepts)</a:t>
            </a:r>
            <a:endParaRPr lang="en-US" dirty="0"/>
          </a:p>
        </p:txBody>
      </p:sp>
      <p:sp>
        <p:nvSpPr>
          <p:cNvPr id="3" name="Content Placeholder 2">
            <a:extLst>
              <a:ext uri="{FF2B5EF4-FFF2-40B4-BE49-F238E27FC236}">
                <a16:creationId xmlns:a16="http://schemas.microsoft.com/office/drawing/2014/main" id="{674789D3-3A14-8AA3-B047-FA853F031C06}"/>
              </a:ext>
            </a:extLst>
          </p:cNvPr>
          <p:cNvSpPr>
            <a:spLocks noGrp="1"/>
          </p:cNvSpPr>
          <p:nvPr>
            <p:ph idx="1"/>
          </p:nvPr>
        </p:nvSpPr>
        <p:spPr/>
        <p:txBody>
          <a:bodyPr>
            <a:normAutofit fontScale="92500" lnSpcReduction="20000"/>
          </a:bodyPr>
          <a:lstStyle/>
          <a:p>
            <a:pPr marL="0" indent="0" algn="l" fontAlgn="base">
              <a:spcBef>
                <a:spcPts val="1800"/>
              </a:spcBef>
              <a:spcAft>
                <a:spcPts val="1800"/>
              </a:spcAft>
              <a:buNone/>
            </a:pPr>
            <a:r>
              <a:rPr lang="en-US" b="1" i="0" dirty="0">
                <a:solidFill>
                  <a:srgbClr val="273239"/>
                </a:solidFill>
                <a:effectLst/>
                <a:latin typeface="Nunito" pitchFamily="2" charset="0"/>
              </a:rPr>
              <a:t>5. Functions</a:t>
            </a:r>
          </a:p>
          <a:p>
            <a:pPr algn="l" rtl="0" fontAlgn="base">
              <a:spcAft>
                <a:spcPts val="750"/>
              </a:spcAft>
            </a:pPr>
            <a:r>
              <a:rPr lang="en-US" b="0" i="0" dirty="0">
                <a:solidFill>
                  <a:srgbClr val="273239"/>
                </a:solidFill>
                <a:effectLst/>
                <a:latin typeface="Nunito" pitchFamily="2" charset="0"/>
              </a:rPr>
              <a:t>CloudFormation comes with several built-in functions and these functions are aimed at making dynamic configuration easier so that as the resources are being deployed, their properties can be adjusted and modified.</a:t>
            </a:r>
          </a:p>
          <a:p>
            <a:pPr algn="l" rtl="0" fontAlgn="base">
              <a:spcAft>
                <a:spcPts val="750"/>
              </a:spcAft>
            </a:pPr>
            <a:endParaRPr lang="en-US" dirty="0">
              <a:solidFill>
                <a:srgbClr val="273239"/>
              </a:solidFill>
              <a:latin typeface="Nunito" pitchFamily="2" charset="0"/>
            </a:endParaRPr>
          </a:p>
          <a:p>
            <a:pPr marL="0" indent="0" algn="l" fontAlgn="base">
              <a:spcBef>
                <a:spcPts val="1800"/>
              </a:spcBef>
              <a:spcAft>
                <a:spcPts val="1800"/>
              </a:spcAft>
              <a:buNone/>
            </a:pPr>
            <a:r>
              <a:rPr lang="en-US" b="1" i="0" dirty="0">
                <a:solidFill>
                  <a:srgbClr val="273239"/>
                </a:solidFill>
                <a:effectLst/>
                <a:latin typeface="Nunito" pitchFamily="2" charset="0"/>
              </a:rPr>
              <a:t>6. Parameters</a:t>
            </a:r>
          </a:p>
          <a:p>
            <a:pPr algn="just" rtl="0" fontAlgn="base">
              <a:spcAft>
                <a:spcPts val="750"/>
              </a:spcAft>
            </a:pPr>
            <a:r>
              <a:rPr lang="en-US" b="0" i="0" dirty="0">
                <a:solidFill>
                  <a:srgbClr val="273239"/>
                </a:solidFill>
                <a:effectLst/>
                <a:latin typeface="Nunito" pitchFamily="2" charset="0"/>
              </a:rPr>
              <a:t>These offer an opportunity for user interaction during the deployment of the stack thus making it easier to create templates that are flexible and reusable. </a:t>
            </a:r>
          </a:p>
          <a:p>
            <a:pPr algn="l" rtl="0" fontAlgn="base">
              <a:spcAft>
                <a:spcPts val="750"/>
              </a:spcAft>
            </a:pPr>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302887720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8335BE-EFA2-5D99-1F79-56FBBA945967}"/>
              </a:ext>
            </a:extLst>
          </p:cNvPr>
          <p:cNvSpPr>
            <a:spLocks noGrp="1"/>
          </p:cNvSpPr>
          <p:nvPr>
            <p:ph type="title"/>
          </p:nvPr>
        </p:nvSpPr>
        <p:spPr/>
        <p:txBody>
          <a:bodyPr/>
          <a:lstStyle/>
          <a:p>
            <a:r>
              <a:rPr lang="en-US" b="1" i="0" dirty="0">
                <a:solidFill>
                  <a:srgbClr val="273239"/>
                </a:solidFill>
                <a:effectLst/>
                <a:latin typeface="Nunito" pitchFamily="2" charset="0"/>
              </a:rPr>
              <a:t>CloudFormation (Terms and Concepts)</a:t>
            </a:r>
            <a:endParaRPr lang="en-US" dirty="0"/>
          </a:p>
        </p:txBody>
      </p:sp>
      <p:sp>
        <p:nvSpPr>
          <p:cNvPr id="3" name="Content Placeholder 2">
            <a:extLst>
              <a:ext uri="{FF2B5EF4-FFF2-40B4-BE49-F238E27FC236}">
                <a16:creationId xmlns:a16="http://schemas.microsoft.com/office/drawing/2014/main" id="{2543D892-20A1-3D4A-6936-4FA14AD5D63A}"/>
              </a:ext>
            </a:extLst>
          </p:cNvPr>
          <p:cNvSpPr>
            <a:spLocks noGrp="1"/>
          </p:cNvSpPr>
          <p:nvPr>
            <p:ph idx="1"/>
          </p:nvPr>
        </p:nvSpPr>
        <p:spPr/>
        <p:txBody>
          <a:bodyPr>
            <a:normAutofit/>
          </a:bodyPr>
          <a:lstStyle/>
          <a:p>
            <a:pPr marL="0" indent="0" algn="just" rtl="0" fontAlgn="base">
              <a:spcAft>
                <a:spcPts val="750"/>
              </a:spcAft>
              <a:buNone/>
            </a:pPr>
            <a:r>
              <a:rPr lang="en-US" b="1" i="0" dirty="0">
                <a:solidFill>
                  <a:srgbClr val="273239"/>
                </a:solidFill>
                <a:effectLst/>
                <a:latin typeface="Nunito" pitchFamily="2" charset="0"/>
              </a:rPr>
              <a:t>7. Conditions</a:t>
            </a:r>
          </a:p>
          <a:p>
            <a:pPr algn="just" rtl="0" fontAlgn="base">
              <a:spcAft>
                <a:spcPts val="750"/>
              </a:spcAft>
            </a:pPr>
            <a:r>
              <a:rPr lang="en-US" b="0" i="0" dirty="0">
                <a:solidFill>
                  <a:srgbClr val="273239"/>
                </a:solidFill>
                <a:effectLst/>
                <a:latin typeface="Nunito" pitchFamily="2" charset="0"/>
              </a:rPr>
              <a:t>Conditions enable or disable the creation of a resource depending on whether certain conditions are true or false.</a:t>
            </a:r>
            <a:endParaRPr lang="en-US" dirty="0"/>
          </a:p>
        </p:txBody>
      </p:sp>
    </p:spTree>
    <p:extLst>
      <p:ext uri="{BB962C8B-B14F-4D97-AF65-F5344CB8AC3E}">
        <p14:creationId xmlns:p14="http://schemas.microsoft.com/office/powerpoint/2010/main" val="220565006"/>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31C54-8A9E-85D0-9FD5-DBBF2EEFDDDD}"/>
              </a:ext>
            </a:extLst>
          </p:cNvPr>
          <p:cNvSpPr>
            <a:spLocks noGrp="1"/>
          </p:cNvSpPr>
          <p:nvPr>
            <p:ph type="title"/>
          </p:nvPr>
        </p:nvSpPr>
        <p:spPr/>
        <p:txBody>
          <a:bodyPr>
            <a:normAutofit/>
          </a:bodyPr>
          <a:lstStyle/>
          <a:p>
            <a:r>
              <a:rPr lang="en-US" b="1" i="0" dirty="0">
                <a:solidFill>
                  <a:srgbClr val="273239"/>
                </a:solidFill>
                <a:effectLst/>
                <a:latin typeface="Nunito" pitchFamily="2" charset="0"/>
              </a:rPr>
              <a:t>Deploy a CloudFormation Template</a:t>
            </a:r>
            <a:br>
              <a:rPr lang="en-US" b="1" i="0" dirty="0">
                <a:solidFill>
                  <a:srgbClr val="273239"/>
                </a:solidFill>
                <a:effectLst/>
                <a:latin typeface="Nunito" pitchFamily="2" charset="0"/>
              </a:rPr>
            </a:br>
            <a:endParaRPr lang="en-US" dirty="0"/>
          </a:p>
        </p:txBody>
      </p:sp>
      <p:sp>
        <p:nvSpPr>
          <p:cNvPr id="3" name="Content Placeholder 2">
            <a:extLst>
              <a:ext uri="{FF2B5EF4-FFF2-40B4-BE49-F238E27FC236}">
                <a16:creationId xmlns:a16="http://schemas.microsoft.com/office/drawing/2014/main" id="{10B4CC19-0EB3-2F99-930E-1C8E479D250B}"/>
              </a:ext>
            </a:extLst>
          </p:cNvPr>
          <p:cNvSpPr>
            <a:spLocks noGrp="1"/>
          </p:cNvSpPr>
          <p:nvPr>
            <p:ph idx="1"/>
          </p:nvPr>
        </p:nvSpPr>
        <p:spPr>
          <a:xfrm>
            <a:off x="838200" y="1690688"/>
            <a:ext cx="10515600" cy="4486275"/>
          </a:xfrm>
        </p:spPr>
        <p:txBody>
          <a:bodyPr>
            <a:normAutofit fontScale="85000" lnSpcReduction="20000"/>
          </a:bodyPr>
          <a:lstStyle/>
          <a:p>
            <a:r>
              <a:rPr lang="en-US" b="1" u="sng" dirty="0">
                <a:solidFill>
                  <a:srgbClr val="273239"/>
                </a:solidFill>
                <a:latin typeface="Nunito" pitchFamily="2" charset="0"/>
              </a:rPr>
              <a:t>Method 1 : </a:t>
            </a:r>
            <a:r>
              <a:rPr lang="en-US" b="0" i="0" dirty="0">
                <a:solidFill>
                  <a:srgbClr val="273239"/>
                </a:solidFill>
                <a:effectLst/>
                <a:latin typeface="Nunito" pitchFamily="2" charset="0"/>
              </a:rPr>
              <a:t>Simply log in, navigate to CloudFormation, and select “Create Stack.” You can then upload your template (in JSON or YAML format), configure parameters, tags, and permissions, and finalize by clicking “Create Stack.”</a:t>
            </a:r>
          </a:p>
          <a:p>
            <a:endParaRPr lang="en-US" b="0" i="0" dirty="0">
              <a:solidFill>
                <a:srgbClr val="273239"/>
              </a:solidFill>
              <a:effectLst/>
              <a:latin typeface="Nunito" pitchFamily="2" charset="0"/>
            </a:endParaRPr>
          </a:p>
          <a:p>
            <a:r>
              <a:rPr lang="en-US" b="1" u="sng" dirty="0">
                <a:solidFill>
                  <a:srgbClr val="273239"/>
                </a:solidFill>
                <a:latin typeface="Nunito" pitchFamily="2" charset="0"/>
              </a:rPr>
              <a:t>Method 2:</a:t>
            </a:r>
            <a:r>
              <a:rPr lang="en-US" dirty="0">
                <a:solidFill>
                  <a:srgbClr val="273239"/>
                </a:solidFill>
                <a:latin typeface="Nunito" pitchFamily="2" charset="0"/>
              </a:rPr>
              <a:t> </a:t>
            </a:r>
            <a:r>
              <a:rPr lang="en-US" b="0" i="0" dirty="0">
                <a:solidFill>
                  <a:srgbClr val="273239"/>
                </a:solidFill>
                <a:effectLst/>
                <a:latin typeface="Nunito" pitchFamily="2" charset="0"/>
              </a:rPr>
              <a:t>For a more graphical approach, </a:t>
            </a:r>
            <a:r>
              <a:rPr lang="en-US" b="1" i="0" dirty="0">
                <a:solidFill>
                  <a:srgbClr val="273239"/>
                </a:solidFill>
                <a:effectLst/>
                <a:latin typeface="Nunito" pitchFamily="2" charset="0"/>
              </a:rPr>
              <a:t>CloudFormation Designer</a:t>
            </a:r>
            <a:r>
              <a:rPr lang="en-US" b="0" i="0" dirty="0">
                <a:solidFill>
                  <a:srgbClr val="273239"/>
                </a:solidFill>
                <a:effectLst/>
                <a:latin typeface="Nunito" pitchFamily="2" charset="0"/>
              </a:rPr>
              <a:t> allows users to visually build or modify templates using a drag-and-drop interface within the AWS Console. After creating or adjusting your template, deployment is just a click away by selecting “Create Stack.”</a:t>
            </a:r>
          </a:p>
          <a:p>
            <a:endParaRPr lang="en-US" dirty="0">
              <a:solidFill>
                <a:srgbClr val="273239"/>
              </a:solidFill>
              <a:latin typeface="Nunito" pitchFamily="2" charset="0"/>
            </a:endParaRPr>
          </a:p>
          <a:p>
            <a:r>
              <a:rPr lang="en-US" b="1" i="0" u="sng" dirty="0">
                <a:solidFill>
                  <a:srgbClr val="273239"/>
                </a:solidFill>
                <a:effectLst/>
                <a:latin typeface="Nunito" pitchFamily="2" charset="0"/>
              </a:rPr>
              <a:t>Method 3:</a:t>
            </a:r>
            <a:r>
              <a:rPr lang="en-US" b="0" i="0" dirty="0">
                <a:solidFill>
                  <a:srgbClr val="273239"/>
                </a:solidFill>
                <a:effectLst/>
                <a:latin typeface="Nunito" pitchFamily="2" charset="0"/>
              </a:rPr>
              <a:t> After ensuring the AWS CLI is installed and configured, you can deploy your template by running a simple command. This method is particularly useful for developers who want to integrate deployments into CI/CD pipelines or automate infrastructure tasks.</a:t>
            </a:r>
          </a:p>
          <a:p>
            <a:endParaRPr lang="en-US" dirty="0">
              <a:solidFill>
                <a:srgbClr val="273239"/>
              </a:solidFill>
              <a:latin typeface="Nunito" pitchFamily="2" charset="0"/>
            </a:endParaRPr>
          </a:p>
          <a:p>
            <a:endParaRPr lang="en-US" b="0" i="0" dirty="0">
              <a:solidFill>
                <a:srgbClr val="273239"/>
              </a:solidFill>
              <a:effectLst/>
              <a:latin typeface="Nunito" pitchFamily="2" charset="0"/>
            </a:endParaRPr>
          </a:p>
          <a:p>
            <a:endParaRPr lang="en-US" dirty="0"/>
          </a:p>
        </p:txBody>
      </p:sp>
    </p:spTree>
    <p:extLst>
      <p:ext uri="{BB962C8B-B14F-4D97-AF65-F5344CB8AC3E}">
        <p14:creationId xmlns:p14="http://schemas.microsoft.com/office/powerpoint/2010/main" val="1588983093"/>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9B630B-BA47-FA88-5AFC-4303B610A262}"/>
              </a:ext>
            </a:extLst>
          </p:cNvPr>
          <p:cNvSpPr>
            <a:spLocks noGrp="1"/>
          </p:cNvSpPr>
          <p:nvPr>
            <p:ph type="title"/>
          </p:nvPr>
        </p:nvSpPr>
        <p:spPr>
          <a:xfrm>
            <a:off x="838200" y="2766218"/>
            <a:ext cx="10515600" cy="1325563"/>
          </a:xfrm>
        </p:spPr>
        <p:txBody>
          <a:bodyPr/>
          <a:lstStyle/>
          <a:p>
            <a:pPr algn="ctr"/>
            <a:r>
              <a:rPr lang="en-US" dirty="0"/>
              <a:t>End of Slides</a:t>
            </a:r>
          </a:p>
        </p:txBody>
      </p:sp>
    </p:spTree>
    <p:extLst>
      <p:ext uri="{BB962C8B-B14F-4D97-AF65-F5344CB8AC3E}">
        <p14:creationId xmlns:p14="http://schemas.microsoft.com/office/powerpoint/2010/main" val="323998856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424</TotalTime>
  <Words>1964</Words>
  <Application>Microsoft Office PowerPoint</Application>
  <PresentationFormat>Widescreen</PresentationFormat>
  <Paragraphs>136</Paragraphs>
  <Slides>30</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30</vt:i4>
      </vt:variant>
    </vt:vector>
  </HeadingPairs>
  <TitlesOfParts>
    <vt:vector size="38" baseType="lpstr">
      <vt:lpstr>Aptos</vt:lpstr>
      <vt:lpstr>Aptos Display</vt:lpstr>
      <vt:lpstr>Arial</vt:lpstr>
      <vt:lpstr>Google Sans</vt:lpstr>
      <vt:lpstr>Nunito</vt:lpstr>
      <vt:lpstr>Open Sans</vt:lpstr>
      <vt:lpstr>Roboto Condensed</vt:lpstr>
      <vt:lpstr>Office Theme</vt:lpstr>
      <vt:lpstr>Infrastructure Provisioning</vt:lpstr>
      <vt:lpstr>Infrastructure Provisioning</vt:lpstr>
      <vt:lpstr>Infrastructure Provisioning</vt:lpstr>
      <vt:lpstr>Benefits of Infrastructure Provisioning </vt:lpstr>
      <vt:lpstr>Types of Infrastructure Provisioning </vt:lpstr>
      <vt:lpstr>Types of Infrastructure Provisioning</vt:lpstr>
      <vt:lpstr>Types of Infrastructure Provisioning</vt:lpstr>
      <vt:lpstr>Types of Infrastructure Provisioning</vt:lpstr>
      <vt:lpstr>Infrastructure Provisioning Tools</vt:lpstr>
      <vt:lpstr>Terraform </vt:lpstr>
      <vt:lpstr>Terraform</vt:lpstr>
      <vt:lpstr>Terraform</vt:lpstr>
      <vt:lpstr>Terraform</vt:lpstr>
      <vt:lpstr>Terraform</vt:lpstr>
      <vt:lpstr>Terraform</vt:lpstr>
      <vt:lpstr>Basic Terraform Commands</vt:lpstr>
      <vt:lpstr>Basic Terraform Commands</vt:lpstr>
      <vt:lpstr>Basic Terraform Commands</vt:lpstr>
      <vt:lpstr>Basic Terraform Commands</vt:lpstr>
      <vt:lpstr>CloudFormation(AWS)</vt:lpstr>
      <vt:lpstr>Features Of AWS Cloudformation </vt:lpstr>
      <vt:lpstr>Benefits of AWS Cloudformation </vt:lpstr>
      <vt:lpstr>Benefits of AWS Cloudformation</vt:lpstr>
      <vt:lpstr>Application Areas Of AWS Cloudformation </vt:lpstr>
      <vt:lpstr> CloudFormation (Terms and Concepts) </vt:lpstr>
      <vt:lpstr>CloudFormation (Terms and Concepts) </vt:lpstr>
      <vt:lpstr>CloudFormation (Terms and Concepts)</vt:lpstr>
      <vt:lpstr>CloudFormation (Terms and Concepts)</vt:lpstr>
      <vt:lpstr>Deploy a CloudFormation Template </vt:lpstr>
      <vt:lpstr>End of Slides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Arjun Arora</dc:creator>
  <cp:lastModifiedBy>Arjun Arora</cp:lastModifiedBy>
  <cp:revision>66</cp:revision>
  <dcterms:created xsi:type="dcterms:W3CDTF">2025-03-03T06:23:10Z</dcterms:created>
  <dcterms:modified xsi:type="dcterms:W3CDTF">2025-04-02T10:13:22Z</dcterms:modified>
</cp:coreProperties>
</file>