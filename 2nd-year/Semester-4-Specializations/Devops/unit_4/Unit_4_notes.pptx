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72" r:id="rId4"/>
    <p:sldId id="274" r:id="rId5"/>
    <p:sldId id="275" r:id="rId6"/>
    <p:sldId id="273" r:id="rId7"/>
    <p:sldId id="258" r:id="rId8"/>
    <p:sldId id="276" r:id="rId9"/>
    <p:sldId id="259" r:id="rId10"/>
    <p:sldId id="260" r:id="rId11"/>
    <p:sldId id="27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53C9F-C64B-9B70-F08C-2B979C1890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50BD34-4DD4-5310-7EE9-E32699D39A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30225D7-10F2-3610-BFDD-D9EAE55E68EB}"/>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5" name="Footer Placeholder 4">
            <a:extLst>
              <a:ext uri="{FF2B5EF4-FFF2-40B4-BE49-F238E27FC236}">
                <a16:creationId xmlns:a16="http://schemas.microsoft.com/office/drawing/2014/main" id="{E4091797-4FBF-278B-F149-0A18FFCED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48A76B-6E8A-1377-E1DA-A3E56EB20BFB}"/>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2501731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FC135-81D1-265B-C0E1-79117B98B8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44AB-F449-70FF-3CAD-B07F2D65C8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51AA3D-7A41-8935-4A11-1CD6435CDC7B}"/>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5" name="Footer Placeholder 4">
            <a:extLst>
              <a:ext uri="{FF2B5EF4-FFF2-40B4-BE49-F238E27FC236}">
                <a16:creationId xmlns:a16="http://schemas.microsoft.com/office/drawing/2014/main" id="{D70B5D34-6074-7E8F-F0BD-9BCA85C828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FCDB5-F9FB-A466-D768-9276EA0F7C85}"/>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913309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8EC65-EC2F-62C9-796E-A8A97FC158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81B283-BA11-4F99-E531-1166B5D17F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0B8B9D-602A-2081-4C6D-A1F228394C83}"/>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5" name="Footer Placeholder 4">
            <a:extLst>
              <a:ext uri="{FF2B5EF4-FFF2-40B4-BE49-F238E27FC236}">
                <a16:creationId xmlns:a16="http://schemas.microsoft.com/office/drawing/2014/main" id="{D18AE550-7D8F-C901-B2A1-6FED2FCB8D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21C00-0458-D446-3B30-05C066FB206F}"/>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787128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E380-5B07-E9A5-31EE-627A47FA36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1D8A36-847B-CBB1-7C35-E1F0693A87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03503-84BA-D79D-600E-4A85A0C0AB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DD0F6C-2F15-34DF-34B2-5BB32A59F417}"/>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6" name="Footer Placeholder 5">
            <a:extLst>
              <a:ext uri="{FF2B5EF4-FFF2-40B4-BE49-F238E27FC236}">
                <a16:creationId xmlns:a16="http://schemas.microsoft.com/office/drawing/2014/main" id="{D6972110-C4F1-8685-D576-67040E7A75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65F8C8-5251-7844-7E27-F9D88C3FCADF}"/>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2906628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F95BB-AF8D-8194-58C9-945ED34FE9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44A5DE-F588-8CE6-DAF2-2851F0A129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6E814A-7AF5-2612-CFE9-214842BAF7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D616A1-9AD4-BFB0-F426-2FC00D5456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602EF5-3E00-7CB2-9769-66CEA7E9C9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89AB5D-50F4-8576-213E-A21ADFDE4E1B}"/>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8" name="Footer Placeholder 7">
            <a:extLst>
              <a:ext uri="{FF2B5EF4-FFF2-40B4-BE49-F238E27FC236}">
                <a16:creationId xmlns:a16="http://schemas.microsoft.com/office/drawing/2014/main" id="{E1F10542-3D2C-86F5-FFC3-4B5ADF01E0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3234B1-4C11-08F9-ABA4-DC5DF93EDA13}"/>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1719027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BD260-580E-18BF-B6BB-055DF541E8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81D6FC1-6267-1A2B-F5D7-F18E4FD6997B}"/>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4" name="Footer Placeholder 3">
            <a:extLst>
              <a:ext uri="{FF2B5EF4-FFF2-40B4-BE49-F238E27FC236}">
                <a16:creationId xmlns:a16="http://schemas.microsoft.com/office/drawing/2014/main" id="{B2F26E56-7F6C-949C-D798-DC6C6D8C59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CCE17A-8C5E-BF34-F917-365B1F4A223F}"/>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443316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12B9BB-C173-1F7F-070F-4A0C0B088252}"/>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3" name="Footer Placeholder 2">
            <a:extLst>
              <a:ext uri="{FF2B5EF4-FFF2-40B4-BE49-F238E27FC236}">
                <a16:creationId xmlns:a16="http://schemas.microsoft.com/office/drawing/2014/main" id="{8E205323-E75F-2847-6508-F9AAAE8F8E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0DC414-9F16-6C60-7B78-51E4CBF42582}"/>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202818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BDE54-F629-EBE5-DE3F-2A41184C95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DCD943-3D9F-20C2-B74C-C2A24B990F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DB4A72-7F06-CCCB-7231-CBF3C719B1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46B468-4241-E617-92CF-09F83B5C168B}"/>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6" name="Footer Placeholder 5">
            <a:extLst>
              <a:ext uri="{FF2B5EF4-FFF2-40B4-BE49-F238E27FC236}">
                <a16:creationId xmlns:a16="http://schemas.microsoft.com/office/drawing/2014/main" id="{E37D342E-0339-4D70-3C9D-FB84CC4BF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FC348B-4B3D-77AA-F00C-2A8D95AD87CA}"/>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485080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5CC4C-AD2B-2E2F-B446-ECFC0DC0FB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782942-89AC-62A3-3872-ED5EBB4D1C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B3F845-B02B-24B5-D47C-BA530959F0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D67089-BE98-1EB8-80D4-BECBECA0AC65}"/>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6" name="Footer Placeholder 5">
            <a:extLst>
              <a:ext uri="{FF2B5EF4-FFF2-40B4-BE49-F238E27FC236}">
                <a16:creationId xmlns:a16="http://schemas.microsoft.com/office/drawing/2014/main" id="{741CC164-BB1E-61A2-04CE-D13D4B03BA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83189-648A-1AE6-1E56-A94417B7995D}"/>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3917780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A86A4-BAEC-2D47-57BF-AB68A6DA11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73FEA9-3732-72A9-76A5-E2F5F501B6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99C27-3AF5-7D65-5E26-2E8EB46A1DD4}"/>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5" name="Footer Placeholder 4">
            <a:extLst>
              <a:ext uri="{FF2B5EF4-FFF2-40B4-BE49-F238E27FC236}">
                <a16:creationId xmlns:a16="http://schemas.microsoft.com/office/drawing/2014/main" id="{97E37A87-5AE6-D79F-47C2-EC106D4A7A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9B8714-221D-53EB-0366-C3C82E4ABAAA}"/>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1471319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4CED1C-4DE3-48DB-5D74-017565507C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2E89BC-CE0C-AEC1-68C2-207BEDAD387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9C1760-A09F-AC64-055C-FD567E28E5D5}"/>
              </a:ext>
            </a:extLst>
          </p:cNvPr>
          <p:cNvSpPr>
            <a:spLocks noGrp="1"/>
          </p:cNvSpPr>
          <p:nvPr>
            <p:ph type="dt" sz="half" idx="10"/>
          </p:nvPr>
        </p:nvSpPr>
        <p:spPr/>
        <p:txBody>
          <a:bodyPr/>
          <a:lstStyle/>
          <a:p>
            <a:fld id="{94B4578E-5405-41B4-8D15-D5812515805F}" type="datetimeFigureOut">
              <a:rPr lang="en-US" smtClean="0"/>
              <a:t>4/2/2025</a:t>
            </a:fld>
            <a:endParaRPr lang="en-US"/>
          </a:p>
        </p:txBody>
      </p:sp>
      <p:sp>
        <p:nvSpPr>
          <p:cNvPr id="5" name="Footer Placeholder 4">
            <a:extLst>
              <a:ext uri="{FF2B5EF4-FFF2-40B4-BE49-F238E27FC236}">
                <a16:creationId xmlns:a16="http://schemas.microsoft.com/office/drawing/2014/main" id="{BE59F88D-4670-F7C9-55DD-90F9544D00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0EFACF-CA2B-F79D-F703-7247B37966FB}"/>
              </a:ext>
            </a:extLst>
          </p:cNvPr>
          <p:cNvSpPr>
            <a:spLocks noGrp="1"/>
          </p:cNvSpPr>
          <p:nvPr>
            <p:ph type="sldNum" sz="quarter" idx="12"/>
          </p:nvPr>
        </p:nvSpPr>
        <p:spPr/>
        <p:txBody>
          <a:bodyPr/>
          <a:lstStyle/>
          <a:p>
            <a:fld id="{5E85D55A-B22F-43E8-8859-328FF3560982}" type="slidenum">
              <a:rPr lang="en-US" smtClean="0"/>
              <a:t>‹#›</a:t>
            </a:fld>
            <a:endParaRPr lang="en-US"/>
          </a:p>
        </p:txBody>
      </p:sp>
    </p:spTree>
    <p:extLst>
      <p:ext uri="{BB962C8B-B14F-4D97-AF65-F5344CB8AC3E}">
        <p14:creationId xmlns:p14="http://schemas.microsoft.com/office/powerpoint/2010/main" val="559404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9F3C6E-D47F-66CB-AFFA-874BA7BEE9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9511D7-FE73-4646-5F30-78CAD3EE25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0869DD-77CE-1C5C-B823-3FF990D246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B4578E-5405-41B4-8D15-D5812515805F}" type="datetimeFigureOut">
              <a:rPr lang="en-US" smtClean="0"/>
              <a:t>4/2/2025</a:t>
            </a:fld>
            <a:endParaRPr lang="en-US"/>
          </a:p>
        </p:txBody>
      </p:sp>
      <p:sp>
        <p:nvSpPr>
          <p:cNvPr id="5" name="Footer Placeholder 4">
            <a:extLst>
              <a:ext uri="{FF2B5EF4-FFF2-40B4-BE49-F238E27FC236}">
                <a16:creationId xmlns:a16="http://schemas.microsoft.com/office/drawing/2014/main" id="{41A95810-E596-CEBC-4884-A33E71C43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7943DF-86EF-4FDE-E68E-7D21F052EF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85D55A-B22F-43E8-8859-328FF3560982}" type="slidenum">
              <a:rPr lang="en-US" smtClean="0"/>
              <a:t>‹#›</a:t>
            </a:fld>
            <a:endParaRPr lang="en-US"/>
          </a:p>
        </p:txBody>
      </p:sp>
    </p:spTree>
    <p:extLst>
      <p:ext uri="{BB962C8B-B14F-4D97-AF65-F5344CB8AC3E}">
        <p14:creationId xmlns:p14="http://schemas.microsoft.com/office/powerpoint/2010/main" val="8242535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D2795-EF4E-BDA7-00A5-F53874540A17}"/>
              </a:ext>
            </a:extLst>
          </p:cNvPr>
          <p:cNvSpPr>
            <a:spLocks noGrp="1"/>
          </p:cNvSpPr>
          <p:nvPr>
            <p:ph type="ctrTitle"/>
          </p:nvPr>
        </p:nvSpPr>
        <p:spPr/>
        <p:txBody>
          <a:bodyPr/>
          <a:lstStyle/>
          <a:p>
            <a:r>
              <a:rPr lang="en-US" dirty="0"/>
              <a:t>SCM and GIT Fundamentals </a:t>
            </a:r>
          </a:p>
        </p:txBody>
      </p:sp>
      <p:sp>
        <p:nvSpPr>
          <p:cNvPr id="3" name="Subtitle 2">
            <a:extLst>
              <a:ext uri="{FF2B5EF4-FFF2-40B4-BE49-F238E27FC236}">
                <a16:creationId xmlns:a16="http://schemas.microsoft.com/office/drawing/2014/main" id="{63AC8EE8-7987-4E9A-4FC0-32477782547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62201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CACD-E90D-4A39-2CB5-7670ECF5EDB4}"/>
              </a:ext>
            </a:extLst>
          </p:cNvPr>
          <p:cNvSpPr>
            <a:spLocks noGrp="1"/>
          </p:cNvSpPr>
          <p:nvPr>
            <p:ph type="title"/>
          </p:nvPr>
        </p:nvSpPr>
        <p:spPr>
          <a:xfrm>
            <a:off x="838200" y="365125"/>
            <a:ext cx="10515600" cy="759137"/>
          </a:xfrm>
        </p:spPr>
        <p:txBody>
          <a:bodyPr>
            <a:normAutofit/>
          </a:bodyPr>
          <a:lstStyle/>
          <a:p>
            <a:r>
              <a:rPr lang="en-US" sz="3200" kern="0" dirty="0">
                <a:solidFill>
                  <a:srgbClr val="000000"/>
                </a:solidFill>
                <a:effectLst/>
                <a:latin typeface="Franklin Gothic Medium" panose="020B0603020102020204" pitchFamily="34" charset="0"/>
                <a:ea typeface="Times New Roman" panose="02020603050405020304" pitchFamily="18" charset="0"/>
                <a:cs typeface="Times New Roman" panose="02020603050405020304" pitchFamily="18" charset="0"/>
              </a:rPr>
              <a:t>Introduction to VCS (Git)</a:t>
            </a:r>
            <a:endParaRPr lang="en-US" sz="6600" dirty="0"/>
          </a:p>
        </p:txBody>
      </p:sp>
      <p:sp>
        <p:nvSpPr>
          <p:cNvPr id="3" name="Content Placeholder 2">
            <a:extLst>
              <a:ext uri="{FF2B5EF4-FFF2-40B4-BE49-F238E27FC236}">
                <a16:creationId xmlns:a16="http://schemas.microsoft.com/office/drawing/2014/main" id="{E3F00677-3C2E-E3B6-EDE1-A735ABD46BDB}"/>
              </a:ext>
            </a:extLst>
          </p:cNvPr>
          <p:cNvSpPr>
            <a:spLocks noGrp="1"/>
          </p:cNvSpPr>
          <p:nvPr>
            <p:ph idx="1"/>
          </p:nvPr>
        </p:nvSpPr>
        <p:spPr>
          <a:xfrm>
            <a:off x="838200" y="1424066"/>
            <a:ext cx="10515600" cy="4752897"/>
          </a:xfrm>
        </p:spPr>
        <p:txBody>
          <a:bodyPr>
            <a:normAutofit fontScale="92500"/>
          </a:bodyPr>
          <a:lstStyle/>
          <a:p>
            <a:r>
              <a:rPr lang="en-US" b="0" i="0" dirty="0">
                <a:solidFill>
                  <a:srgbClr val="273239"/>
                </a:solidFill>
                <a:effectLst/>
                <a:latin typeface="Nunito" pitchFamily="2" charset="0"/>
              </a:rPr>
              <a:t>Version control systems are a category of software tools that helps in recording changes made to files by keeping a track of modifications done in the code. </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A version control system is a kind of software that helps the developer team to efficiently communicate and manage(track) all the changes that have been made to the source code along with the information like who made and what changes have been made.</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Basically, Version control system keeps track on changes made on a particular software and take a snapshot of every modification.</a:t>
            </a:r>
            <a:endParaRPr lang="en-US" dirty="0"/>
          </a:p>
        </p:txBody>
      </p:sp>
    </p:spTree>
    <p:extLst>
      <p:ext uri="{BB962C8B-B14F-4D97-AF65-F5344CB8AC3E}">
        <p14:creationId xmlns:p14="http://schemas.microsoft.com/office/powerpoint/2010/main" val="3104388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E470B-0AAA-2F3E-BF96-AA95EC657FDC}"/>
              </a:ext>
            </a:extLst>
          </p:cNvPr>
          <p:cNvSpPr>
            <a:spLocks noGrp="1"/>
          </p:cNvSpPr>
          <p:nvPr>
            <p:ph type="title"/>
          </p:nvPr>
        </p:nvSpPr>
        <p:spPr>
          <a:xfrm>
            <a:off x="838200" y="365126"/>
            <a:ext cx="10515600" cy="654206"/>
          </a:xfrm>
        </p:spPr>
        <p:txBody>
          <a:bodyPr>
            <a:normAutofit fontScale="90000"/>
          </a:bodyPr>
          <a:lstStyle/>
          <a:p>
            <a:r>
              <a:rPr lang="en-US" sz="4400" kern="0" dirty="0">
                <a:solidFill>
                  <a:srgbClr val="000000"/>
                </a:solidFill>
                <a:effectLst/>
                <a:latin typeface="Franklin Gothic Medium" panose="020B0603020102020204" pitchFamily="34" charset="0"/>
                <a:ea typeface="Times New Roman" panose="02020603050405020304" pitchFamily="18" charset="0"/>
                <a:cs typeface="Times New Roman" panose="02020603050405020304" pitchFamily="18" charset="0"/>
              </a:rPr>
              <a:t>Introduction to VCS (Git)</a:t>
            </a:r>
            <a:endParaRPr lang="en-US" dirty="0"/>
          </a:p>
        </p:txBody>
      </p:sp>
      <p:sp>
        <p:nvSpPr>
          <p:cNvPr id="3" name="Content Placeholder 2">
            <a:extLst>
              <a:ext uri="{FF2B5EF4-FFF2-40B4-BE49-F238E27FC236}">
                <a16:creationId xmlns:a16="http://schemas.microsoft.com/office/drawing/2014/main" id="{077D1FD1-6B9B-560D-D5C8-222DA2A08181}"/>
              </a:ext>
            </a:extLst>
          </p:cNvPr>
          <p:cNvSpPr>
            <a:spLocks noGrp="1"/>
          </p:cNvSpPr>
          <p:nvPr>
            <p:ph idx="1"/>
          </p:nvPr>
        </p:nvSpPr>
        <p:spPr>
          <a:xfrm>
            <a:off x="838200" y="1304144"/>
            <a:ext cx="10515600" cy="4872819"/>
          </a:xfrm>
        </p:spPr>
        <p:txBody>
          <a:bodyPr>
            <a:normAutofit fontScale="77500" lnSpcReduction="20000"/>
          </a:bodyPr>
          <a:lstStyle/>
          <a:p>
            <a:pPr algn="l" fontAlgn="base">
              <a:spcAft>
                <a:spcPts val="750"/>
              </a:spcAft>
            </a:pPr>
            <a:r>
              <a:rPr lang="en-US" b="1" i="0" dirty="0">
                <a:solidFill>
                  <a:srgbClr val="273239"/>
                </a:solidFill>
                <a:effectLst/>
                <a:latin typeface="Nunito" pitchFamily="2" charset="0"/>
              </a:rPr>
              <a:t>Benefits of the version control system:</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Enhances the project development speed by providing efficient collaboration,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Leverages the productivity, expedites product delivery, and skills of the employees through better communication and assistance,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Reduce possibilities of errors and conflicts meanwhile project development through traceability to every small change,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Employees or contributors of the project can contribute from anywhere irrespective of the different geographical locations through this </a:t>
            </a:r>
            <a:r>
              <a:rPr lang="en-US" b="1" i="0" dirty="0">
                <a:solidFill>
                  <a:srgbClr val="273239"/>
                </a:solidFill>
                <a:effectLst/>
                <a:latin typeface="Nunito" pitchFamily="2" charset="0"/>
              </a:rPr>
              <a:t>VCS.</a:t>
            </a:r>
            <a:endParaRPr lang="en-US" b="0"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For each different contributor to the project, a different working copy is maintained and not merged to the main file unless the working copy is validated.</a:t>
            </a:r>
          </a:p>
          <a:p>
            <a:endParaRPr lang="en-US" dirty="0"/>
          </a:p>
        </p:txBody>
      </p:sp>
    </p:spTree>
    <p:extLst>
      <p:ext uri="{BB962C8B-B14F-4D97-AF65-F5344CB8AC3E}">
        <p14:creationId xmlns:p14="http://schemas.microsoft.com/office/powerpoint/2010/main" val="4246621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69787-04AA-E8DE-330D-C1B58C2A2ED5}"/>
              </a:ext>
            </a:extLst>
          </p:cNvPr>
          <p:cNvSpPr>
            <a:spLocks noGrp="1"/>
          </p:cNvSpPr>
          <p:nvPr>
            <p:ph type="title"/>
          </p:nvPr>
        </p:nvSpPr>
        <p:spPr/>
        <p:txBody>
          <a:bodyPr/>
          <a:lstStyle/>
          <a:p>
            <a:r>
              <a:rPr lang="en-US" sz="4400" kern="0" dirty="0">
                <a:solidFill>
                  <a:srgbClr val="000000"/>
                </a:solidFill>
                <a:effectLst/>
                <a:latin typeface="Franklin Gothic Medium" panose="020B0603020102020204" pitchFamily="34" charset="0"/>
                <a:ea typeface="Times New Roman" panose="02020603050405020304" pitchFamily="18" charset="0"/>
                <a:cs typeface="Times New Roman" panose="02020603050405020304" pitchFamily="18" charset="0"/>
              </a:rPr>
              <a:t>Introduction to VCS (Git)</a:t>
            </a:r>
            <a:endParaRPr lang="en-US" dirty="0"/>
          </a:p>
        </p:txBody>
      </p:sp>
      <p:sp>
        <p:nvSpPr>
          <p:cNvPr id="3" name="Content Placeholder 2">
            <a:extLst>
              <a:ext uri="{FF2B5EF4-FFF2-40B4-BE49-F238E27FC236}">
                <a16:creationId xmlns:a16="http://schemas.microsoft.com/office/drawing/2014/main" id="{F561EE22-CF9E-CCA1-3B5A-44308D88C68E}"/>
              </a:ext>
            </a:extLst>
          </p:cNvPr>
          <p:cNvSpPr>
            <a:spLocks noGrp="1"/>
          </p:cNvSpPr>
          <p:nvPr>
            <p:ph idx="1"/>
          </p:nvPr>
        </p:nvSpPr>
        <p:spPr/>
        <p:txBody>
          <a:bodyPr>
            <a:normAutofit fontScale="92500" lnSpcReduction="10000"/>
          </a:bodyPr>
          <a:lstStyle/>
          <a:p>
            <a:r>
              <a:rPr lang="en-US" b="1" dirty="0">
                <a:solidFill>
                  <a:srgbClr val="273239"/>
                </a:solidFill>
                <a:latin typeface="Nunito" pitchFamily="2" charset="0"/>
              </a:rPr>
              <a:t>Types</a:t>
            </a:r>
            <a:r>
              <a:rPr lang="en-US" b="1" i="0" dirty="0">
                <a:solidFill>
                  <a:srgbClr val="273239"/>
                </a:solidFill>
                <a:effectLst/>
                <a:latin typeface="Nunito" pitchFamily="2" charset="0"/>
              </a:rPr>
              <a:t> of Version Control System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Local Version Control Systems: It is one of the simplest forms and has a database that kept all the changes to files under revision control.</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Centralized Version Control Systems: Centralized version control systems contain just one repository globally and every user need to commit for reflecting one’s changes in the repository.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Distributed Version Control Systems: Distributed version control systems contain multiple repositories. Each user has their own repository and working copy.</a:t>
            </a:r>
          </a:p>
          <a:p>
            <a:endParaRPr lang="en-US" dirty="0"/>
          </a:p>
        </p:txBody>
      </p:sp>
    </p:spTree>
    <p:extLst>
      <p:ext uri="{BB962C8B-B14F-4D97-AF65-F5344CB8AC3E}">
        <p14:creationId xmlns:p14="http://schemas.microsoft.com/office/powerpoint/2010/main" val="3005152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5696E-FDFC-4D74-7FD1-C9BA58B27AD1}"/>
              </a:ext>
            </a:extLst>
          </p:cNvPr>
          <p:cNvSpPr>
            <a:spLocks noGrp="1"/>
          </p:cNvSpPr>
          <p:nvPr>
            <p:ph type="title"/>
          </p:nvPr>
        </p:nvSpPr>
        <p:spPr/>
        <p:txBody>
          <a:bodyPr/>
          <a:lstStyle/>
          <a:p>
            <a:r>
              <a:rPr lang="en-US" sz="4400" kern="0" dirty="0">
                <a:solidFill>
                  <a:srgbClr val="000000"/>
                </a:solidFill>
                <a:effectLst/>
                <a:latin typeface="Franklin Gothic Medium" panose="020B0603020102020204" pitchFamily="34" charset="0"/>
                <a:ea typeface="Times New Roman" panose="02020603050405020304" pitchFamily="18" charset="0"/>
                <a:cs typeface="Times New Roman" panose="02020603050405020304" pitchFamily="18" charset="0"/>
              </a:rPr>
              <a:t>Introduction to VCS (Git)</a:t>
            </a:r>
            <a:endParaRPr lang="en-US" dirty="0"/>
          </a:p>
        </p:txBody>
      </p:sp>
      <p:pic>
        <p:nvPicPr>
          <p:cNvPr id="5" name="Content Placeholder 4">
            <a:extLst>
              <a:ext uri="{FF2B5EF4-FFF2-40B4-BE49-F238E27FC236}">
                <a16:creationId xmlns:a16="http://schemas.microsoft.com/office/drawing/2014/main" id="{29072DAC-878A-38F1-6715-EC1D586729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3767" y="2518595"/>
            <a:ext cx="4812233" cy="3204381"/>
          </a:xfrm>
        </p:spPr>
      </p:pic>
      <p:pic>
        <p:nvPicPr>
          <p:cNvPr id="7" name="Picture 6">
            <a:extLst>
              <a:ext uri="{FF2B5EF4-FFF2-40B4-BE49-F238E27FC236}">
                <a16:creationId xmlns:a16="http://schemas.microsoft.com/office/drawing/2014/main" id="{E97B7F9A-AF49-23E3-9BD7-169A581593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48179" y="2518595"/>
            <a:ext cx="4399046" cy="3204381"/>
          </a:xfrm>
          <a:prstGeom prst="rect">
            <a:avLst/>
          </a:prstGeom>
        </p:spPr>
      </p:pic>
    </p:spTree>
    <p:extLst>
      <p:ext uri="{BB962C8B-B14F-4D97-AF65-F5344CB8AC3E}">
        <p14:creationId xmlns:p14="http://schemas.microsoft.com/office/powerpoint/2010/main" val="1901004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5F9D8-B3B5-0895-E390-4E9B937D2B2E}"/>
              </a:ext>
            </a:extLst>
          </p:cNvPr>
          <p:cNvSpPr>
            <a:spLocks noGrp="1"/>
          </p:cNvSpPr>
          <p:nvPr>
            <p:ph type="title"/>
          </p:nvPr>
        </p:nvSpPr>
        <p:spPr/>
        <p:txBody>
          <a:bodyPr/>
          <a:lstStyle/>
          <a:p>
            <a:r>
              <a:rPr lang="en-US" sz="4400" kern="0" dirty="0">
                <a:solidFill>
                  <a:srgbClr val="000000"/>
                </a:solidFill>
                <a:effectLst/>
                <a:latin typeface="Franklin Gothic Medium" panose="020B0603020102020204" pitchFamily="34" charset="0"/>
                <a:ea typeface="Times New Roman" panose="02020603050405020304" pitchFamily="18" charset="0"/>
                <a:cs typeface="Times New Roman" panose="02020603050405020304" pitchFamily="18" charset="0"/>
              </a:rPr>
              <a:t>Introduction to VCS (Git)</a:t>
            </a:r>
            <a:endParaRPr lang="en-US" dirty="0"/>
          </a:p>
        </p:txBody>
      </p:sp>
      <p:sp>
        <p:nvSpPr>
          <p:cNvPr id="3" name="Content Placeholder 2">
            <a:extLst>
              <a:ext uri="{FF2B5EF4-FFF2-40B4-BE49-F238E27FC236}">
                <a16:creationId xmlns:a16="http://schemas.microsoft.com/office/drawing/2014/main" id="{7F6D8D53-3CD1-DD37-BA02-48816CFF1440}"/>
              </a:ext>
            </a:extLst>
          </p:cNvPr>
          <p:cNvSpPr>
            <a:spLocks noGrp="1"/>
          </p:cNvSpPr>
          <p:nvPr>
            <p:ph idx="1"/>
          </p:nvPr>
        </p:nvSpPr>
        <p:spPr/>
        <p:txBody>
          <a:bodyPr>
            <a:normAutofit/>
          </a:bodyPr>
          <a:lstStyle/>
          <a:p>
            <a:pPr algn="l" fontAlgn="base">
              <a:spcAft>
                <a:spcPts val="750"/>
              </a:spcAft>
            </a:pPr>
            <a:r>
              <a:rPr lang="en-US" b="1" i="0" dirty="0">
                <a:solidFill>
                  <a:srgbClr val="273239"/>
                </a:solidFill>
                <a:effectLst/>
                <a:latin typeface="Nunito" pitchFamily="2" charset="0"/>
              </a:rPr>
              <a:t>Purpose of Version Control:</a:t>
            </a:r>
            <a:r>
              <a:rPr lang="en-US" b="0" i="0" dirty="0">
                <a:solidFill>
                  <a:srgbClr val="273239"/>
                </a:solidFill>
                <a:effectLst/>
                <a:latin typeface="Nunito" pitchFamily="2" charset="0"/>
              </a:rPr>
              <a:t> </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Multiple people can work simultaneously on a single project. </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also enables one person to use multiple computers to work on a project, so it is valuable even if you are working by yourself.</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integrates the work that is done simultaneously by different members of the team. </a:t>
            </a:r>
            <a:endParaRPr lang="en-US" dirty="0"/>
          </a:p>
        </p:txBody>
      </p:sp>
    </p:spTree>
    <p:extLst>
      <p:ext uri="{BB962C8B-B14F-4D97-AF65-F5344CB8AC3E}">
        <p14:creationId xmlns:p14="http://schemas.microsoft.com/office/powerpoint/2010/main" val="1666270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B99D5-81CD-D48A-0F54-3CF64125976E}"/>
              </a:ext>
            </a:extLst>
          </p:cNvPr>
          <p:cNvSpPr>
            <a:spLocks noGrp="1"/>
          </p:cNvSpPr>
          <p:nvPr>
            <p:ph type="title"/>
          </p:nvPr>
        </p:nvSpPr>
        <p:spPr/>
        <p:txBody>
          <a:bodyPr/>
          <a:lstStyle/>
          <a:p>
            <a:r>
              <a:rPr lang="en-US" dirty="0"/>
              <a:t>Internal Management Mechanisms(GIT) </a:t>
            </a:r>
          </a:p>
        </p:txBody>
      </p:sp>
      <p:sp>
        <p:nvSpPr>
          <p:cNvPr id="3" name="Content Placeholder 2">
            <a:extLst>
              <a:ext uri="{FF2B5EF4-FFF2-40B4-BE49-F238E27FC236}">
                <a16:creationId xmlns:a16="http://schemas.microsoft.com/office/drawing/2014/main" id="{D34E6175-0507-0810-B555-C8CADC29F3B3}"/>
              </a:ext>
            </a:extLst>
          </p:cNvPr>
          <p:cNvSpPr>
            <a:spLocks noGrp="1"/>
          </p:cNvSpPr>
          <p:nvPr>
            <p:ph idx="1"/>
          </p:nvPr>
        </p:nvSpPr>
        <p:spPr>
          <a:xfrm>
            <a:off x="494675" y="1825624"/>
            <a:ext cx="10859125" cy="4560185"/>
          </a:xfrm>
        </p:spPr>
        <p:txBody>
          <a:bodyPr>
            <a:normAutofit fontScale="70000" lnSpcReduction="20000"/>
          </a:bodyPr>
          <a:lstStyle/>
          <a:p>
            <a:pPr marL="0" marR="0">
              <a:lnSpc>
                <a:spcPct val="115000"/>
              </a:lnSpc>
              <a:spcAft>
                <a:spcPts val="800"/>
              </a:spcAft>
              <a:buNone/>
            </a:pPr>
            <a:r>
              <a:rPr lang="en-US" sz="3200" b="1" kern="100" dirty="0">
                <a:effectLst/>
                <a:latin typeface="Aptos" panose="020B0004020202020204" pitchFamily="34" charset="0"/>
                <a:ea typeface="Aptos" panose="020B0004020202020204" pitchFamily="34" charset="0"/>
                <a:cs typeface="Times New Roman" panose="02020603050405020304" pitchFamily="18" charset="0"/>
              </a:rPr>
              <a:t>HEAD</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 : </a:t>
            </a:r>
          </a:p>
          <a:p>
            <a:pPr marL="0" marR="0">
              <a:lnSpc>
                <a:spcPct val="115000"/>
              </a:lnSpc>
              <a:spcAft>
                <a:spcPts val="800"/>
              </a:spcAft>
              <a:buNone/>
            </a:pPr>
            <a:r>
              <a:rPr lang="en-US" sz="3200" kern="100" dirty="0">
                <a:effectLst/>
                <a:latin typeface="Aptos" panose="020B0004020202020204" pitchFamily="34" charset="0"/>
                <a:ea typeface="Aptos" panose="020B0004020202020204" pitchFamily="34" charset="0"/>
                <a:cs typeface="Times New Roman" panose="02020603050405020304" pitchFamily="18" charset="0"/>
              </a:rPr>
              <a:t>The current branch in Git is referred to as HEAD. It points to the last commit, which happened in the current checkout branch. It is treated as a pointer for any reference. Once you checkout to another branch, the HEAD also moves to the new branch.</a:t>
            </a:r>
          </a:p>
          <a:p>
            <a:pPr marL="0" marR="0">
              <a:lnSpc>
                <a:spcPct val="115000"/>
              </a:lnSpc>
              <a:spcAft>
                <a:spcPts val="800"/>
              </a:spcAft>
              <a:buNone/>
            </a:pPr>
            <a:r>
              <a:rPr lang="en-US" sz="32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buNone/>
            </a:pPr>
            <a:r>
              <a:rPr lang="en-US" sz="3200" b="1" kern="100" dirty="0">
                <a:effectLst/>
                <a:latin typeface="Aptos" panose="020B0004020202020204" pitchFamily="34" charset="0"/>
                <a:ea typeface="Aptos" panose="020B0004020202020204" pitchFamily="34" charset="0"/>
                <a:cs typeface="Times New Roman" panose="02020603050405020304" pitchFamily="18" charset="0"/>
              </a:rPr>
              <a:t>Staging Area</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 : </a:t>
            </a:r>
          </a:p>
          <a:p>
            <a:pPr marL="0" marR="0">
              <a:lnSpc>
                <a:spcPct val="115000"/>
              </a:lnSpc>
              <a:spcAft>
                <a:spcPts val="800"/>
              </a:spcAft>
              <a:buNone/>
            </a:pPr>
            <a:r>
              <a:rPr lang="en-US" sz="3200" kern="100" dirty="0">
                <a:effectLst/>
                <a:latin typeface="Aptos" panose="020B0004020202020204" pitchFamily="34" charset="0"/>
                <a:ea typeface="Aptos" panose="020B0004020202020204" pitchFamily="34" charset="0"/>
                <a:cs typeface="Times New Roman" panose="02020603050405020304" pitchFamily="18" charset="0"/>
              </a:rPr>
              <a:t>Staging Area (Index) is where git tracks and saves all the changes in the files. The saved changes are reflected in the .git directory. You use </a:t>
            </a:r>
            <a:r>
              <a:rPr lang="en-US" sz="3200" b="1" kern="100" dirty="0">
                <a:effectLst/>
                <a:latin typeface="Aptos" panose="020B0004020202020204" pitchFamily="34" charset="0"/>
                <a:ea typeface="Aptos" panose="020B0004020202020204" pitchFamily="34" charset="0"/>
                <a:cs typeface="Times New Roman" panose="02020603050405020304" pitchFamily="18" charset="0"/>
              </a:rPr>
              <a:t>git add “filename”</a:t>
            </a:r>
            <a:r>
              <a:rPr lang="en-US" sz="3200" kern="100" dirty="0">
                <a:effectLst/>
                <a:latin typeface="Aptos" panose="020B0004020202020204" pitchFamily="34" charset="0"/>
                <a:ea typeface="Aptos" panose="020B0004020202020204" pitchFamily="34" charset="0"/>
                <a:cs typeface="Times New Roman" panose="02020603050405020304" pitchFamily="18" charset="0"/>
              </a:rPr>
              <a:t> to add the file to the staging area.</a:t>
            </a:r>
          </a:p>
          <a:p>
            <a:pPr marL="0" marR="0">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endParaRPr lang="en-US" dirty="0"/>
          </a:p>
        </p:txBody>
      </p:sp>
    </p:spTree>
    <p:extLst>
      <p:ext uri="{BB962C8B-B14F-4D97-AF65-F5344CB8AC3E}">
        <p14:creationId xmlns:p14="http://schemas.microsoft.com/office/powerpoint/2010/main" val="3901492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AADBE-210D-5C82-047C-552452801F33}"/>
              </a:ext>
            </a:extLst>
          </p:cNvPr>
          <p:cNvSpPr>
            <a:spLocks noGrp="1"/>
          </p:cNvSpPr>
          <p:nvPr>
            <p:ph type="title"/>
          </p:nvPr>
        </p:nvSpPr>
        <p:spPr/>
        <p:txBody>
          <a:bodyPr/>
          <a:lstStyle/>
          <a:p>
            <a:r>
              <a:rPr lang="en-US" dirty="0"/>
              <a:t>Internal Management Mechanisms(GIT) </a:t>
            </a:r>
          </a:p>
        </p:txBody>
      </p:sp>
      <p:sp>
        <p:nvSpPr>
          <p:cNvPr id="3" name="Content Placeholder 2">
            <a:extLst>
              <a:ext uri="{FF2B5EF4-FFF2-40B4-BE49-F238E27FC236}">
                <a16:creationId xmlns:a16="http://schemas.microsoft.com/office/drawing/2014/main" id="{714B80FD-CD8A-093D-977B-0837814ECA42}"/>
              </a:ext>
            </a:extLst>
          </p:cNvPr>
          <p:cNvSpPr>
            <a:spLocks noGrp="1"/>
          </p:cNvSpPr>
          <p:nvPr>
            <p:ph idx="1"/>
          </p:nvPr>
        </p:nvSpPr>
        <p:spPr/>
        <p:txBody>
          <a:bodyPr/>
          <a:lstStyle/>
          <a:p>
            <a:pPr marL="0" marR="0">
              <a:lnSpc>
                <a:spcPct val="115000"/>
              </a:lnSpc>
              <a:spcAft>
                <a:spcPts val="800"/>
              </a:spcAft>
              <a:buNone/>
            </a:pPr>
            <a:r>
              <a:rPr lang="en-US" sz="2800" b="1" kern="100" dirty="0">
                <a:effectLst/>
                <a:latin typeface="Aptos" panose="020B0004020202020204" pitchFamily="34" charset="0"/>
                <a:ea typeface="Aptos" panose="020B0004020202020204" pitchFamily="34" charset="0"/>
                <a:cs typeface="Times New Roman" panose="02020603050405020304" pitchFamily="18" charset="0"/>
              </a:rPr>
              <a:t>Working Directory</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15000"/>
              </a:lnSpc>
              <a:spcAft>
                <a:spcPts val="800"/>
              </a:spcAft>
            </a:pPr>
            <a:r>
              <a:rPr lang="en-US" sz="2800" kern="100" dirty="0">
                <a:effectLst/>
                <a:latin typeface="Aptos" panose="020B0004020202020204" pitchFamily="34" charset="0"/>
                <a:ea typeface="Aptos" panose="020B0004020202020204" pitchFamily="34" charset="0"/>
                <a:cs typeface="Times New Roman" panose="02020603050405020304" pitchFamily="18" charset="0"/>
              </a:rPr>
              <a:t>The working directory is the place where you are currently working, it is the place where your files are present. Using </a:t>
            </a:r>
            <a:r>
              <a:rPr lang="en-US" sz="2800" b="1" kern="100" dirty="0">
                <a:effectLst/>
                <a:latin typeface="Aptos" panose="020B0004020202020204" pitchFamily="34" charset="0"/>
                <a:ea typeface="Aptos" panose="020B0004020202020204" pitchFamily="34" charset="0"/>
                <a:cs typeface="Times New Roman" panose="02020603050405020304" pitchFamily="18" charset="0"/>
              </a:rPr>
              <a:t> git status</a:t>
            </a:r>
            <a:r>
              <a:rPr lang="en-US" sz="2800" kern="100" dirty="0">
                <a:effectLst/>
                <a:latin typeface="Aptos" panose="020B0004020202020204" pitchFamily="34" charset="0"/>
                <a:ea typeface="Aptos" panose="020B0004020202020204" pitchFamily="34" charset="0"/>
                <a:cs typeface="Times New Roman" panose="02020603050405020304" pitchFamily="18" charset="0"/>
              </a:rPr>
              <a:t> command, you can see what all files/folders are present in the working directory.</a:t>
            </a:r>
          </a:p>
          <a:p>
            <a:endParaRPr lang="en-US" dirty="0"/>
          </a:p>
        </p:txBody>
      </p:sp>
    </p:spTree>
    <p:extLst>
      <p:ext uri="{BB962C8B-B14F-4D97-AF65-F5344CB8AC3E}">
        <p14:creationId xmlns:p14="http://schemas.microsoft.com/office/powerpoint/2010/main" val="1830218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34C6-3896-9DA3-D507-A967351E66D2}"/>
              </a:ext>
            </a:extLst>
          </p:cNvPr>
          <p:cNvSpPr>
            <a:spLocks noGrp="1"/>
          </p:cNvSpPr>
          <p:nvPr>
            <p:ph type="title"/>
          </p:nvPr>
        </p:nvSpPr>
        <p:spPr/>
        <p:txBody>
          <a:bodyPr/>
          <a:lstStyle/>
          <a:p>
            <a:r>
              <a:rPr lang="en-US" dirty="0"/>
              <a:t>Internal Management Mechanisms(GIT) </a:t>
            </a:r>
          </a:p>
        </p:txBody>
      </p:sp>
      <p:pic>
        <p:nvPicPr>
          <p:cNvPr id="4" name="Content Placeholder 3" descr="A diagram of a stage">
            <a:extLst>
              <a:ext uri="{FF2B5EF4-FFF2-40B4-BE49-F238E27FC236}">
                <a16:creationId xmlns:a16="http://schemas.microsoft.com/office/drawing/2014/main" id="{B3E43D62-657C-6D3B-ECBD-A2EA6F1A66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3751" y="2486819"/>
            <a:ext cx="8334531" cy="3599188"/>
          </a:xfrm>
          <a:prstGeom prst="rect">
            <a:avLst/>
          </a:prstGeom>
        </p:spPr>
      </p:pic>
    </p:spTree>
    <p:extLst>
      <p:ext uri="{BB962C8B-B14F-4D97-AF65-F5344CB8AC3E}">
        <p14:creationId xmlns:p14="http://schemas.microsoft.com/office/powerpoint/2010/main" val="105027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BBFFC-1720-14CF-54F2-6F9D373170E6}"/>
              </a:ext>
            </a:extLst>
          </p:cNvPr>
          <p:cNvSpPr>
            <a:spLocks noGrp="1"/>
          </p:cNvSpPr>
          <p:nvPr>
            <p:ph type="title"/>
          </p:nvPr>
        </p:nvSpPr>
        <p:spPr/>
        <p:txBody>
          <a:bodyPr/>
          <a:lstStyle/>
          <a:p>
            <a:r>
              <a:rPr lang="en-US" dirty="0">
                <a:highlight>
                  <a:srgbClr val="FFFF00"/>
                </a:highlight>
              </a:rPr>
              <a:t>Important Note</a:t>
            </a:r>
          </a:p>
        </p:txBody>
      </p:sp>
      <p:sp>
        <p:nvSpPr>
          <p:cNvPr id="3" name="Content Placeholder 2">
            <a:extLst>
              <a:ext uri="{FF2B5EF4-FFF2-40B4-BE49-F238E27FC236}">
                <a16:creationId xmlns:a16="http://schemas.microsoft.com/office/drawing/2014/main" id="{5E09FE11-5FDA-17F5-B7C0-AE9C8927806D}"/>
              </a:ext>
            </a:extLst>
          </p:cNvPr>
          <p:cNvSpPr>
            <a:spLocks noGrp="1"/>
          </p:cNvSpPr>
          <p:nvPr>
            <p:ph idx="1"/>
          </p:nvPr>
        </p:nvSpPr>
        <p:spPr/>
        <p:txBody>
          <a:bodyPr/>
          <a:lstStyle/>
          <a:p>
            <a:endParaRPr lang="en-US" dirty="0"/>
          </a:p>
          <a:p>
            <a:endParaRPr lang="en-US" dirty="0"/>
          </a:p>
          <a:p>
            <a:endParaRPr lang="en-US" dirty="0"/>
          </a:p>
          <a:p>
            <a:pPr algn="just"/>
            <a:r>
              <a:rPr lang="en-US" sz="4000" dirty="0"/>
              <a:t>For second half of unit 4 refer to the experiments conducted in the lab.</a:t>
            </a:r>
          </a:p>
        </p:txBody>
      </p:sp>
    </p:spTree>
    <p:extLst>
      <p:ext uri="{BB962C8B-B14F-4D97-AF65-F5344CB8AC3E}">
        <p14:creationId xmlns:p14="http://schemas.microsoft.com/office/powerpoint/2010/main" val="3876032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00DD2-BD37-7747-2928-97BA5C3F951B}"/>
              </a:ext>
            </a:extLst>
          </p:cNvPr>
          <p:cNvSpPr>
            <a:spLocks noGrp="1"/>
          </p:cNvSpPr>
          <p:nvPr>
            <p:ph type="title"/>
          </p:nvPr>
        </p:nvSpPr>
        <p:spPr>
          <a:xfrm>
            <a:off x="1018082" y="2766218"/>
            <a:ext cx="10515600" cy="1325563"/>
          </a:xfrm>
        </p:spPr>
        <p:txBody>
          <a:bodyPr/>
          <a:lstStyle/>
          <a:p>
            <a:pPr algn="ctr"/>
            <a:r>
              <a:rPr lang="en-US" dirty="0"/>
              <a:t>Thank You</a:t>
            </a:r>
          </a:p>
        </p:txBody>
      </p:sp>
    </p:spTree>
    <p:extLst>
      <p:ext uri="{BB962C8B-B14F-4D97-AF65-F5344CB8AC3E}">
        <p14:creationId xmlns:p14="http://schemas.microsoft.com/office/powerpoint/2010/main" val="2979211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557</Words>
  <Application>Microsoft Office PowerPoint</Application>
  <PresentationFormat>Widescreen</PresentationFormat>
  <Paragraphs>42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Franklin Gothic Medium</vt:lpstr>
      <vt:lpstr>Nunito</vt:lpstr>
      <vt:lpstr>Office Theme</vt:lpstr>
      <vt:lpstr>SCM and GIT Fundamentals </vt:lpstr>
      <vt:lpstr>Introduction to VCS (Git)</vt:lpstr>
      <vt:lpstr>Introduction to VCS (Git)</vt:lpstr>
      <vt:lpstr>Introduction to VCS (Git)</vt:lpstr>
      <vt:lpstr>Introduction to VCS (Git)</vt:lpstr>
      <vt:lpstr>Introduction to VCS (Git)</vt:lpstr>
      <vt:lpstr>Internal Management Mechanisms(GIT) </vt:lpstr>
      <vt:lpstr>Internal Management Mechanisms(GIT) </vt:lpstr>
      <vt:lpstr>Internal Management Mechanisms(GIT) </vt:lpstr>
      <vt:lpstr>Important Note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Arjun Arora</dc:creator>
  <cp:lastModifiedBy>Arjun Arora</cp:lastModifiedBy>
  <cp:revision>5</cp:revision>
  <dcterms:created xsi:type="dcterms:W3CDTF">2025-03-19T08:52:49Z</dcterms:created>
  <dcterms:modified xsi:type="dcterms:W3CDTF">2025-04-02T08:10:42Z</dcterms:modified>
</cp:coreProperties>
</file>