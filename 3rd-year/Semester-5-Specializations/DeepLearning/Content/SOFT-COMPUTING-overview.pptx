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268"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p:cViewPr varScale="1">
        <p:scale>
          <a:sx n="74" d="100"/>
          <a:sy n="74" d="100"/>
        </p:scale>
        <p:origin x="-960"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20" name="Footer Placeholder 19"/>
          <p:cNvSpPr>
            <a:spLocks noGrp="1"/>
          </p:cNvSpPr>
          <p:nvPr>
            <p:ph type="ftr" sz="quarter" idx="11"/>
          </p:nvPr>
        </p:nvSpPr>
        <p:spPr/>
        <p:txBody>
          <a:bodyPr/>
          <a:lstStyle>
            <a:extLst/>
          </a:lstStyle>
          <a:p>
            <a:endParaRPr lang="en-US" dirty="0"/>
          </a:p>
        </p:txBody>
      </p:sp>
      <p:sp>
        <p:nvSpPr>
          <p:cNvPr id="10" name="Slide Number Placeholder 9"/>
          <p:cNvSpPr>
            <a:spLocks noGrp="1"/>
          </p:cNvSpPr>
          <p:nvPr>
            <p:ph type="sldNum" sz="quarter" idx="12"/>
          </p:nvPr>
        </p:nvSpPr>
        <p:spPr/>
        <p:txBody>
          <a:bodyPr/>
          <a:lstStyle>
            <a:extLst/>
          </a:lstStyle>
          <a:p>
            <a:fld id="{77A7F06B-2D4D-48FF-AA8B-046470756E29}" type="slidenum">
              <a:rPr lang="en-US" smtClean="0"/>
              <a:pPr/>
              <a:t>‹#›</a:t>
            </a:fld>
            <a:endParaRPr lang="en-US" dirty="0"/>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dirty="0"/>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77A7F06B-2D4D-48FF-AA8B-046470756E2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77A7F06B-2D4D-48FF-AA8B-046470756E29}" type="slidenum">
              <a:rPr lang="en-US" smtClean="0"/>
              <a:pPr/>
              <a:t>‹#›</a:t>
            </a:fld>
            <a:endParaRPr lang="en-US" dirty="0"/>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dirty="0"/>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77A7F06B-2D4D-48FF-AA8B-046470756E2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77A7F06B-2D4D-48FF-AA8B-046470756E2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77A7F06B-2D4D-48FF-AA8B-046470756E29}"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 name="Date Placeholder 1"/>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77A7F06B-2D4D-48FF-AA8B-046470756E29}" type="slidenum">
              <a:rPr lang="en-US" smtClean="0"/>
              <a:pPr/>
              <a:t>‹#›</a:t>
            </a:fld>
            <a:endParaRPr lang="en-US" dirty="0"/>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77A7F06B-2D4D-48FF-AA8B-046470756E2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77A7F06B-2D4D-48FF-AA8B-046470756E29}" type="slidenum">
              <a:rPr lang="en-US" smtClean="0"/>
              <a:pPr/>
              <a:t>‹#›</a:t>
            </a:fld>
            <a:endParaRPr lang="en-US" dirty="0"/>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dirty="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dirty="0"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77A7F06B-2D4D-48FF-AA8B-046470756E2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F777D4E-9D52-4246-9445-3DDF38E941A0}" type="datetimeFigureOut">
              <a:rPr lang="en-US" smtClean="0"/>
              <a:pPr/>
              <a:t>4/19/2015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77A7F06B-2D4D-48FF-AA8B-046470756E2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5F777D4E-9D52-4246-9445-3DDF38E941A0}" type="datetimeFigureOut">
              <a:rPr lang="en-US" smtClean="0"/>
              <a:pPr/>
              <a:t>4/19/2015</a:t>
            </a:fld>
            <a:endParaRPr lang="en-US" dirty="0"/>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dirty="0"/>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77A7F06B-2D4D-48FF-AA8B-046470756E29}" type="slidenum">
              <a:rPr lang="en-US" smtClean="0"/>
              <a:pPr/>
              <a:t>‹#›</a:t>
            </a:fld>
            <a:endParaRPr lang="en-US" dirty="0"/>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10.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13.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1.v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2.v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3.v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4.v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oleObject" Target="../embeddings/oleObject20.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6.v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7.v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26.bin"/><Relationship Id="rId5" Type="http://schemas.openxmlformats.org/officeDocument/2006/relationships/oleObject" Target="../embeddings/oleObject25.bin"/><Relationship Id="rId4" Type="http://schemas.openxmlformats.org/officeDocument/2006/relationships/oleObject" Target="../embeddings/oleObject24.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9.v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0.v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9201"/>
            <a:ext cx="7772400" cy="2381250"/>
          </a:xfrm>
          <a:effectLst>
            <a:softEdge rad="12700"/>
          </a:effectLst>
        </p:spPr>
        <p:txBody>
          <a:bodyPr>
            <a:normAutofit/>
          </a:bodyPr>
          <a:lstStyle/>
          <a:p>
            <a:r>
              <a:rPr lang="en-US" sz="5400" dirty="0" smtClean="0"/>
              <a:t>SOFT COMPUTING </a:t>
            </a:r>
            <a:endParaRPr lang="en-US" sz="5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Summary of Course </a:t>
            </a:r>
            <a:endParaRPr lang="en-US" dirty="0"/>
          </a:p>
        </p:txBody>
      </p:sp>
      <p:sp>
        <p:nvSpPr>
          <p:cNvPr id="3" name="Content Placeholder 2"/>
          <p:cNvSpPr>
            <a:spLocks noGrp="1"/>
          </p:cNvSpPr>
          <p:nvPr>
            <p:ph idx="1"/>
          </p:nvPr>
        </p:nvSpPr>
        <p:spPr>
          <a:xfrm>
            <a:off x="457200" y="1295400"/>
            <a:ext cx="8229600" cy="4830763"/>
          </a:xfrm>
        </p:spPr>
        <p:txBody>
          <a:bodyPr/>
          <a:lstStyle/>
          <a:p>
            <a:r>
              <a:rPr lang="en-US" dirty="0"/>
              <a:t> </a:t>
            </a:r>
            <a:r>
              <a:rPr lang="en-US" dirty="0" smtClean="0"/>
              <a:t>Soft Computing</a:t>
            </a:r>
          </a:p>
          <a:p>
            <a:pPr lvl="1"/>
            <a:r>
              <a:rPr lang="en-US" dirty="0" smtClean="0"/>
              <a:t>Neural Network</a:t>
            </a:r>
          </a:p>
          <a:p>
            <a:pPr lvl="1"/>
            <a:r>
              <a:rPr lang="en-US" dirty="0" smtClean="0"/>
              <a:t>Fuzzy Logic</a:t>
            </a:r>
          </a:p>
          <a:p>
            <a:pPr lvl="1"/>
            <a:r>
              <a:rPr lang="en-US" dirty="0" smtClean="0"/>
              <a:t>Genetic Algorithm</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dirty="0" smtClean="0"/>
              <a:t>What is Soft Computing</a:t>
            </a:r>
            <a:endParaRPr lang="en-US" sz="3600" dirty="0"/>
          </a:p>
        </p:txBody>
      </p:sp>
      <p:sp>
        <p:nvSpPr>
          <p:cNvPr id="3" name="Content Placeholder 2"/>
          <p:cNvSpPr>
            <a:spLocks noGrp="1"/>
          </p:cNvSpPr>
          <p:nvPr>
            <p:ph idx="1"/>
          </p:nvPr>
        </p:nvSpPr>
        <p:spPr>
          <a:xfrm>
            <a:off x="457200" y="1143000"/>
            <a:ext cx="8229600" cy="4754563"/>
          </a:xfrm>
        </p:spPr>
        <p:txBody>
          <a:bodyPr>
            <a:normAutofit/>
          </a:bodyPr>
          <a:lstStyle/>
          <a:p>
            <a:pPr algn="just">
              <a:lnSpc>
                <a:spcPct val="150000"/>
              </a:lnSpc>
            </a:pPr>
            <a:r>
              <a:rPr lang="en-US" sz="2400" dirty="0" smtClean="0">
                <a:latin typeface="Times New Roman" pitchFamily="18" charset="0"/>
                <a:cs typeface="Times New Roman" pitchFamily="18" charset="0"/>
              </a:rPr>
              <a:t>Soft computing is the collection of computational technique in computer science.</a:t>
            </a:r>
          </a:p>
          <a:p>
            <a:pPr algn="just">
              <a:lnSpc>
                <a:spcPct val="150000"/>
              </a:lnSpc>
            </a:pPr>
            <a:r>
              <a:rPr lang="en-US" sz="2400" dirty="0" smtClean="0">
                <a:latin typeface="Times New Roman" pitchFamily="18" charset="0"/>
                <a:cs typeface="Times New Roman" pitchFamily="18" charset="0"/>
              </a:rPr>
              <a:t>The term Soft computing was introduced by professor </a:t>
            </a:r>
            <a:r>
              <a:rPr lang="en-US" sz="2400" dirty="0" err="1" smtClean="0">
                <a:latin typeface="Times New Roman" pitchFamily="18" charset="0"/>
                <a:cs typeface="Times New Roman" pitchFamily="18" charset="0"/>
              </a:rPr>
              <a:t>Lotfi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Zadeh</a:t>
            </a:r>
            <a:r>
              <a:rPr lang="en-US" sz="2400" dirty="0" smtClean="0">
                <a:latin typeface="Times New Roman" pitchFamily="18" charset="0"/>
                <a:cs typeface="Times New Roman" pitchFamily="18" charset="0"/>
              </a:rPr>
              <a:t> with the objective of exploiting the tolerance for imprecision, uncertainty, and partial truth tractability, robustness, low solution cost and better rapport with reality.</a:t>
            </a:r>
          </a:p>
          <a:p>
            <a:pPr algn="just">
              <a:lnSpc>
                <a:spcPct val="150000"/>
              </a:lnSpc>
            </a:pPr>
            <a:r>
              <a:rPr lang="en-US" sz="2400" dirty="0" smtClean="0">
                <a:latin typeface="Times New Roman" pitchFamily="18" charset="0"/>
                <a:cs typeface="Times New Roman" pitchFamily="18" charset="0"/>
              </a:rPr>
              <a:t>The ultimate goal is to be able to emulate the human mind as closely as possible.</a:t>
            </a:r>
          </a:p>
          <a:p>
            <a:pPr algn="just">
              <a:buNone/>
            </a:pPr>
            <a:endParaRPr lang="en-US" sz="24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What is Soft Computing</a:t>
            </a:r>
            <a:endParaRPr lang="en-US" dirty="0"/>
          </a:p>
        </p:txBody>
      </p:sp>
      <p:sp>
        <p:nvSpPr>
          <p:cNvPr id="3" name="Content Placeholder 2"/>
          <p:cNvSpPr>
            <a:spLocks noGrp="1"/>
          </p:cNvSpPr>
          <p:nvPr>
            <p:ph idx="1"/>
          </p:nvPr>
        </p:nvSpPr>
        <p:spPr>
          <a:xfrm>
            <a:off x="457200" y="1143000"/>
            <a:ext cx="8229600" cy="4983163"/>
          </a:xfrm>
        </p:spPr>
        <p:txBody>
          <a:bodyPr>
            <a:normAutofit/>
          </a:bodyPr>
          <a:lstStyle/>
          <a:p>
            <a:r>
              <a:rPr lang="en-US" sz="2400" dirty="0" smtClean="0"/>
              <a:t>The principal constituents of soft computing are:</a:t>
            </a:r>
          </a:p>
          <a:p>
            <a:pPr lvl="1"/>
            <a:r>
              <a:rPr lang="en-US" sz="2000" dirty="0" smtClean="0"/>
              <a:t>Fuzzy System</a:t>
            </a:r>
          </a:p>
          <a:p>
            <a:pPr lvl="1"/>
            <a:r>
              <a:rPr lang="en-US" sz="2000" dirty="0" smtClean="0"/>
              <a:t>Neural network</a:t>
            </a:r>
          </a:p>
          <a:p>
            <a:pPr lvl="1"/>
            <a:r>
              <a:rPr lang="en-US" sz="2000" dirty="0" smtClean="0"/>
              <a:t>Evolutionary system</a:t>
            </a:r>
          </a:p>
          <a:p>
            <a:pPr lvl="1"/>
            <a:r>
              <a:rPr lang="en-US" sz="2000" dirty="0" smtClean="0"/>
              <a:t>Machine learning</a:t>
            </a:r>
          </a:p>
          <a:p>
            <a:pPr lvl="1"/>
            <a:r>
              <a:rPr lang="en-US" sz="2000" dirty="0" smtClean="0"/>
              <a:t>Probabilistic Reasoning</a:t>
            </a:r>
          </a:p>
          <a:p>
            <a:r>
              <a:rPr lang="en-US" sz="2400" dirty="0" smtClean="0"/>
              <a:t>Here we are only focus on the major components of soft computing: </a:t>
            </a:r>
          </a:p>
          <a:p>
            <a:pPr lvl="1"/>
            <a:r>
              <a:rPr lang="en-US" sz="2000" dirty="0" smtClean="0"/>
              <a:t>Neural Network</a:t>
            </a:r>
          </a:p>
          <a:p>
            <a:pPr lvl="1"/>
            <a:r>
              <a:rPr lang="en-US" sz="2000" dirty="0" smtClean="0"/>
              <a:t>Fuzzy Logic</a:t>
            </a:r>
          </a:p>
          <a:p>
            <a:pPr lvl="1"/>
            <a:r>
              <a:rPr lang="en-US" sz="2000" dirty="0" smtClean="0"/>
              <a:t>Genetic Algorithm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smtClean="0"/>
              <a:t>What is Neural Network</a:t>
            </a:r>
            <a:endParaRPr lang="en-US" dirty="0"/>
          </a:p>
        </p:txBody>
      </p:sp>
      <p:sp>
        <p:nvSpPr>
          <p:cNvPr id="3" name="Content Placeholder 2"/>
          <p:cNvSpPr>
            <a:spLocks noGrp="1"/>
          </p:cNvSpPr>
          <p:nvPr>
            <p:ph idx="1"/>
          </p:nvPr>
        </p:nvSpPr>
        <p:spPr>
          <a:xfrm>
            <a:off x="457200" y="990600"/>
            <a:ext cx="8229600" cy="5135563"/>
          </a:xfrm>
        </p:spPr>
        <p:txBody>
          <a:bodyPr>
            <a:normAutofit/>
          </a:bodyPr>
          <a:lstStyle/>
          <a:p>
            <a:pPr marL="457200" indent="-457200" algn="just">
              <a:buFont typeface="+mj-lt"/>
              <a:buAutoNum type="arabicPeriod"/>
            </a:pPr>
            <a:r>
              <a:rPr lang="en-US" sz="2400" dirty="0" smtClean="0">
                <a:latin typeface="Times New Roman" pitchFamily="18" charset="0"/>
                <a:cs typeface="Times New Roman" pitchFamily="18" charset="0"/>
              </a:rPr>
              <a:t>Neural Networks, which are simplified model of the biological nervous system, is a massively parallel distributed system made up of highly neural computing elements that have the ability to learn and thereby acquire knowledge and make it available for us.</a:t>
            </a:r>
          </a:p>
          <a:p>
            <a:pPr marL="457200" indent="-457200" algn="just">
              <a:buFont typeface="+mj-lt"/>
              <a:buAutoNum type="arabicPeriod"/>
            </a:pPr>
            <a:r>
              <a:rPr lang="en-US" sz="2400" dirty="0" smtClean="0">
                <a:latin typeface="Times New Roman" pitchFamily="18" charset="0"/>
                <a:cs typeface="Times New Roman" pitchFamily="18" charset="0"/>
              </a:rPr>
              <a:t>Neural network is a highly interconnected network of a large number of processing elements called neurons in the architecture inspired by the brain. </a:t>
            </a:r>
          </a:p>
          <a:p>
            <a:pPr marL="457200" indent="-457200" algn="just">
              <a:buFont typeface="+mj-lt"/>
              <a:buAutoNum type="arabicPeriod"/>
            </a:pPr>
            <a:r>
              <a:rPr lang="en-US" sz="2400" dirty="0" smtClean="0">
                <a:latin typeface="Times New Roman" pitchFamily="18" charset="0"/>
                <a:cs typeface="Times New Roman" pitchFamily="18" charset="0"/>
              </a:rPr>
              <a:t>Neural network learn by example that means, they can be trained with the known example of a problem to acquire knowledge about it. Once appropriately trained, the network can be put to effective use in solving unknown or untrained instances of the problem.</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Neural </a:t>
            </a:r>
            <a:r>
              <a:rPr lang="en-US" dirty="0" smtClean="0">
                <a:latin typeface="Times New Roman" pitchFamily="18" charset="0"/>
                <a:cs typeface="Times New Roman" pitchFamily="18" charset="0"/>
              </a:rPr>
              <a:t>Network</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059363"/>
          </a:xfrm>
        </p:spPr>
        <p:txBody>
          <a:bodyPr>
            <a:normAutofit/>
          </a:bodyPr>
          <a:lstStyle/>
          <a:p>
            <a:pPr marL="514350" indent="-514350" algn="just">
              <a:buFont typeface="+mj-lt"/>
              <a:buAutoNum type="arabicPeriod" startAt="4"/>
            </a:pPr>
            <a:r>
              <a:rPr lang="en-US" sz="2400" dirty="0" smtClean="0">
                <a:latin typeface="Times New Roman" pitchFamily="18" charset="0"/>
                <a:cs typeface="Times New Roman" pitchFamily="18" charset="0"/>
              </a:rPr>
              <a:t>Neural network are those information processing system, which are constructed and implemented to model the human brain. The main objective of the neural network of research is to develop a computational device for modeling the brain to perform various computational task at a faster rate than the traditional system. </a:t>
            </a:r>
          </a:p>
          <a:p>
            <a:pPr marL="514350" indent="-514350" algn="just">
              <a:buFont typeface="+mj-lt"/>
              <a:buAutoNum type="arabicPeriod" startAt="4"/>
            </a:pPr>
            <a:r>
              <a:rPr lang="en-US" sz="2400" dirty="0" smtClean="0">
                <a:latin typeface="Times New Roman" pitchFamily="18" charset="0"/>
                <a:cs typeface="Times New Roman" pitchFamily="18" charset="0"/>
              </a:rPr>
              <a:t>Artificial neural network perform various task such as pattern matching and classification, optimization function, approximation, vector quantization, and data clustering.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98080" cy="1143000"/>
          </a:xfrm>
        </p:spPr>
        <p:txBody>
          <a:bodyPr>
            <a:normAutofit/>
          </a:bodyPr>
          <a:lstStyle/>
          <a:p>
            <a:r>
              <a:rPr lang="en-US" sz="3600" b="1" dirty="0" smtClean="0">
                <a:latin typeface="Times New Roman" pitchFamily="18" charset="0"/>
                <a:cs typeface="Times New Roman" pitchFamily="18" charset="0"/>
              </a:rPr>
              <a:t>Application of the neural network</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762000" y="1447800"/>
            <a:ext cx="8153400" cy="4572000"/>
          </a:xfrm>
        </p:spPr>
        <p:txBody>
          <a:bodyPr>
            <a:normAutofit/>
          </a:bodyPr>
          <a:lstStyle/>
          <a:p>
            <a:r>
              <a:rPr lang="en-US" sz="2400" dirty="0" smtClean="0">
                <a:latin typeface="Times New Roman" pitchFamily="18" charset="0"/>
                <a:cs typeface="Times New Roman" pitchFamily="18" charset="0"/>
              </a:rPr>
              <a:t>Air traffic Control.</a:t>
            </a:r>
          </a:p>
          <a:p>
            <a:r>
              <a:rPr lang="en-US" sz="2400" dirty="0" smtClean="0">
                <a:latin typeface="Times New Roman" pitchFamily="18" charset="0"/>
                <a:cs typeface="Times New Roman" pitchFamily="18" charset="0"/>
              </a:rPr>
              <a:t>Appraisal and valuation of property, buildings, automobiles, machinery, etc.</a:t>
            </a:r>
          </a:p>
          <a:p>
            <a:r>
              <a:rPr lang="en-US" sz="2400" dirty="0" smtClean="0">
                <a:latin typeface="Times New Roman" pitchFamily="18" charset="0"/>
                <a:cs typeface="Times New Roman" pitchFamily="18" charset="0"/>
              </a:rPr>
              <a:t>Voice recognition.</a:t>
            </a:r>
          </a:p>
          <a:p>
            <a:r>
              <a:rPr lang="en-US" sz="2400" dirty="0" smtClean="0">
                <a:latin typeface="Times New Roman" pitchFamily="18" charset="0"/>
                <a:cs typeface="Times New Roman" pitchFamily="18" charset="0"/>
              </a:rPr>
              <a:t>Staff scheduling.</a:t>
            </a:r>
          </a:p>
          <a:p>
            <a:r>
              <a:rPr lang="en-US" sz="2400" dirty="0" smtClean="0">
                <a:latin typeface="Times New Roman" pitchFamily="18" charset="0"/>
                <a:cs typeface="Times New Roman" pitchFamily="18" charset="0"/>
              </a:rPr>
              <a:t>Strategies for games, and business.</a:t>
            </a:r>
          </a:p>
          <a:p>
            <a:r>
              <a:rPr lang="en-US" sz="2400" dirty="0" smtClean="0">
                <a:latin typeface="Times New Roman" pitchFamily="18" charset="0"/>
                <a:cs typeface="Times New Roman" pitchFamily="18" charset="0"/>
              </a:rPr>
              <a:t>Photo and fingerprints could be recognized.</a:t>
            </a:r>
          </a:p>
          <a:p>
            <a:r>
              <a:rPr lang="en-US" sz="2400" dirty="0" smtClean="0">
                <a:latin typeface="Times New Roman" pitchFamily="18" charset="0"/>
                <a:cs typeface="Times New Roman" pitchFamily="18" charset="0"/>
              </a:rPr>
              <a:t>Music composition has been tried using neural network.</a:t>
            </a:r>
          </a:p>
          <a:p>
            <a:r>
              <a:rPr lang="en-US" sz="2400" dirty="0" smtClean="0">
                <a:latin typeface="Times New Roman" pitchFamily="18" charset="0"/>
                <a:cs typeface="Times New Roman" pitchFamily="18" charset="0"/>
              </a:rPr>
              <a:t>Medical diagnosis.</a:t>
            </a:r>
          </a:p>
          <a:p>
            <a:r>
              <a:rPr lang="en-US" sz="2400" dirty="0" smtClean="0">
                <a:latin typeface="Times New Roman" pitchFamily="18" charset="0"/>
                <a:cs typeface="Times New Roman" pitchFamily="18" charset="0"/>
              </a:rPr>
              <a:t>Expert consultants.</a:t>
            </a:r>
          </a:p>
          <a:p>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8171688" cy="792162"/>
          </a:xfrm>
        </p:spPr>
        <p:txBody>
          <a:bodyPr>
            <a:normAutofit/>
          </a:bodyPr>
          <a:lstStyle/>
          <a:p>
            <a:r>
              <a:rPr lang="en-US" sz="3600" b="1" dirty="0" smtClean="0">
                <a:latin typeface="Times New Roman" pitchFamily="18" charset="0"/>
                <a:cs typeface="Times New Roman" pitchFamily="18" charset="0"/>
              </a:rPr>
              <a:t>Model of An Artificial Neuron</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609600" y="914400"/>
            <a:ext cx="8324088" cy="5334000"/>
          </a:xfrm>
        </p:spPr>
        <p:txBody>
          <a:bodyPr>
            <a:normAutofit/>
          </a:bodyPr>
          <a:lstStyle/>
          <a:p>
            <a:pPr algn="just"/>
            <a:r>
              <a:rPr lang="en-US" sz="2400" dirty="0" smtClean="0">
                <a:latin typeface="Times New Roman" pitchFamily="18" charset="0"/>
                <a:cs typeface="Times New Roman" pitchFamily="18" charset="0"/>
              </a:rPr>
              <a:t>Artificial neural network processing elements are called neurons or artificial neurons.</a:t>
            </a:r>
          </a:p>
          <a:p>
            <a:pPr algn="just"/>
            <a:r>
              <a:rPr lang="en-US" sz="2400" dirty="0" smtClean="0">
                <a:latin typeface="Times New Roman" pitchFamily="18" charset="0"/>
                <a:cs typeface="Times New Roman" pitchFamily="18" charset="0"/>
              </a:rPr>
              <a:t>Each neurons has its own internal state and the internal state are called activation or activity level of neuron which is the function of the inputs the neuron receives.</a:t>
            </a:r>
            <a:endParaRPr lang="en-US" sz="2400" dirty="0">
              <a:latin typeface="Times New Roman" pitchFamily="18" charset="0"/>
              <a:cs typeface="Times New Roman" pitchFamily="18" charset="0"/>
            </a:endParaRPr>
          </a:p>
        </p:txBody>
      </p:sp>
      <p:grpSp>
        <p:nvGrpSpPr>
          <p:cNvPr id="34" name="Group 33"/>
          <p:cNvGrpSpPr/>
          <p:nvPr/>
        </p:nvGrpSpPr>
        <p:grpSpPr>
          <a:xfrm>
            <a:off x="1752600" y="3429000"/>
            <a:ext cx="5619656" cy="2362200"/>
            <a:chOff x="1752600" y="3429000"/>
            <a:chExt cx="5619656" cy="2362200"/>
          </a:xfrm>
        </p:grpSpPr>
        <p:sp>
          <p:nvSpPr>
            <p:cNvPr id="4" name="Flowchart: Connector 3"/>
            <p:cNvSpPr/>
            <p:nvPr/>
          </p:nvSpPr>
          <p:spPr>
            <a:xfrm>
              <a:off x="2895600" y="3505200"/>
              <a:ext cx="609600" cy="5334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t>X</a:t>
              </a:r>
              <a:r>
                <a:rPr lang="en-US" sz="1400" baseline="-25000" dirty="0" smtClean="0"/>
                <a:t>1</a:t>
              </a:r>
              <a:endParaRPr lang="en-US" sz="1200" baseline="-25000" dirty="0"/>
            </a:p>
          </p:txBody>
        </p:sp>
        <p:sp>
          <p:nvSpPr>
            <p:cNvPr id="5" name="Flowchart: Connector 4"/>
            <p:cNvSpPr/>
            <p:nvPr/>
          </p:nvSpPr>
          <p:spPr>
            <a:xfrm>
              <a:off x="2819400" y="5181600"/>
              <a:ext cx="609600" cy="6096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t>X</a:t>
              </a:r>
              <a:r>
                <a:rPr lang="en-US" sz="1400" baseline="-25000" dirty="0" smtClean="0"/>
                <a:t>2</a:t>
              </a:r>
              <a:endParaRPr lang="en-US" sz="1400" baseline="-25000" dirty="0"/>
            </a:p>
          </p:txBody>
        </p:sp>
        <p:sp>
          <p:nvSpPr>
            <p:cNvPr id="6" name="Flowchart: Connector 5"/>
            <p:cNvSpPr/>
            <p:nvPr/>
          </p:nvSpPr>
          <p:spPr>
            <a:xfrm>
              <a:off x="5562600" y="4343400"/>
              <a:ext cx="457200" cy="4572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Y</a:t>
              </a:r>
              <a:endParaRPr lang="en-US" dirty="0"/>
            </a:p>
          </p:txBody>
        </p:sp>
        <p:cxnSp>
          <p:nvCxnSpPr>
            <p:cNvPr id="8" name="Straight Arrow Connector 7"/>
            <p:cNvCxnSpPr/>
            <p:nvPr/>
          </p:nvCxnSpPr>
          <p:spPr>
            <a:xfrm flipV="1">
              <a:off x="1828800" y="3771900"/>
              <a:ext cx="10668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752600" y="54864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6"/>
              <a:endCxn id="6" idx="1"/>
            </p:cNvCxnSpPr>
            <p:nvPr/>
          </p:nvCxnSpPr>
          <p:spPr>
            <a:xfrm>
              <a:off x="3505200" y="3771900"/>
              <a:ext cx="2124355" cy="6384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6"/>
              <a:endCxn id="6" idx="3"/>
            </p:cNvCxnSpPr>
            <p:nvPr/>
          </p:nvCxnSpPr>
          <p:spPr>
            <a:xfrm flipV="1">
              <a:off x="3429000" y="4733645"/>
              <a:ext cx="2200555" cy="7527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6" idx="6"/>
            </p:cNvCxnSpPr>
            <p:nvPr/>
          </p:nvCxnSpPr>
          <p:spPr>
            <a:xfrm>
              <a:off x="6019800" y="45720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0" y="3429000"/>
              <a:ext cx="377026" cy="369332"/>
            </a:xfrm>
            <a:prstGeom prst="rect">
              <a:avLst/>
            </a:prstGeom>
            <a:noFill/>
          </p:spPr>
          <p:txBody>
            <a:bodyPr wrap="none" rtlCol="0">
              <a:spAutoFit/>
            </a:bodyPr>
            <a:lstStyle/>
            <a:p>
              <a:r>
                <a:rPr lang="en-US" dirty="0" smtClean="0"/>
                <a:t>x</a:t>
              </a:r>
              <a:r>
                <a:rPr lang="en-US" baseline="-25000" dirty="0" smtClean="0"/>
                <a:t>1</a:t>
              </a:r>
              <a:endParaRPr lang="en-US" baseline="-25000" dirty="0"/>
            </a:p>
          </p:txBody>
        </p:sp>
        <p:sp>
          <p:nvSpPr>
            <p:cNvPr id="30" name="TextBox 29"/>
            <p:cNvSpPr txBox="1"/>
            <p:nvPr/>
          </p:nvSpPr>
          <p:spPr>
            <a:xfrm>
              <a:off x="2362200" y="5410200"/>
              <a:ext cx="377026" cy="369332"/>
            </a:xfrm>
            <a:prstGeom prst="rect">
              <a:avLst/>
            </a:prstGeom>
            <a:noFill/>
          </p:spPr>
          <p:txBody>
            <a:bodyPr wrap="none" rtlCol="0">
              <a:spAutoFit/>
            </a:bodyPr>
            <a:lstStyle/>
            <a:p>
              <a:r>
                <a:rPr lang="en-US" dirty="0" smtClean="0"/>
                <a:t>x</a:t>
              </a:r>
              <a:r>
                <a:rPr lang="en-US" baseline="-25000" dirty="0" smtClean="0"/>
                <a:t>2</a:t>
              </a:r>
              <a:endParaRPr lang="en-US" baseline="-25000" dirty="0"/>
            </a:p>
          </p:txBody>
        </p:sp>
        <p:sp>
          <p:nvSpPr>
            <p:cNvPr id="31" name="TextBox 30"/>
            <p:cNvSpPr txBox="1"/>
            <p:nvPr/>
          </p:nvSpPr>
          <p:spPr>
            <a:xfrm rot="604151">
              <a:off x="4495800" y="3810000"/>
              <a:ext cx="428322" cy="369332"/>
            </a:xfrm>
            <a:prstGeom prst="rect">
              <a:avLst/>
            </a:prstGeom>
            <a:noFill/>
          </p:spPr>
          <p:txBody>
            <a:bodyPr wrap="none" rtlCol="0">
              <a:spAutoFit/>
            </a:bodyPr>
            <a:lstStyle/>
            <a:p>
              <a:r>
                <a:rPr lang="en-US" dirty="0" smtClean="0"/>
                <a:t>w</a:t>
              </a:r>
              <a:r>
                <a:rPr lang="en-US" baseline="-25000" dirty="0" smtClean="0"/>
                <a:t>1</a:t>
              </a:r>
              <a:endParaRPr lang="en-US" baseline="-25000" dirty="0"/>
            </a:p>
          </p:txBody>
        </p:sp>
        <p:sp>
          <p:nvSpPr>
            <p:cNvPr id="32" name="TextBox 31"/>
            <p:cNvSpPr txBox="1"/>
            <p:nvPr/>
          </p:nvSpPr>
          <p:spPr>
            <a:xfrm rot="875722">
              <a:off x="4495800" y="5001008"/>
              <a:ext cx="428322" cy="369332"/>
            </a:xfrm>
            <a:prstGeom prst="rect">
              <a:avLst/>
            </a:prstGeom>
            <a:noFill/>
          </p:spPr>
          <p:txBody>
            <a:bodyPr wrap="none" rtlCol="0">
              <a:spAutoFit/>
            </a:bodyPr>
            <a:lstStyle/>
            <a:p>
              <a:r>
                <a:rPr lang="en-US" dirty="0" smtClean="0"/>
                <a:t>w</a:t>
              </a:r>
              <a:r>
                <a:rPr lang="en-US" baseline="-25000" dirty="0" smtClean="0"/>
                <a:t>2</a:t>
              </a:r>
              <a:endParaRPr lang="en-US" baseline="-25000" dirty="0"/>
            </a:p>
          </p:txBody>
        </p:sp>
        <p:sp>
          <p:nvSpPr>
            <p:cNvPr id="33" name="TextBox 32"/>
            <p:cNvSpPr txBox="1"/>
            <p:nvPr/>
          </p:nvSpPr>
          <p:spPr>
            <a:xfrm>
              <a:off x="7086600" y="4343400"/>
              <a:ext cx="285656" cy="369332"/>
            </a:xfrm>
            <a:prstGeom prst="rect">
              <a:avLst/>
            </a:prstGeom>
            <a:noFill/>
          </p:spPr>
          <p:txBody>
            <a:bodyPr wrap="none" rtlCol="0">
              <a:spAutoFit/>
            </a:bodyPr>
            <a:lstStyle/>
            <a:p>
              <a:r>
                <a:rPr lang="en-US" dirty="0" smtClean="0"/>
                <a:t>y</a:t>
              </a:r>
              <a:endParaRPr lang="en-US" dirty="0"/>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247888" cy="792162"/>
          </a:xfrm>
        </p:spPr>
        <p:txBody>
          <a:bodyPr>
            <a:normAutofit/>
          </a:bodyPr>
          <a:lstStyle/>
          <a:p>
            <a:pPr algn="just"/>
            <a:r>
              <a:rPr lang="en-US" sz="3200" b="1" dirty="0" smtClean="0">
                <a:latin typeface="Times New Roman" pitchFamily="18" charset="0"/>
                <a:cs typeface="Times New Roman" pitchFamily="18" charset="0"/>
              </a:rPr>
              <a:t>Model of An Artificial Neuron</a:t>
            </a:r>
            <a:endParaRPr lang="en-US" sz="3200" dirty="0"/>
          </a:p>
        </p:txBody>
      </p:sp>
      <p:sp>
        <p:nvSpPr>
          <p:cNvPr id="3" name="Content Placeholder 2"/>
          <p:cNvSpPr>
            <a:spLocks noGrp="1"/>
          </p:cNvSpPr>
          <p:nvPr>
            <p:ph idx="1"/>
          </p:nvPr>
        </p:nvSpPr>
        <p:spPr>
          <a:xfrm>
            <a:off x="381000" y="1066800"/>
            <a:ext cx="8552688" cy="5181600"/>
          </a:xfrm>
        </p:spPr>
        <p:txBody>
          <a:bodyPr>
            <a:normAutofit lnSpcReduction="10000"/>
          </a:bodyPr>
          <a:lstStyle/>
          <a:p>
            <a:pPr algn="just"/>
            <a:r>
              <a:rPr lang="en-US" sz="2400" dirty="0" smtClean="0">
                <a:latin typeface="Times New Roman" pitchFamily="18" charset="0"/>
                <a:cs typeface="Times New Roman" pitchFamily="18" charset="0"/>
              </a:rPr>
              <a:t>X1 and X2 are the input neurons, which transmit signals.</a:t>
            </a:r>
          </a:p>
          <a:p>
            <a:pPr algn="just"/>
            <a:r>
              <a:rPr lang="en-US" sz="2400" dirty="0" smtClean="0">
                <a:latin typeface="Times New Roman" pitchFamily="18" charset="0"/>
                <a:cs typeface="Times New Roman" pitchFamily="18" charset="0"/>
              </a:rPr>
              <a:t>Input neuron are connected to the output neuron over a weighted interconnection links.</a:t>
            </a:r>
          </a:p>
          <a:p>
            <a:pPr algn="just">
              <a:buNone/>
            </a:pP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y</a:t>
            </a:r>
            <a:r>
              <a:rPr lang="en-US" sz="2400" i="1" baseline="-25000" dirty="0" smtClean="0">
                <a:latin typeface="Times New Roman" pitchFamily="18" charset="0"/>
                <a:cs typeface="Times New Roman" pitchFamily="18" charset="0"/>
              </a:rPr>
              <a:t>in</a:t>
            </a:r>
            <a:r>
              <a:rPr lang="en-US" sz="2400" dirty="0" smtClean="0">
                <a:latin typeface="Times New Roman" pitchFamily="18" charset="0"/>
                <a:cs typeface="Times New Roman" pitchFamily="18" charset="0"/>
              </a:rPr>
              <a:t> = x</a:t>
            </a:r>
            <a:r>
              <a:rPr lang="en-US" sz="2400" baseline="-25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w</a:t>
            </a:r>
            <a:r>
              <a:rPr lang="en-US" sz="2400" baseline="-25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 x</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w</a:t>
            </a:r>
            <a:r>
              <a:rPr lang="en-US" sz="2400" baseline="-25000" dirty="0" smtClean="0">
                <a:latin typeface="Times New Roman" pitchFamily="18" charset="0"/>
                <a:cs typeface="Times New Roman" pitchFamily="18" charset="0"/>
              </a:rPr>
              <a:t>2</a:t>
            </a:r>
          </a:p>
          <a:p>
            <a:pPr algn="just">
              <a:buNone/>
            </a:pPr>
            <a:endParaRPr lang="en-US" sz="2400" baseline="-250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Where x1 and x2 are the activation of the input neurons X1 and X2 i.e., the output of input signals.</a:t>
            </a:r>
          </a:p>
          <a:p>
            <a:pPr algn="just"/>
            <a:r>
              <a:rPr lang="en-US" sz="2400" dirty="0" smtClean="0">
                <a:latin typeface="Times New Roman" pitchFamily="18" charset="0"/>
                <a:cs typeface="Times New Roman" pitchFamily="18" charset="0"/>
              </a:rPr>
              <a:t>The output y of the output neuron y can be obtained by applying activation over the net input, i.e., the function of the net input:</a:t>
            </a:r>
          </a:p>
          <a:p>
            <a:pPr algn="just">
              <a:buNone/>
            </a:pPr>
            <a:r>
              <a:rPr lang="en-US" sz="2400" dirty="0" smtClean="0">
                <a:latin typeface="Times New Roman" pitchFamily="18" charset="0"/>
                <a:cs typeface="Times New Roman" pitchFamily="18" charset="0"/>
              </a:rPr>
              <a:t>                                           y = </a:t>
            </a:r>
            <a:r>
              <a:rPr lang="en-US" sz="2400" i="1" dirty="0" smtClean="0">
                <a:latin typeface="Times New Roman" pitchFamily="18" charset="0"/>
                <a:cs typeface="Times New Roman" pitchFamily="18" charset="0"/>
              </a:rPr>
              <a:t>f </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y</a:t>
            </a:r>
            <a:r>
              <a:rPr lang="en-US" sz="2400" i="1" baseline="-25000" dirty="0" smtClean="0">
                <a:latin typeface="Times New Roman" pitchFamily="18" charset="0"/>
                <a:cs typeface="Times New Roman" pitchFamily="18" charset="0"/>
              </a:rPr>
              <a:t>in</a:t>
            </a:r>
            <a:r>
              <a:rPr lang="en-US" sz="2400" dirty="0" smtClean="0">
                <a:latin typeface="Times New Roman" pitchFamily="18" charset="0"/>
                <a:cs typeface="Times New Roman" pitchFamily="18" charset="0"/>
              </a:rPr>
              <a:t>)</a:t>
            </a:r>
          </a:p>
          <a:p>
            <a:pPr algn="just">
              <a:buNone/>
            </a:pPr>
            <a:r>
              <a:rPr lang="en-US" sz="2400" i="1" dirty="0" smtClean="0">
                <a:latin typeface="Times New Roman" pitchFamily="18" charset="0"/>
                <a:cs typeface="Times New Roman" pitchFamily="18" charset="0"/>
              </a:rPr>
              <a:t>                                     Output = Function ( net input calculated)</a:t>
            </a:r>
          </a:p>
          <a:p>
            <a:pPr algn="just"/>
            <a:r>
              <a:rPr lang="en-US" sz="2400" i="1" dirty="0" smtClean="0">
                <a:latin typeface="Times New Roman" pitchFamily="18" charset="0"/>
                <a:cs typeface="Times New Roman" pitchFamily="18" charset="0"/>
              </a:rPr>
              <a:t>The function to be applied over the net input is called activation function.</a:t>
            </a:r>
            <a:endParaRPr lang="en-US" sz="2400"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498080" cy="792162"/>
          </a:xfrm>
        </p:spPr>
        <p:txBody>
          <a:bodyPr>
            <a:normAutofit/>
          </a:bodyPr>
          <a:lstStyle/>
          <a:p>
            <a:r>
              <a:rPr lang="en-US" sz="3200" b="1" dirty="0" smtClean="0">
                <a:latin typeface="Times New Roman" pitchFamily="18" charset="0"/>
                <a:cs typeface="Times New Roman" pitchFamily="18" charset="0"/>
              </a:rPr>
              <a:t>Evolution of the Neural network</a:t>
            </a:r>
            <a:endParaRPr lang="en-US" sz="3200" b="1" dirty="0">
              <a:latin typeface="Times New Roman" pitchFamily="18" charset="0"/>
              <a:cs typeface="Times New Roman" pitchFamily="18" charset="0"/>
            </a:endParaRPr>
          </a:p>
        </p:txBody>
      </p:sp>
      <p:graphicFrame>
        <p:nvGraphicFramePr>
          <p:cNvPr id="6" name="Content Placeholder 5"/>
          <p:cNvGraphicFramePr>
            <a:graphicFrameLocks noGrp="1"/>
          </p:cNvGraphicFramePr>
          <p:nvPr>
            <p:ph idx="1"/>
          </p:nvPr>
        </p:nvGraphicFramePr>
        <p:xfrm>
          <a:off x="990600" y="1066800"/>
          <a:ext cx="7499352" cy="5403850"/>
        </p:xfrm>
        <a:graphic>
          <a:graphicData uri="http://schemas.openxmlformats.org/drawingml/2006/table">
            <a:tbl>
              <a:tblPr firstRow="1" bandRow="1">
                <a:tableStyleId>{5C22544A-7EE6-4342-B048-85BDC9FD1C3A}</a:tableStyleId>
              </a:tblPr>
              <a:tblGrid>
                <a:gridCol w="914400"/>
                <a:gridCol w="1981200"/>
                <a:gridCol w="1219200"/>
                <a:gridCol w="3384552"/>
              </a:tblGrid>
              <a:tr h="466090">
                <a:tc>
                  <a:txBody>
                    <a:bodyPr/>
                    <a:lstStyle/>
                    <a:p>
                      <a:pPr algn="just"/>
                      <a:r>
                        <a:rPr lang="en-US" dirty="0" smtClean="0"/>
                        <a:t>Year</a:t>
                      </a:r>
                      <a:endParaRPr lang="en-US" dirty="0"/>
                    </a:p>
                  </a:txBody>
                  <a:tcPr/>
                </a:tc>
                <a:tc>
                  <a:txBody>
                    <a:bodyPr/>
                    <a:lstStyle/>
                    <a:p>
                      <a:pPr algn="just"/>
                      <a:r>
                        <a:rPr lang="en-US" dirty="0" smtClean="0"/>
                        <a:t>Neural Network</a:t>
                      </a:r>
                      <a:endParaRPr lang="en-US" dirty="0"/>
                    </a:p>
                  </a:txBody>
                  <a:tcPr/>
                </a:tc>
                <a:tc>
                  <a:txBody>
                    <a:bodyPr/>
                    <a:lstStyle/>
                    <a:p>
                      <a:pPr algn="just"/>
                      <a:r>
                        <a:rPr lang="en-US" dirty="0" smtClean="0"/>
                        <a:t>Designer</a:t>
                      </a:r>
                      <a:endParaRPr lang="en-US" dirty="0"/>
                    </a:p>
                  </a:txBody>
                  <a:tcPr/>
                </a:tc>
                <a:tc>
                  <a:txBody>
                    <a:bodyPr/>
                    <a:lstStyle/>
                    <a:p>
                      <a:pPr algn="just"/>
                      <a:r>
                        <a:rPr lang="en-US" dirty="0" smtClean="0"/>
                        <a:t>Description</a:t>
                      </a:r>
                      <a:endParaRPr lang="en-US" dirty="0"/>
                    </a:p>
                  </a:txBody>
                  <a:tcPr/>
                </a:tc>
              </a:tr>
              <a:tr h="466090">
                <a:tc>
                  <a:txBody>
                    <a:bodyPr/>
                    <a:lstStyle/>
                    <a:p>
                      <a:pPr algn="just"/>
                      <a:r>
                        <a:rPr lang="en-US" dirty="0" smtClean="0"/>
                        <a:t>1943</a:t>
                      </a:r>
                      <a:endParaRPr lang="en-US" dirty="0"/>
                    </a:p>
                  </a:txBody>
                  <a:tcPr/>
                </a:tc>
                <a:tc>
                  <a:txBody>
                    <a:bodyPr/>
                    <a:lstStyle/>
                    <a:p>
                      <a:pPr algn="just"/>
                      <a:r>
                        <a:rPr lang="en-US" dirty="0" smtClean="0"/>
                        <a:t>McCulloch and Pitts neuron</a:t>
                      </a:r>
                      <a:endParaRPr lang="en-US" dirty="0"/>
                    </a:p>
                  </a:txBody>
                  <a:tcPr/>
                </a:tc>
                <a:tc>
                  <a:txBody>
                    <a:bodyPr/>
                    <a:lstStyle/>
                    <a:p>
                      <a:pPr algn="just"/>
                      <a:r>
                        <a:rPr lang="en-US" dirty="0" smtClean="0"/>
                        <a:t>McCulloch and Pitts</a:t>
                      </a:r>
                      <a:endParaRPr lang="en-US" dirty="0"/>
                    </a:p>
                  </a:txBody>
                  <a:tcPr/>
                </a:tc>
                <a:tc>
                  <a:txBody>
                    <a:bodyPr/>
                    <a:lstStyle/>
                    <a:p>
                      <a:pPr algn="just"/>
                      <a:r>
                        <a:rPr lang="en-US" dirty="0" smtClean="0"/>
                        <a:t>The arrangement of the neurons in this case is a combination of the logic function.  Unique feature of this neuron is the concept of threshold.</a:t>
                      </a:r>
                      <a:endParaRPr lang="en-US" dirty="0"/>
                    </a:p>
                  </a:txBody>
                  <a:tcPr/>
                </a:tc>
              </a:tr>
              <a:tr h="466090">
                <a:tc>
                  <a:txBody>
                    <a:bodyPr/>
                    <a:lstStyle/>
                    <a:p>
                      <a:pPr algn="just"/>
                      <a:r>
                        <a:rPr lang="en-US" dirty="0" smtClean="0"/>
                        <a:t>1949</a:t>
                      </a:r>
                      <a:endParaRPr lang="en-US" dirty="0"/>
                    </a:p>
                  </a:txBody>
                  <a:tcPr/>
                </a:tc>
                <a:tc>
                  <a:txBody>
                    <a:bodyPr/>
                    <a:lstStyle/>
                    <a:p>
                      <a:pPr algn="just"/>
                      <a:r>
                        <a:rPr lang="en-US" dirty="0" err="1" smtClean="0"/>
                        <a:t>Hebb</a:t>
                      </a:r>
                      <a:r>
                        <a:rPr lang="en-US" dirty="0" smtClean="0"/>
                        <a:t> network</a:t>
                      </a:r>
                      <a:endParaRPr lang="en-US" dirty="0"/>
                    </a:p>
                  </a:txBody>
                  <a:tcPr/>
                </a:tc>
                <a:tc>
                  <a:txBody>
                    <a:bodyPr/>
                    <a:lstStyle/>
                    <a:p>
                      <a:pPr algn="just"/>
                      <a:r>
                        <a:rPr lang="en-US" dirty="0" err="1" smtClean="0"/>
                        <a:t>Hebb</a:t>
                      </a:r>
                      <a:endParaRPr lang="en-US" dirty="0"/>
                    </a:p>
                  </a:txBody>
                  <a:tcPr/>
                </a:tc>
                <a:tc>
                  <a:txBody>
                    <a:bodyPr/>
                    <a:lstStyle/>
                    <a:p>
                      <a:pPr algn="just"/>
                      <a:r>
                        <a:rPr lang="en-US" dirty="0" smtClean="0"/>
                        <a:t>It is based upon the fact that if two neurons are found</a:t>
                      </a:r>
                      <a:r>
                        <a:rPr lang="en-US" baseline="0" dirty="0" smtClean="0"/>
                        <a:t> to be active simultaneously then the strength of the connection between them should be increased.</a:t>
                      </a:r>
                      <a:endParaRPr lang="en-US" dirty="0"/>
                    </a:p>
                  </a:txBody>
                  <a:tcPr/>
                </a:tc>
              </a:tr>
              <a:tr h="466090">
                <a:tc>
                  <a:txBody>
                    <a:bodyPr/>
                    <a:lstStyle/>
                    <a:p>
                      <a:pPr algn="just"/>
                      <a:r>
                        <a:rPr lang="en-US" dirty="0" smtClean="0"/>
                        <a:t>1958-1959,</a:t>
                      </a:r>
                      <a:r>
                        <a:rPr lang="en-US" baseline="0" dirty="0" smtClean="0"/>
                        <a:t> 1962, 1988</a:t>
                      </a:r>
                      <a:endParaRPr lang="en-US" dirty="0"/>
                    </a:p>
                  </a:txBody>
                  <a:tcPr/>
                </a:tc>
                <a:tc>
                  <a:txBody>
                    <a:bodyPr/>
                    <a:lstStyle/>
                    <a:p>
                      <a:pPr algn="just"/>
                      <a:r>
                        <a:rPr lang="en-US" dirty="0" smtClean="0"/>
                        <a:t>Perceptron</a:t>
                      </a:r>
                      <a:endParaRPr lang="en-US" dirty="0"/>
                    </a:p>
                  </a:txBody>
                  <a:tcPr/>
                </a:tc>
                <a:tc>
                  <a:txBody>
                    <a:bodyPr/>
                    <a:lstStyle/>
                    <a:p>
                      <a:pPr algn="just"/>
                      <a:r>
                        <a:rPr lang="en-US" dirty="0" smtClean="0"/>
                        <a:t>Frank</a:t>
                      </a:r>
                      <a:r>
                        <a:rPr lang="en-US" baseline="0" dirty="0" smtClean="0"/>
                        <a:t> Rosenblatt,  Block, </a:t>
                      </a:r>
                      <a:r>
                        <a:rPr lang="en-US" baseline="0" dirty="0" err="1" smtClean="0"/>
                        <a:t>Minsky</a:t>
                      </a:r>
                      <a:r>
                        <a:rPr lang="en-US" baseline="0" dirty="0" smtClean="0"/>
                        <a:t> and </a:t>
                      </a:r>
                      <a:r>
                        <a:rPr lang="en-US" baseline="0" dirty="0" err="1" smtClean="0"/>
                        <a:t>Widrow</a:t>
                      </a:r>
                      <a:r>
                        <a:rPr lang="en-US" baseline="0" dirty="0" smtClean="0"/>
                        <a:t> and Hoff</a:t>
                      </a:r>
                      <a:endParaRPr lang="en-US" dirty="0"/>
                    </a:p>
                  </a:txBody>
                  <a:tcPr/>
                </a:tc>
                <a:tc>
                  <a:txBody>
                    <a:bodyPr/>
                    <a:lstStyle/>
                    <a:p>
                      <a:pPr algn="just"/>
                      <a:r>
                        <a:rPr lang="en-US" dirty="0" smtClean="0"/>
                        <a:t>Here the weight</a:t>
                      </a:r>
                      <a:r>
                        <a:rPr lang="en-US" baseline="0" dirty="0" smtClean="0"/>
                        <a:t> on the connection path can be adjusted.</a:t>
                      </a:r>
                      <a:endParaRPr lang="en-US"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98080" cy="792162"/>
          </a:xfrm>
        </p:spPr>
        <p:txBody>
          <a:bodyPr>
            <a:normAutofit fontScale="90000"/>
          </a:bodyPr>
          <a:lstStyle/>
          <a:p>
            <a:r>
              <a:rPr lang="en-US" sz="4400" b="1" dirty="0" smtClean="0">
                <a:latin typeface="Times New Roman" pitchFamily="18" charset="0"/>
                <a:cs typeface="Times New Roman" pitchFamily="18" charset="0"/>
              </a:rPr>
              <a:t>Evolution of the Neural network</a:t>
            </a:r>
            <a:endParaRPr lang="en-US" dirty="0"/>
          </a:p>
        </p:txBody>
      </p:sp>
      <p:graphicFrame>
        <p:nvGraphicFramePr>
          <p:cNvPr id="4" name="Content Placeholder 3"/>
          <p:cNvGraphicFramePr>
            <a:graphicFrameLocks noGrp="1"/>
          </p:cNvGraphicFramePr>
          <p:nvPr>
            <p:ph idx="1"/>
          </p:nvPr>
        </p:nvGraphicFramePr>
        <p:xfrm>
          <a:off x="1435100" y="1447800"/>
          <a:ext cx="7499352" cy="5125720"/>
        </p:xfrm>
        <a:graphic>
          <a:graphicData uri="http://schemas.openxmlformats.org/drawingml/2006/table">
            <a:tbl>
              <a:tblPr firstRow="1" bandRow="1">
                <a:tableStyleId>{5C22544A-7EE6-4342-B048-85BDC9FD1C3A}</a:tableStyleId>
              </a:tblPr>
              <a:tblGrid>
                <a:gridCol w="850900"/>
                <a:gridCol w="1828800"/>
                <a:gridCol w="1295400"/>
                <a:gridCol w="3524252"/>
              </a:tblGrid>
              <a:tr h="370840">
                <a:tc>
                  <a:txBody>
                    <a:bodyPr/>
                    <a:lstStyle/>
                    <a:p>
                      <a:r>
                        <a:rPr lang="en-US" dirty="0" smtClean="0"/>
                        <a:t>Year</a:t>
                      </a:r>
                      <a:r>
                        <a:rPr lang="en-US" baseline="0" dirty="0" smtClean="0"/>
                        <a:t> </a:t>
                      </a:r>
                      <a:endParaRPr lang="en-US" dirty="0"/>
                    </a:p>
                  </a:txBody>
                  <a:tcPr/>
                </a:tc>
                <a:tc>
                  <a:txBody>
                    <a:bodyPr/>
                    <a:lstStyle/>
                    <a:p>
                      <a:r>
                        <a:rPr lang="en-US" dirty="0" smtClean="0"/>
                        <a:t>Neural Network</a:t>
                      </a:r>
                      <a:endParaRPr lang="en-US" dirty="0"/>
                    </a:p>
                  </a:txBody>
                  <a:tcPr/>
                </a:tc>
                <a:tc>
                  <a:txBody>
                    <a:bodyPr/>
                    <a:lstStyle/>
                    <a:p>
                      <a:r>
                        <a:rPr lang="en-US" dirty="0" smtClean="0"/>
                        <a:t>Designer</a:t>
                      </a:r>
                      <a:endParaRPr lang="en-US" dirty="0"/>
                    </a:p>
                  </a:txBody>
                  <a:tcPr/>
                </a:tc>
                <a:tc>
                  <a:txBody>
                    <a:bodyPr/>
                    <a:lstStyle/>
                    <a:p>
                      <a:r>
                        <a:rPr lang="en-US" dirty="0" smtClean="0"/>
                        <a:t>Description</a:t>
                      </a:r>
                      <a:endParaRPr lang="en-US" dirty="0"/>
                    </a:p>
                  </a:txBody>
                  <a:tcPr/>
                </a:tc>
              </a:tr>
              <a:tr h="370840">
                <a:tc>
                  <a:txBody>
                    <a:bodyPr/>
                    <a:lstStyle/>
                    <a:p>
                      <a:r>
                        <a:rPr lang="en-US" dirty="0" smtClean="0"/>
                        <a:t>1960</a:t>
                      </a:r>
                      <a:endParaRPr lang="en-US" dirty="0"/>
                    </a:p>
                  </a:txBody>
                  <a:tcPr/>
                </a:tc>
                <a:tc>
                  <a:txBody>
                    <a:bodyPr/>
                    <a:lstStyle/>
                    <a:p>
                      <a:r>
                        <a:rPr lang="en-US" dirty="0" smtClean="0"/>
                        <a:t>Adaline </a:t>
                      </a:r>
                      <a:endParaRPr lang="en-US" dirty="0"/>
                    </a:p>
                  </a:txBody>
                  <a:tcPr/>
                </a:tc>
                <a:tc>
                  <a:txBody>
                    <a:bodyPr/>
                    <a:lstStyle/>
                    <a:p>
                      <a:r>
                        <a:rPr lang="en-US" dirty="0" err="1" smtClean="0"/>
                        <a:t>Widrow</a:t>
                      </a:r>
                      <a:r>
                        <a:rPr lang="en-US" dirty="0" smtClean="0"/>
                        <a:t> and Hoff</a:t>
                      </a:r>
                      <a:endParaRPr lang="en-US" dirty="0"/>
                    </a:p>
                  </a:txBody>
                  <a:tcPr/>
                </a:tc>
                <a:tc>
                  <a:txBody>
                    <a:bodyPr/>
                    <a:lstStyle/>
                    <a:p>
                      <a:r>
                        <a:rPr lang="en-US" dirty="0" smtClean="0"/>
                        <a:t>Here the weight are adjusted</a:t>
                      </a:r>
                      <a:r>
                        <a:rPr lang="en-US" baseline="0" dirty="0" smtClean="0"/>
                        <a:t> to reduced the difference between the net input to the output unit and the desired output. The result here is very negative.</a:t>
                      </a:r>
                      <a:endParaRPr lang="en-US" dirty="0"/>
                    </a:p>
                  </a:txBody>
                  <a:tcPr/>
                </a:tc>
              </a:tr>
              <a:tr h="370840">
                <a:tc>
                  <a:txBody>
                    <a:bodyPr/>
                    <a:lstStyle/>
                    <a:p>
                      <a:r>
                        <a:rPr lang="en-US" dirty="0" smtClean="0"/>
                        <a:t>1986</a:t>
                      </a:r>
                      <a:endParaRPr lang="en-US" dirty="0"/>
                    </a:p>
                  </a:txBody>
                  <a:tcPr/>
                </a:tc>
                <a:tc>
                  <a:txBody>
                    <a:bodyPr/>
                    <a:lstStyle/>
                    <a:p>
                      <a:r>
                        <a:rPr lang="en-US" dirty="0" smtClean="0"/>
                        <a:t>Back propagation  network</a:t>
                      </a:r>
                      <a:endParaRPr lang="en-US" dirty="0"/>
                    </a:p>
                  </a:txBody>
                  <a:tcPr/>
                </a:tc>
                <a:tc>
                  <a:txBody>
                    <a:bodyPr/>
                    <a:lstStyle/>
                    <a:p>
                      <a:r>
                        <a:rPr lang="en-US" dirty="0" err="1" smtClean="0"/>
                        <a:t>Rumelhart</a:t>
                      </a:r>
                      <a:r>
                        <a:rPr lang="en-US" dirty="0" smtClean="0"/>
                        <a:t> , Hinton and </a:t>
                      </a:r>
                      <a:r>
                        <a:rPr lang="en-US" dirty="0" err="1" smtClean="0"/>
                        <a:t>william</a:t>
                      </a:r>
                      <a:r>
                        <a:rPr lang="en-US" baseline="0" dirty="0" err="1" smtClean="0"/>
                        <a:t>s</a:t>
                      </a:r>
                      <a:endParaRPr lang="en-US" dirty="0"/>
                    </a:p>
                  </a:txBody>
                  <a:tcPr/>
                </a:tc>
                <a:tc>
                  <a:txBody>
                    <a:bodyPr/>
                    <a:lstStyle/>
                    <a:p>
                      <a:r>
                        <a:rPr lang="en-US" dirty="0" smtClean="0"/>
                        <a:t>This network is multi – layer with error being propagated</a:t>
                      </a:r>
                      <a:r>
                        <a:rPr lang="en-US" baseline="0" dirty="0" smtClean="0"/>
                        <a:t> backward from the outputs unit to the hidden units.</a:t>
                      </a:r>
                      <a:endParaRPr lang="en-US" dirty="0"/>
                    </a:p>
                  </a:txBody>
                  <a:tcPr/>
                </a:tc>
              </a:tr>
              <a:tr h="370840">
                <a:tc>
                  <a:txBody>
                    <a:bodyPr/>
                    <a:lstStyle/>
                    <a:p>
                      <a:r>
                        <a:rPr lang="en-US" dirty="0" smtClean="0"/>
                        <a:t>1987 - 1990</a:t>
                      </a:r>
                      <a:endParaRPr lang="en-US" dirty="0"/>
                    </a:p>
                  </a:txBody>
                  <a:tcPr/>
                </a:tc>
                <a:tc>
                  <a:txBody>
                    <a:bodyPr/>
                    <a:lstStyle/>
                    <a:p>
                      <a:r>
                        <a:rPr lang="en-US" dirty="0" smtClean="0"/>
                        <a:t>Adaptive Resonance Theory</a:t>
                      </a:r>
                      <a:endParaRPr lang="en-US" dirty="0"/>
                    </a:p>
                  </a:txBody>
                  <a:tcPr/>
                </a:tc>
                <a:tc>
                  <a:txBody>
                    <a:bodyPr/>
                    <a:lstStyle/>
                    <a:p>
                      <a:r>
                        <a:rPr lang="en-US" dirty="0" err="1" smtClean="0"/>
                        <a:t>Carenter</a:t>
                      </a:r>
                      <a:r>
                        <a:rPr lang="en-US" dirty="0" smtClean="0"/>
                        <a:t> and </a:t>
                      </a:r>
                      <a:r>
                        <a:rPr lang="en-US" dirty="0" err="1" smtClean="0"/>
                        <a:t>Grossberg</a:t>
                      </a:r>
                      <a:r>
                        <a:rPr lang="en-US" dirty="0" smtClean="0"/>
                        <a:t> </a:t>
                      </a:r>
                      <a:endParaRPr lang="en-US" dirty="0"/>
                    </a:p>
                  </a:txBody>
                  <a:tcPr/>
                </a:tc>
                <a:tc>
                  <a:txBody>
                    <a:bodyPr/>
                    <a:lstStyle/>
                    <a:p>
                      <a:r>
                        <a:rPr lang="en-US" dirty="0" smtClean="0"/>
                        <a:t>The ART network is</a:t>
                      </a:r>
                      <a:r>
                        <a:rPr lang="en-US" baseline="0" dirty="0" smtClean="0"/>
                        <a:t> designed for both binary inputs and analog valued inputs.  Here the input pattern can be presented in any order.  </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498080" cy="792162"/>
          </a:xfrm>
        </p:spPr>
        <p:txBody>
          <a:bodyPr>
            <a:normAutofit/>
          </a:bodyPr>
          <a:lstStyle/>
          <a:p>
            <a:r>
              <a:rPr lang="en-US" sz="3600" b="1" dirty="0" smtClean="0">
                <a:latin typeface="Times New Roman" pitchFamily="18" charset="0"/>
                <a:cs typeface="Times New Roman" pitchFamily="18" charset="0"/>
              </a:rPr>
              <a:t>Brain vs. Computer</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990600"/>
            <a:ext cx="8610600" cy="4953000"/>
          </a:xfrm>
        </p:spPr>
        <p:txBody>
          <a:bodyPr>
            <a:normAutofit lnSpcReduction="10000"/>
          </a:bodyPr>
          <a:lstStyle/>
          <a:p>
            <a:pPr algn="just">
              <a:lnSpc>
                <a:spcPct val="120000"/>
              </a:lnSpc>
            </a:pPr>
            <a:r>
              <a:rPr lang="en-US" sz="2400" dirty="0" smtClean="0">
                <a:latin typeface="Times New Roman" pitchFamily="18" charset="0"/>
                <a:cs typeface="Times New Roman" pitchFamily="18" charset="0"/>
              </a:rPr>
              <a:t>Comparison between Biological Neuron and Artificial Neuron.</a:t>
            </a:r>
          </a:p>
          <a:p>
            <a:pPr lvl="1" algn="just">
              <a:lnSpc>
                <a:spcPct val="120000"/>
              </a:lnSpc>
            </a:pPr>
            <a:r>
              <a:rPr lang="en-US" sz="2000" b="1" dirty="0" smtClean="0">
                <a:latin typeface="Times New Roman" pitchFamily="18" charset="0"/>
                <a:cs typeface="Times New Roman" pitchFamily="18" charset="0"/>
              </a:rPr>
              <a:t>Speed –  </a:t>
            </a:r>
            <a:r>
              <a:rPr lang="en-US" sz="2000" dirty="0" smtClean="0">
                <a:latin typeface="Times New Roman" pitchFamily="18" charset="0"/>
                <a:cs typeface="Times New Roman" pitchFamily="18" charset="0"/>
              </a:rPr>
              <a:t>The cycle time of the execution in the ANN is of few nanoseconds. Whereas in the case of biological neuron it is of a few milliseconds. </a:t>
            </a:r>
          </a:p>
          <a:p>
            <a:pPr lvl="1" algn="just">
              <a:lnSpc>
                <a:spcPct val="120000"/>
              </a:lnSpc>
            </a:pPr>
            <a:r>
              <a:rPr lang="en-US" sz="2000" b="1" dirty="0" smtClean="0">
                <a:latin typeface="Times New Roman" pitchFamily="18" charset="0"/>
                <a:cs typeface="Times New Roman" pitchFamily="18" charset="0"/>
              </a:rPr>
              <a:t>Processing – </a:t>
            </a:r>
            <a:r>
              <a:rPr lang="en-US" sz="2000" dirty="0" smtClean="0">
                <a:latin typeface="Times New Roman" pitchFamily="18" charset="0"/>
                <a:cs typeface="Times New Roman" pitchFamily="18" charset="0"/>
              </a:rPr>
              <a:t>The artificial neuron network process is faster than that of the brain. (in the case of performing parallel operation).</a:t>
            </a:r>
          </a:p>
          <a:p>
            <a:pPr lvl="1" algn="just">
              <a:lnSpc>
                <a:spcPct val="120000"/>
              </a:lnSpc>
            </a:pPr>
            <a:r>
              <a:rPr lang="en-US" sz="2000" b="1" dirty="0" smtClean="0">
                <a:latin typeface="Times New Roman" pitchFamily="18" charset="0"/>
                <a:cs typeface="Times New Roman" pitchFamily="18" charset="0"/>
              </a:rPr>
              <a:t>Size and complexity </a:t>
            </a:r>
            <a:r>
              <a:rPr lang="en-US" sz="2000" dirty="0" smtClean="0">
                <a:latin typeface="Times New Roman" pitchFamily="18" charset="0"/>
                <a:cs typeface="Times New Roman" pitchFamily="18" charset="0"/>
              </a:rPr>
              <a:t>– The size and complexity of a biological neuron is more than that of an artificial neuron. </a:t>
            </a:r>
          </a:p>
          <a:p>
            <a:pPr lvl="1" algn="just">
              <a:lnSpc>
                <a:spcPct val="120000"/>
              </a:lnSpc>
            </a:pPr>
            <a:r>
              <a:rPr lang="en-US" sz="2000" b="1" dirty="0" smtClean="0">
                <a:latin typeface="Times New Roman" pitchFamily="18" charset="0"/>
                <a:cs typeface="Times New Roman" pitchFamily="18" charset="0"/>
              </a:rPr>
              <a:t>Storage capacity (</a:t>
            </a:r>
            <a:r>
              <a:rPr lang="en-US" sz="2000" b="1" i="1" dirty="0" smtClean="0">
                <a:latin typeface="Times New Roman" pitchFamily="18" charset="0"/>
                <a:cs typeface="Times New Roman" pitchFamily="18" charset="0"/>
              </a:rPr>
              <a:t>Memory</a:t>
            </a:r>
            <a:r>
              <a:rPr lang="en-US" sz="2000" b="1" dirty="0" smtClean="0">
                <a:latin typeface="Times New Roman" pitchFamily="18" charset="0"/>
                <a:cs typeface="Times New Roman" pitchFamily="18" charset="0"/>
              </a:rPr>
              <a:t>) –</a:t>
            </a:r>
          </a:p>
          <a:p>
            <a:pPr lvl="1" algn="just">
              <a:lnSpc>
                <a:spcPct val="120000"/>
              </a:lnSpc>
            </a:pPr>
            <a:r>
              <a:rPr lang="en-US" sz="2000" b="1" dirty="0" smtClean="0">
                <a:latin typeface="Times New Roman" pitchFamily="18" charset="0"/>
                <a:cs typeface="Times New Roman" pitchFamily="18" charset="0"/>
              </a:rPr>
              <a:t>Tolerance – </a:t>
            </a:r>
            <a:r>
              <a:rPr lang="en-US" sz="2000" dirty="0" smtClean="0">
                <a:latin typeface="Times New Roman" pitchFamily="18" charset="0"/>
                <a:cs typeface="Times New Roman" pitchFamily="18" charset="0"/>
              </a:rPr>
              <a:t>The biological neuron processes fault tolerant capability  whereas the artificial neuron has no fault tolerance. </a:t>
            </a:r>
          </a:p>
          <a:p>
            <a:pPr lvl="1" algn="just">
              <a:lnSpc>
                <a:spcPct val="120000"/>
              </a:lnSpc>
            </a:pPr>
            <a:r>
              <a:rPr lang="en-US" sz="2000" b="1" dirty="0" smtClean="0">
                <a:latin typeface="Times New Roman" pitchFamily="18" charset="0"/>
                <a:cs typeface="Times New Roman" pitchFamily="18" charset="0"/>
              </a:rPr>
              <a:t>Control mechanism – </a:t>
            </a:r>
            <a:r>
              <a:rPr lang="en-US" sz="2000" dirty="0" smtClean="0">
                <a:latin typeface="Times New Roman" pitchFamily="18" charset="0"/>
                <a:cs typeface="Times New Roman" pitchFamily="18" charset="0"/>
              </a:rPr>
              <a:t>The control mechanism of an artificial neuron is very simple compared to that of a biological neuron.</a:t>
            </a:r>
            <a:endParaRPr lang="en-US" sz="2000" b="1" dirty="0" smtClean="0">
              <a:latin typeface="Times New Roman" pitchFamily="18" charset="0"/>
              <a:cs typeface="Times New Roman" pitchFamily="18" charset="0"/>
            </a:endParaRPr>
          </a:p>
          <a:p>
            <a:pPr lvl="1" algn="just">
              <a:lnSpc>
                <a:spcPct val="120000"/>
              </a:lnSpc>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324088" cy="762000"/>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p>
        </p:txBody>
      </p:sp>
      <p:grpSp>
        <p:nvGrpSpPr>
          <p:cNvPr id="32" name="Group 31"/>
          <p:cNvGrpSpPr/>
          <p:nvPr/>
        </p:nvGrpSpPr>
        <p:grpSpPr>
          <a:xfrm>
            <a:off x="76200" y="1219200"/>
            <a:ext cx="8610600" cy="4953000"/>
            <a:chOff x="76200" y="1219200"/>
            <a:chExt cx="8610600" cy="4953000"/>
          </a:xfrm>
        </p:grpSpPr>
        <p:sp>
          <p:nvSpPr>
            <p:cNvPr id="4" name="Rectangle 3"/>
            <p:cNvSpPr/>
            <p:nvPr/>
          </p:nvSpPr>
          <p:spPr>
            <a:xfrm>
              <a:off x="1447800" y="1219200"/>
              <a:ext cx="6400800" cy="762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Model of Artificial Neural Network</a:t>
              </a:r>
              <a:endParaRPr lang="en-US" dirty="0"/>
            </a:p>
          </p:txBody>
        </p:sp>
        <p:sp>
          <p:nvSpPr>
            <p:cNvPr id="5" name="Rectangle 4"/>
            <p:cNvSpPr/>
            <p:nvPr/>
          </p:nvSpPr>
          <p:spPr>
            <a:xfrm>
              <a:off x="1066800" y="2667000"/>
              <a:ext cx="2286000" cy="838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Connection</a:t>
              </a:r>
              <a:endParaRPr lang="en-US" dirty="0"/>
            </a:p>
          </p:txBody>
        </p:sp>
        <p:sp>
          <p:nvSpPr>
            <p:cNvPr id="6" name="Rectangle 5"/>
            <p:cNvSpPr/>
            <p:nvPr/>
          </p:nvSpPr>
          <p:spPr>
            <a:xfrm>
              <a:off x="3733800" y="2667000"/>
              <a:ext cx="2286000" cy="838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Learning</a:t>
              </a:r>
              <a:endParaRPr lang="en-US" dirty="0"/>
            </a:p>
          </p:txBody>
        </p:sp>
        <p:sp>
          <p:nvSpPr>
            <p:cNvPr id="7" name="Rectangle 6"/>
            <p:cNvSpPr/>
            <p:nvPr/>
          </p:nvSpPr>
          <p:spPr>
            <a:xfrm>
              <a:off x="6400800" y="2667000"/>
              <a:ext cx="2286000" cy="838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Activation Functions</a:t>
              </a:r>
              <a:endParaRPr lang="en-US" dirty="0"/>
            </a:p>
          </p:txBody>
        </p:sp>
        <p:cxnSp>
          <p:nvCxnSpPr>
            <p:cNvPr id="9" name="Elbow Connector 8"/>
            <p:cNvCxnSpPr>
              <a:stCxn id="4" idx="2"/>
              <a:endCxn id="5" idx="0"/>
            </p:cNvCxnSpPr>
            <p:nvPr/>
          </p:nvCxnSpPr>
          <p:spPr>
            <a:xfrm rot="5400000">
              <a:off x="3086100" y="1104900"/>
              <a:ext cx="685800" cy="24384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Elbow Connector 10"/>
            <p:cNvCxnSpPr>
              <a:stCxn id="4" idx="2"/>
              <a:endCxn id="7" idx="0"/>
            </p:cNvCxnSpPr>
            <p:nvPr/>
          </p:nvCxnSpPr>
          <p:spPr>
            <a:xfrm rot="16200000" flipH="1">
              <a:off x="5753100" y="876300"/>
              <a:ext cx="685800" cy="28956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2"/>
            </p:cNvCxnSpPr>
            <p:nvPr/>
          </p:nvCxnSpPr>
          <p:spPr>
            <a:xfrm rot="5400000">
              <a:off x="4305300" y="23241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76200" y="4114800"/>
              <a:ext cx="1828800" cy="609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Single layer feed forward network</a:t>
              </a:r>
              <a:endParaRPr lang="en-US" dirty="0"/>
            </a:p>
          </p:txBody>
        </p:sp>
        <p:sp>
          <p:nvSpPr>
            <p:cNvPr id="16" name="Rounded Rectangle 15"/>
            <p:cNvSpPr/>
            <p:nvPr/>
          </p:nvSpPr>
          <p:spPr>
            <a:xfrm>
              <a:off x="2057400" y="4114800"/>
              <a:ext cx="1828800" cy="609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Multilayer feed forward network</a:t>
              </a:r>
              <a:endParaRPr lang="en-US" dirty="0"/>
            </a:p>
          </p:txBody>
        </p:sp>
        <p:sp>
          <p:nvSpPr>
            <p:cNvPr id="17" name="Rounded Rectangle 16"/>
            <p:cNvSpPr/>
            <p:nvPr/>
          </p:nvSpPr>
          <p:spPr>
            <a:xfrm>
              <a:off x="2819400" y="5257800"/>
              <a:ext cx="15240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Supervised Learning</a:t>
              </a:r>
              <a:endParaRPr lang="en-US" dirty="0"/>
            </a:p>
          </p:txBody>
        </p:sp>
        <p:sp>
          <p:nvSpPr>
            <p:cNvPr id="18" name="Rounded Rectangle 17"/>
            <p:cNvSpPr/>
            <p:nvPr/>
          </p:nvSpPr>
          <p:spPr>
            <a:xfrm>
              <a:off x="4495800" y="5257800"/>
              <a:ext cx="16002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Unsupervised Learning </a:t>
              </a:r>
              <a:endParaRPr lang="en-US" dirty="0"/>
            </a:p>
          </p:txBody>
        </p:sp>
        <p:sp>
          <p:nvSpPr>
            <p:cNvPr id="19" name="Rounded Rectangle 18"/>
            <p:cNvSpPr/>
            <p:nvPr/>
          </p:nvSpPr>
          <p:spPr>
            <a:xfrm>
              <a:off x="6172200" y="5257800"/>
              <a:ext cx="16764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Reinforcement Learning </a:t>
              </a:r>
              <a:endParaRPr lang="en-US" dirty="0"/>
            </a:p>
          </p:txBody>
        </p:sp>
        <p:cxnSp>
          <p:nvCxnSpPr>
            <p:cNvPr id="21" name="Elbow Connector 20"/>
            <p:cNvCxnSpPr>
              <a:stCxn id="5" idx="2"/>
              <a:endCxn id="15" idx="0"/>
            </p:cNvCxnSpPr>
            <p:nvPr/>
          </p:nvCxnSpPr>
          <p:spPr>
            <a:xfrm rot="5400000">
              <a:off x="1295400" y="3200400"/>
              <a:ext cx="609600" cy="1219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5" idx="2"/>
              <a:endCxn id="16" idx="0"/>
            </p:cNvCxnSpPr>
            <p:nvPr/>
          </p:nvCxnSpPr>
          <p:spPr>
            <a:xfrm rot="16200000" flipH="1">
              <a:off x="2286000" y="3429000"/>
              <a:ext cx="609600" cy="7620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6" idx="2"/>
              <a:endCxn id="17" idx="0"/>
            </p:cNvCxnSpPr>
            <p:nvPr/>
          </p:nvCxnSpPr>
          <p:spPr>
            <a:xfrm rot="5400000">
              <a:off x="3352800" y="3733800"/>
              <a:ext cx="1752600" cy="1295400"/>
            </a:xfrm>
            <a:prstGeom prst="bentConnector3">
              <a:avLst>
                <a:gd name="adj1" fmla="val 7718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6" idx="2"/>
              <a:endCxn id="19" idx="0"/>
            </p:cNvCxnSpPr>
            <p:nvPr/>
          </p:nvCxnSpPr>
          <p:spPr>
            <a:xfrm rot="16200000" flipH="1">
              <a:off x="5067300" y="3314700"/>
              <a:ext cx="1752600" cy="2133600"/>
            </a:xfrm>
            <a:prstGeom prst="bentConnector3">
              <a:avLst>
                <a:gd name="adj1" fmla="val 77189"/>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p:cNvCxnSpPr>
            <a:stCxn id="6" idx="2"/>
          </p:cNvCxnSpPr>
          <p:nvPr/>
        </p:nvCxnSpPr>
        <p:spPr>
          <a:xfrm rot="5400000">
            <a:off x="4000500" y="4381500"/>
            <a:ext cx="1752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400288" cy="838200"/>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p>
        </p:txBody>
      </p:sp>
      <p:sp>
        <p:nvSpPr>
          <p:cNvPr id="3" name="Content Placeholder 2"/>
          <p:cNvSpPr>
            <a:spLocks noGrp="1"/>
          </p:cNvSpPr>
          <p:nvPr>
            <p:ph idx="1"/>
          </p:nvPr>
        </p:nvSpPr>
        <p:spPr>
          <a:xfrm>
            <a:off x="228600" y="990600"/>
            <a:ext cx="8763000" cy="5029200"/>
          </a:xfrm>
        </p:spPr>
        <p:txBody>
          <a:bodyPr>
            <a:normAutofit/>
          </a:bodyPr>
          <a:lstStyle/>
          <a:p>
            <a:r>
              <a:rPr lang="en-US" sz="2400" dirty="0" smtClean="0">
                <a:latin typeface="Times New Roman" pitchFamily="18" charset="0"/>
                <a:cs typeface="Times New Roman" pitchFamily="18" charset="0"/>
              </a:rPr>
              <a:t>The model of ANN are specified by the three basic entities namely.</a:t>
            </a:r>
          </a:p>
          <a:p>
            <a:pPr lvl="1"/>
            <a:r>
              <a:rPr lang="en-US" sz="2000" dirty="0" smtClean="0">
                <a:latin typeface="Times New Roman" pitchFamily="18" charset="0"/>
                <a:cs typeface="Times New Roman" pitchFamily="18" charset="0"/>
              </a:rPr>
              <a:t>The Model’s  synaptic interconnection. </a:t>
            </a:r>
          </a:p>
          <a:p>
            <a:pPr lvl="1"/>
            <a:r>
              <a:rPr lang="en-US" sz="2000" dirty="0" smtClean="0">
                <a:latin typeface="Times New Roman" pitchFamily="18" charset="0"/>
                <a:cs typeface="Times New Roman" pitchFamily="18" charset="0"/>
              </a:rPr>
              <a:t>Training or learning rule adopted for uploading and adjusting the connection weights.</a:t>
            </a:r>
          </a:p>
          <a:p>
            <a:pPr lvl="1"/>
            <a:r>
              <a:rPr lang="en-US" sz="2000" dirty="0" smtClean="0">
                <a:latin typeface="Times New Roman" pitchFamily="18" charset="0"/>
                <a:cs typeface="Times New Roman" pitchFamily="18" charset="0"/>
              </a:rPr>
              <a:t>Their activation function.</a:t>
            </a:r>
          </a:p>
          <a:p>
            <a:pPr marL="539496" indent="-457200">
              <a:buFont typeface="+mj-lt"/>
              <a:buAutoNum type="alphaUcPeriod"/>
            </a:pPr>
            <a:r>
              <a:rPr lang="en-US" sz="2400" dirty="0" smtClean="0">
                <a:latin typeface="Times New Roman" pitchFamily="18" charset="0"/>
                <a:cs typeface="Times New Roman" pitchFamily="18" charset="0"/>
              </a:rPr>
              <a:t>Connection </a:t>
            </a:r>
          </a:p>
          <a:p>
            <a:pPr lvl="1"/>
            <a:r>
              <a:rPr lang="en-US" sz="2000" dirty="0" smtClean="0">
                <a:latin typeface="Times New Roman" pitchFamily="18" charset="0"/>
                <a:cs typeface="Times New Roman" pitchFamily="18" charset="0"/>
              </a:rPr>
              <a:t>Single layer feed forward network </a:t>
            </a:r>
          </a:p>
          <a:p>
            <a:pPr lvl="1"/>
            <a:r>
              <a:rPr lang="en-US" sz="2000" dirty="0" smtClean="0">
                <a:latin typeface="Times New Roman" pitchFamily="18" charset="0"/>
                <a:cs typeface="Times New Roman" pitchFamily="18" charset="0"/>
              </a:rPr>
              <a:t>Multilayer feed forward network</a:t>
            </a:r>
          </a:p>
          <a:p>
            <a:pPr lvl="1"/>
            <a:r>
              <a:rPr lang="en-US" sz="2000" dirty="0" smtClean="0">
                <a:latin typeface="Times New Roman" pitchFamily="18" charset="0"/>
                <a:cs typeface="Times New Roman" pitchFamily="18" charset="0"/>
              </a:rPr>
              <a:t>Single node with own feedback</a:t>
            </a:r>
          </a:p>
          <a:p>
            <a:pPr lvl="1"/>
            <a:r>
              <a:rPr lang="en-US" sz="2000" dirty="0" smtClean="0">
                <a:latin typeface="Times New Roman" pitchFamily="18" charset="0"/>
                <a:cs typeface="Times New Roman" pitchFamily="18" charset="0"/>
              </a:rPr>
              <a:t>Single layer recurrent network</a:t>
            </a:r>
          </a:p>
          <a:p>
            <a:pPr lvl="1"/>
            <a:r>
              <a:rPr lang="en-US" sz="2000" dirty="0" smtClean="0">
                <a:latin typeface="Times New Roman" pitchFamily="18" charset="0"/>
                <a:cs typeface="Times New Roman" pitchFamily="18" charset="0"/>
              </a:rPr>
              <a:t>Multilayer recurrent network </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76488" cy="792162"/>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p>
        </p:txBody>
      </p:sp>
      <p:sp>
        <p:nvSpPr>
          <p:cNvPr id="3" name="Content Placeholder 2"/>
          <p:cNvSpPr>
            <a:spLocks noGrp="1"/>
          </p:cNvSpPr>
          <p:nvPr>
            <p:ph idx="1"/>
          </p:nvPr>
        </p:nvSpPr>
        <p:spPr>
          <a:xfrm>
            <a:off x="685800" y="1066800"/>
            <a:ext cx="8247888" cy="5181600"/>
          </a:xfrm>
        </p:spPr>
        <p:txBody>
          <a:bodyPr>
            <a:normAutofit/>
          </a:bodyPr>
          <a:lstStyle/>
          <a:p>
            <a:pPr marL="539496" indent="-457200" algn="just">
              <a:buFont typeface="+mj-lt"/>
              <a:buAutoNum type="alphaUcPeriod" startAt="2"/>
            </a:pPr>
            <a:r>
              <a:rPr lang="en-US" sz="2400" b="1" dirty="0" smtClean="0">
                <a:latin typeface="Times New Roman" pitchFamily="18" charset="0"/>
                <a:cs typeface="Times New Roman" pitchFamily="18" charset="0"/>
              </a:rPr>
              <a:t>Learning – </a:t>
            </a:r>
            <a:r>
              <a:rPr lang="en-US" sz="2400" dirty="0" smtClean="0">
                <a:latin typeface="Times New Roman" pitchFamily="18" charset="0"/>
                <a:cs typeface="Times New Roman" pitchFamily="18" charset="0"/>
              </a:rPr>
              <a:t>Learning methods in neural network can be broadly classified into three basic types: Supervised, unsupervised, and reinforced. </a:t>
            </a:r>
            <a:r>
              <a:rPr lang="en-US" sz="2400" b="1" dirty="0" smtClean="0">
                <a:latin typeface="Times New Roman" pitchFamily="18" charset="0"/>
                <a:cs typeface="Times New Roman" pitchFamily="18" charset="0"/>
              </a:rPr>
              <a:t> </a:t>
            </a:r>
          </a:p>
          <a:p>
            <a:pPr algn="just">
              <a:buNone/>
            </a:pPr>
            <a:endParaRPr lang="en-US" sz="2400" b="1" dirty="0">
              <a:latin typeface="Times New Roman" pitchFamily="18" charset="0"/>
              <a:cs typeface="Times New Roman" pitchFamily="18" charset="0"/>
            </a:endParaRPr>
          </a:p>
        </p:txBody>
      </p:sp>
      <p:grpSp>
        <p:nvGrpSpPr>
          <p:cNvPr id="30" name="Group 29"/>
          <p:cNvGrpSpPr/>
          <p:nvPr/>
        </p:nvGrpSpPr>
        <p:grpSpPr>
          <a:xfrm>
            <a:off x="0" y="2514600"/>
            <a:ext cx="9144000" cy="3886200"/>
            <a:chOff x="0" y="1752600"/>
            <a:chExt cx="9144000" cy="3886200"/>
          </a:xfrm>
        </p:grpSpPr>
        <p:sp>
          <p:nvSpPr>
            <p:cNvPr id="4" name="Oval 3"/>
            <p:cNvSpPr/>
            <p:nvPr/>
          </p:nvSpPr>
          <p:spPr>
            <a:xfrm>
              <a:off x="2895600" y="1752600"/>
              <a:ext cx="4114800" cy="838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Neural Network Learning algorithm</a:t>
              </a:r>
              <a:endParaRPr lang="en-US" dirty="0"/>
            </a:p>
          </p:txBody>
        </p:sp>
        <p:sp>
          <p:nvSpPr>
            <p:cNvPr id="6" name="Oval 5"/>
            <p:cNvSpPr/>
            <p:nvPr/>
          </p:nvSpPr>
          <p:spPr>
            <a:xfrm>
              <a:off x="457200" y="3124200"/>
              <a:ext cx="28956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Supervised Learning (Error based)</a:t>
              </a:r>
              <a:endParaRPr lang="en-US" dirty="0"/>
            </a:p>
          </p:txBody>
        </p:sp>
        <p:sp>
          <p:nvSpPr>
            <p:cNvPr id="7" name="Oval 6"/>
            <p:cNvSpPr/>
            <p:nvPr/>
          </p:nvSpPr>
          <p:spPr>
            <a:xfrm>
              <a:off x="3505200" y="3048000"/>
              <a:ext cx="25146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Unsupervised Learning</a:t>
              </a:r>
              <a:endParaRPr lang="en-US" dirty="0"/>
            </a:p>
          </p:txBody>
        </p:sp>
        <p:sp>
          <p:nvSpPr>
            <p:cNvPr id="8" name="Oval 7"/>
            <p:cNvSpPr/>
            <p:nvPr/>
          </p:nvSpPr>
          <p:spPr>
            <a:xfrm>
              <a:off x="6172200" y="3048000"/>
              <a:ext cx="29718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Reinforced Learning (Output based)</a:t>
              </a:r>
              <a:endParaRPr lang="en-US" dirty="0"/>
            </a:p>
          </p:txBody>
        </p:sp>
        <p:sp>
          <p:nvSpPr>
            <p:cNvPr id="9" name="Oval 8"/>
            <p:cNvSpPr/>
            <p:nvPr/>
          </p:nvSpPr>
          <p:spPr>
            <a:xfrm>
              <a:off x="0" y="4724400"/>
              <a:ext cx="25908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Error Correction gradient descent </a:t>
              </a:r>
              <a:endParaRPr lang="en-US" dirty="0"/>
            </a:p>
          </p:txBody>
        </p:sp>
        <p:sp>
          <p:nvSpPr>
            <p:cNvPr id="10" name="Oval 9"/>
            <p:cNvSpPr/>
            <p:nvPr/>
          </p:nvSpPr>
          <p:spPr>
            <a:xfrm>
              <a:off x="2743200" y="4724400"/>
              <a:ext cx="19050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Stochastic </a:t>
              </a:r>
              <a:endParaRPr lang="en-US" dirty="0"/>
            </a:p>
          </p:txBody>
        </p:sp>
        <p:sp>
          <p:nvSpPr>
            <p:cNvPr id="11" name="Oval 10"/>
            <p:cNvSpPr/>
            <p:nvPr/>
          </p:nvSpPr>
          <p:spPr>
            <a:xfrm>
              <a:off x="5105400" y="4648200"/>
              <a:ext cx="19050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Hebbian</a:t>
              </a:r>
              <a:endParaRPr lang="en-US" dirty="0"/>
            </a:p>
          </p:txBody>
        </p:sp>
        <p:sp>
          <p:nvSpPr>
            <p:cNvPr id="12" name="Oval 11"/>
            <p:cNvSpPr/>
            <p:nvPr/>
          </p:nvSpPr>
          <p:spPr>
            <a:xfrm>
              <a:off x="7162800" y="4648200"/>
              <a:ext cx="19050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Competitive</a:t>
              </a:r>
              <a:endParaRPr lang="en-US" dirty="0"/>
            </a:p>
          </p:txBody>
        </p:sp>
        <p:cxnSp>
          <p:nvCxnSpPr>
            <p:cNvPr id="14" name="Elbow Connector 13"/>
            <p:cNvCxnSpPr>
              <a:stCxn id="4" idx="4"/>
              <a:endCxn id="6" idx="0"/>
            </p:cNvCxnSpPr>
            <p:nvPr/>
          </p:nvCxnSpPr>
          <p:spPr>
            <a:xfrm rot="5400000">
              <a:off x="3162300" y="1333500"/>
              <a:ext cx="533400" cy="3048000"/>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16" name="Elbow Connector 15"/>
            <p:cNvCxnSpPr>
              <a:stCxn id="4" idx="4"/>
              <a:endCxn id="8" idx="0"/>
            </p:cNvCxnSpPr>
            <p:nvPr/>
          </p:nvCxnSpPr>
          <p:spPr>
            <a:xfrm rot="16200000" flipH="1">
              <a:off x="6076950" y="1466850"/>
              <a:ext cx="457200" cy="2705100"/>
            </a:xfrm>
            <a:prstGeom prst="bentConnector3">
              <a:avLst>
                <a:gd name="adj1" fmla="val 5845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stCxn id="4" idx="4"/>
            </p:cNvCxnSpPr>
            <p:nvPr/>
          </p:nvCxnSpPr>
          <p:spPr>
            <a:xfrm rot="5400000">
              <a:off x="4724400" y="2819400"/>
              <a:ext cx="457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Elbow Connector 22"/>
            <p:cNvCxnSpPr>
              <a:stCxn id="6" idx="4"/>
              <a:endCxn id="9" idx="0"/>
            </p:cNvCxnSpPr>
            <p:nvPr/>
          </p:nvCxnSpPr>
          <p:spPr>
            <a:xfrm rot="5400000">
              <a:off x="1257300" y="4076700"/>
              <a:ext cx="685800" cy="609600"/>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25" name="Elbow Connector 24"/>
            <p:cNvCxnSpPr>
              <a:stCxn id="6" idx="4"/>
              <a:endCxn id="10" idx="0"/>
            </p:cNvCxnSpPr>
            <p:nvPr/>
          </p:nvCxnSpPr>
          <p:spPr>
            <a:xfrm rot="16200000" flipH="1">
              <a:off x="2457450" y="3486150"/>
              <a:ext cx="685800" cy="1790700"/>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27" name="Elbow Connector 26"/>
            <p:cNvCxnSpPr>
              <a:stCxn id="7" idx="4"/>
              <a:endCxn id="11" idx="0"/>
            </p:cNvCxnSpPr>
            <p:nvPr/>
          </p:nvCxnSpPr>
          <p:spPr>
            <a:xfrm rot="16200000" flipH="1">
              <a:off x="5067300" y="3657600"/>
              <a:ext cx="685800" cy="1295400"/>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29" name="Elbow Connector 28"/>
            <p:cNvCxnSpPr>
              <a:stCxn id="7" idx="4"/>
              <a:endCxn id="12" idx="0"/>
            </p:cNvCxnSpPr>
            <p:nvPr/>
          </p:nvCxnSpPr>
          <p:spPr>
            <a:xfrm rot="16200000" flipH="1">
              <a:off x="6096000" y="2628900"/>
              <a:ext cx="685800" cy="3352800"/>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400288" cy="685800"/>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p>
        </p:txBody>
      </p:sp>
      <p:sp>
        <p:nvSpPr>
          <p:cNvPr id="3" name="Content Placeholder 2"/>
          <p:cNvSpPr>
            <a:spLocks noGrp="1"/>
          </p:cNvSpPr>
          <p:nvPr>
            <p:ph idx="1"/>
          </p:nvPr>
        </p:nvSpPr>
        <p:spPr>
          <a:xfrm>
            <a:off x="304800" y="762000"/>
            <a:ext cx="8610600" cy="5715000"/>
          </a:xfrm>
        </p:spPr>
        <p:txBody>
          <a:bodyPr>
            <a:normAutofit lnSpcReduction="10000"/>
          </a:bodyPr>
          <a:lstStyle/>
          <a:p>
            <a:pPr marL="539496" indent="-457200">
              <a:buClrTx/>
              <a:buSzPct val="85000"/>
              <a:buFont typeface="+mj-lt"/>
              <a:buAutoNum type="arabicPeriod"/>
            </a:pPr>
            <a:r>
              <a:rPr lang="en-US" sz="2400" b="1" dirty="0" smtClean="0">
                <a:latin typeface="Times New Roman" pitchFamily="18" charset="0"/>
                <a:cs typeface="Times New Roman" pitchFamily="18" charset="0"/>
              </a:rPr>
              <a:t>Supervised Learning – </a:t>
            </a:r>
            <a:endParaRPr lang="en-US" sz="2000" dirty="0" smtClean="0">
              <a:latin typeface="Times New Roman" pitchFamily="18" charset="0"/>
              <a:cs typeface="Times New Roman" pitchFamily="18" charset="0"/>
            </a:endParaRPr>
          </a:p>
          <a:p>
            <a:pPr lvl="1" algn="just">
              <a:buClrTx/>
            </a:pPr>
            <a:r>
              <a:rPr lang="en-US" sz="2000" dirty="0" smtClean="0">
                <a:latin typeface="Times New Roman" pitchFamily="18" charset="0"/>
                <a:cs typeface="Times New Roman" pitchFamily="18" charset="0"/>
              </a:rPr>
              <a:t>In this learning, every input pattern that is used to train the network is associated with an output, which is the target or the desired pattern. </a:t>
            </a:r>
          </a:p>
          <a:p>
            <a:pPr lvl="1" algn="just">
              <a:buClrTx/>
            </a:pPr>
            <a:r>
              <a:rPr lang="en-US" sz="2000" dirty="0" smtClean="0">
                <a:latin typeface="Times New Roman" pitchFamily="18" charset="0"/>
                <a:cs typeface="Times New Roman" pitchFamily="18" charset="0"/>
              </a:rPr>
              <a:t>A teacher is assumed to be present during the learning process, when the comparison is made between the network’s computed output and the correct expected output, to determine the error. </a:t>
            </a:r>
          </a:p>
          <a:p>
            <a:pPr lvl="1" algn="just">
              <a:buClrTx/>
            </a:pPr>
            <a:r>
              <a:rPr lang="en-US" sz="2000" dirty="0" smtClean="0">
                <a:latin typeface="Times New Roman" pitchFamily="18" charset="0"/>
                <a:cs typeface="Times New Roman" pitchFamily="18" charset="0"/>
              </a:rPr>
              <a:t>The error can then used to change network parameters, which result in the improvement in performance. </a:t>
            </a:r>
          </a:p>
          <a:p>
            <a:pPr lvl="1" algn="just">
              <a:buClrTx/>
            </a:pPr>
            <a:endParaRPr lang="en-US" sz="2000" dirty="0" smtClean="0">
              <a:latin typeface="Times New Roman" pitchFamily="18" charset="0"/>
              <a:cs typeface="Times New Roman" pitchFamily="18" charset="0"/>
            </a:endParaRPr>
          </a:p>
          <a:p>
            <a:pPr lvl="1" algn="just">
              <a:buClrTx/>
            </a:pPr>
            <a:endParaRPr lang="en-US" sz="2000" dirty="0" smtClean="0">
              <a:latin typeface="Times New Roman" pitchFamily="18" charset="0"/>
              <a:cs typeface="Times New Roman" pitchFamily="18" charset="0"/>
            </a:endParaRPr>
          </a:p>
          <a:p>
            <a:pPr lvl="1" algn="just">
              <a:buClrTx/>
            </a:pPr>
            <a:endParaRPr lang="en-US" sz="2000" dirty="0" smtClean="0">
              <a:latin typeface="Times New Roman" pitchFamily="18" charset="0"/>
              <a:cs typeface="Times New Roman" pitchFamily="18" charset="0"/>
            </a:endParaRPr>
          </a:p>
          <a:p>
            <a:pPr lvl="1" algn="just">
              <a:buClrTx/>
            </a:pPr>
            <a:endParaRPr lang="en-US" sz="2000" dirty="0" smtClean="0">
              <a:latin typeface="Times New Roman" pitchFamily="18" charset="0"/>
              <a:cs typeface="Times New Roman" pitchFamily="18" charset="0"/>
            </a:endParaRPr>
          </a:p>
          <a:p>
            <a:pPr lvl="1" algn="just">
              <a:buClrTx/>
            </a:pPr>
            <a:endParaRPr lang="en-US" sz="2000" dirty="0" smtClean="0">
              <a:latin typeface="Times New Roman" pitchFamily="18" charset="0"/>
              <a:cs typeface="Times New Roman" pitchFamily="18" charset="0"/>
            </a:endParaRPr>
          </a:p>
          <a:p>
            <a:pPr lvl="1" algn="just">
              <a:buClrTx/>
            </a:pPr>
            <a:endParaRPr lang="en-US" sz="2000" dirty="0" smtClean="0">
              <a:latin typeface="Times New Roman" pitchFamily="18" charset="0"/>
              <a:cs typeface="Times New Roman" pitchFamily="18" charset="0"/>
            </a:endParaRPr>
          </a:p>
          <a:p>
            <a:pPr lvl="1" algn="just">
              <a:buClrTx/>
            </a:pPr>
            <a:endParaRPr lang="en-US" sz="2000" dirty="0" smtClean="0">
              <a:latin typeface="Times New Roman" pitchFamily="18" charset="0"/>
              <a:cs typeface="Times New Roman" pitchFamily="18" charset="0"/>
            </a:endParaRPr>
          </a:p>
          <a:p>
            <a:pPr lvl="1" algn="just">
              <a:buClrTx/>
            </a:pPr>
            <a:r>
              <a:rPr lang="en-US" sz="2000" dirty="0" smtClean="0">
                <a:latin typeface="Times New Roman" pitchFamily="18" charset="0"/>
                <a:cs typeface="Times New Roman" pitchFamily="18" charset="0"/>
              </a:rPr>
              <a:t>In this type of training , a supervisor training is required for error minimization</a:t>
            </a:r>
            <a:endParaRPr lang="en-US" sz="1600" dirty="0" smtClean="0">
              <a:latin typeface="Times New Roman" pitchFamily="18" charset="0"/>
              <a:cs typeface="Times New Roman" pitchFamily="18" charset="0"/>
            </a:endParaRPr>
          </a:p>
          <a:p>
            <a:pPr lvl="1"/>
            <a:endParaRPr lang="en-US" sz="2000" b="1" dirty="0">
              <a:latin typeface="Times New Roman" pitchFamily="18" charset="0"/>
              <a:cs typeface="Times New Roman" pitchFamily="18" charset="0"/>
            </a:endParaRPr>
          </a:p>
        </p:txBody>
      </p:sp>
      <p:grpSp>
        <p:nvGrpSpPr>
          <p:cNvPr id="31" name="Group 30"/>
          <p:cNvGrpSpPr/>
          <p:nvPr/>
        </p:nvGrpSpPr>
        <p:grpSpPr>
          <a:xfrm>
            <a:off x="1164951" y="3962400"/>
            <a:ext cx="7976390" cy="1941731"/>
            <a:chOff x="1164951" y="3962400"/>
            <a:chExt cx="7976390" cy="1941731"/>
          </a:xfrm>
        </p:grpSpPr>
        <p:sp>
          <p:nvSpPr>
            <p:cNvPr id="4" name="Rectangle 3"/>
            <p:cNvSpPr/>
            <p:nvPr/>
          </p:nvSpPr>
          <p:spPr>
            <a:xfrm>
              <a:off x="2514600" y="3962400"/>
              <a:ext cx="14478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Neural network W</a:t>
              </a:r>
              <a:endParaRPr lang="en-US" dirty="0"/>
            </a:p>
          </p:txBody>
        </p:sp>
        <p:sp>
          <p:nvSpPr>
            <p:cNvPr id="5" name="Rectangle 4"/>
            <p:cNvSpPr/>
            <p:nvPr/>
          </p:nvSpPr>
          <p:spPr>
            <a:xfrm>
              <a:off x="5486400" y="5029200"/>
              <a:ext cx="1447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Error Signal generator</a:t>
              </a:r>
              <a:endParaRPr lang="en-US" dirty="0"/>
            </a:p>
          </p:txBody>
        </p:sp>
        <p:cxnSp>
          <p:nvCxnSpPr>
            <p:cNvPr id="7" name="Straight Arrow Connector 6"/>
            <p:cNvCxnSpPr>
              <a:endCxn id="4" idx="1"/>
            </p:cNvCxnSpPr>
            <p:nvPr/>
          </p:nvCxnSpPr>
          <p:spPr>
            <a:xfrm flipV="1">
              <a:off x="1600200" y="4229100"/>
              <a:ext cx="914400" cy="381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a:stCxn id="4" idx="3"/>
            </p:cNvCxnSpPr>
            <p:nvPr/>
          </p:nvCxnSpPr>
          <p:spPr>
            <a:xfrm>
              <a:off x="3962400" y="4229100"/>
              <a:ext cx="3657600" cy="381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a:endCxn id="5" idx="0"/>
            </p:cNvCxnSpPr>
            <p:nvPr/>
          </p:nvCxnSpPr>
          <p:spPr>
            <a:xfrm rot="16200000" flipH="1">
              <a:off x="5810250" y="4629150"/>
              <a:ext cx="762000" cy="381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hape 19"/>
            <p:cNvCxnSpPr>
              <a:stCxn id="5" idx="1"/>
              <a:endCxn id="4" idx="2"/>
            </p:cNvCxnSpPr>
            <p:nvPr/>
          </p:nvCxnSpPr>
          <p:spPr>
            <a:xfrm rot="10800000">
              <a:off x="3238500" y="4495800"/>
              <a:ext cx="2247900" cy="838200"/>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24" name="Straight Arrow Connector 23"/>
            <p:cNvCxnSpPr>
              <a:endCxn id="5" idx="3"/>
            </p:cNvCxnSpPr>
            <p:nvPr/>
          </p:nvCxnSpPr>
          <p:spPr>
            <a:xfrm rot="10800000">
              <a:off x="6934200" y="5334000"/>
              <a:ext cx="838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1164951" y="4078069"/>
              <a:ext cx="1044849" cy="646331"/>
            </a:xfrm>
            <a:prstGeom prst="rect">
              <a:avLst/>
            </a:prstGeom>
            <a:noFill/>
          </p:spPr>
          <p:txBody>
            <a:bodyPr wrap="square" rtlCol="0">
              <a:spAutoFit/>
            </a:bodyPr>
            <a:lstStyle/>
            <a:p>
              <a:r>
                <a:rPr lang="en-US" dirty="0" smtClean="0"/>
                <a:t>   X</a:t>
              </a:r>
            </a:p>
            <a:p>
              <a:r>
                <a:rPr lang="en-US" dirty="0" smtClean="0"/>
                <a:t>(Input)</a:t>
              </a:r>
              <a:endParaRPr lang="en-US" dirty="0"/>
            </a:p>
          </p:txBody>
        </p:sp>
        <p:sp>
          <p:nvSpPr>
            <p:cNvPr id="28" name="TextBox 27"/>
            <p:cNvSpPr txBox="1"/>
            <p:nvPr/>
          </p:nvSpPr>
          <p:spPr>
            <a:xfrm>
              <a:off x="7315200" y="4191000"/>
              <a:ext cx="1826141" cy="369332"/>
            </a:xfrm>
            <a:prstGeom prst="rect">
              <a:avLst/>
            </a:prstGeom>
            <a:noFill/>
          </p:spPr>
          <p:txBody>
            <a:bodyPr wrap="none" rtlCol="0">
              <a:spAutoFit/>
            </a:bodyPr>
            <a:lstStyle/>
            <a:p>
              <a:r>
                <a:rPr lang="en-US" dirty="0" smtClean="0"/>
                <a:t>Y (Actual output)</a:t>
              </a:r>
              <a:endParaRPr lang="en-US" dirty="0"/>
            </a:p>
          </p:txBody>
        </p:sp>
        <p:sp>
          <p:nvSpPr>
            <p:cNvPr id="29" name="TextBox 28"/>
            <p:cNvSpPr txBox="1"/>
            <p:nvPr/>
          </p:nvSpPr>
          <p:spPr>
            <a:xfrm>
              <a:off x="7543800" y="5257800"/>
              <a:ext cx="1508939" cy="646331"/>
            </a:xfrm>
            <a:prstGeom prst="rect">
              <a:avLst/>
            </a:prstGeom>
            <a:noFill/>
          </p:spPr>
          <p:txBody>
            <a:bodyPr wrap="none" rtlCol="0">
              <a:spAutoFit/>
            </a:bodyPr>
            <a:lstStyle/>
            <a:p>
              <a:r>
                <a:rPr lang="en-US" dirty="0" smtClean="0"/>
                <a:t>D</a:t>
              </a:r>
            </a:p>
            <a:p>
              <a:r>
                <a:rPr lang="en-US" dirty="0" smtClean="0"/>
                <a:t>(Desired O/P)</a:t>
              </a:r>
              <a:endParaRPr lang="en-US" dirty="0"/>
            </a:p>
          </p:txBody>
        </p:sp>
        <p:sp>
          <p:nvSpPr>
            <p:cNvPr id="30" name="TextBox 29"/>
            <p:cNvSpPr txBox="1"/>
            <p:nvPr/>
          </p:nvSpPr>
          <p:spPr>
            <a:xfrm>
              <a:off x="2514600" y="4800600"/>
              <a:ext cx="792205" cy="923330"/>
            </a:xfrm>
            <a:prstGeom prst="rect">
              <a:avLst/>
            </a:prstGeom>
            <a:noFill/>
          </p:spPr>
          <p:txBody>
            <a:bodyPr wrap="none" rtlCol="0">
              <a:spAutoFit/>
            </a:bodyPr>
            <a:lstStyle/>
            <a:p>
              <a:r>
                <a:rPr lang="en-US" dirty="0" smtClean="0"/>
                <a:t>Error</a:t>
              </a:r>
            </a:p>
            <a:p>
              <a:r>
                <a:rPr lang="en-US" dirty="0" smtClean="0"/>
                <a:t>(D-Y)</a:t>
              </a:r>
            </a:p>
            <a:p>
              <a:r>
                <a:rPr lang="en-US" dirty="0" smtClean="0"/>
                <a:t>Signals</a:t>
              </a:r>
              <a:endParaRPr lang="en-US" dirty="0"/>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476488" cy="792162"/>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p>
        </p:txBody>
      </p:sp>
      <p:sp>
        <p:nvSpPr>
          <p:cNvPr id="3" name="Content Placeholder 2"/>
          <p:cNvSpPr>
            <a:spLocks noGrp="1"/>
          </p:cNvSpPr>
          <p:nvPr>
            <p:ph idx="1"/>
          </p:nvPr>
        </p:nvSpPr>
        <p:spPr>
          <a:xfrm>
            <a:off x="533400" y="990600"/>
            <a:ext cx="8382000" cy="4800600"/>
          </a:xfrm>
        </p:spPr>
        <p:txBody>
          <a:bodyPr>
            <a:normAutofit/>
          </a:bodyPr>
          <a:lstStyle/>
          <a:p>
            <a:pPr marL="539496" indent="-457200">
              <a:buClrTx/>
              <a:buFont typeface="+mj-lt"/>
              <a:buAutoNum type="arabicPeriod" startAt="2"/>
            </a:pPr>
            <a:r>
              <a:rPr lang="en-US" sz="2400" b="1" dirty="0" smtClean="0">
                <a:latin typeface="Times New Roman" pitchFamily="18" charset="0"/>
                <a:cs typeface="Times New Roman" pitchFamily="18" charset="0"/>
              </a:rPr>
              <a:t>Unsupervised Learning</a:t>
            </a:r>
          </a:p>
          <a:p>
            <a:pPr lvl="1" algn="just">
              <a:buClrTx/>
            </a:pPr>
            <a:r>
              <a:rPr lang="en-US" sz="2000" dirty="0" smtClean="0">
                <a:latin typeface="Times New Roman" pitchFamily="18" charset="0"/>
                <a:cs typeface="Times New Roman" pitchFamily="18" charset="0"/>
              </a:rPr>
              <a:t>In this learning method, the target output is not presented to the network. </a:t>
            </a:r>
          </a:p>
          <a:p>
            <a:pPr lvl="1" algn="just">
              <a:buClrTx/>
            </a:pPr>
            <a:r>
              <a:rPr lang="en-US" sz="2000" dirty="0" smtClean="0">
                <a:latin typeface="Times New Roman" pitchFamily="18" charset="0"/>
                <a:cs typeface="Times New Roman" pitchFamily="18" charset="0"/>
              </a:rPr>
              <a:t>It is as if there is no teacher to present the desire pattern and hence, the system learns of its own by discovering and adapting to feature in the input patterns. </a:t>
            </a:r>
          </a:p>
          <a:p>
            <a:pPr lvl="1" algn="just">
              <a:buClrTx/>
            </a:pPr>
            <a:r>
              <a:rPr lang="en-US" sz="2000" dirty="0" smtClean="0">
                <a:latin typeface="Times New Roman" pitchFamily="18" charset="0"/>
                <a:cs typeface="Times New Roman" pitchFamily="18" charset="0"/>
              </a:rPr>
              <a:t>The learning here is performed without the help of a teacher. </a:t>
            </a:r>
          </a:p>
          <a:p>
            <a:pPr lvl="1" algn="just">
              <a:buClrTx/>
              <a:buNone/>
            </a:pPr>
            <a:endParaRPr lang="en-US" sz="2000" dirty="0" smtClean="0">
              <a:latin typeface="Times New Roman" pitchFamily="18" charset="0"/>
              <a:cs typeface="Times New Roman" pitchFamily="18" charset="0"/>
            </a:endParaRPr>
          </a:p>
          <a:p>
            <a:pPr lvl="1"/>
            <a:endParaRPr lang="en-US" sz="2000" b="1" dirty="0" smtClean="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grpSp>
        <p:nvGrpSpPr>
          <p:cNvPr id="15" name="Group 14"/>
          <p:cNvGrpSpPr/>
          <p:nvPr/>
        </p:nvGrpSpPr>
        <p:grpSpPr>
          <a:xfrm>
            <a:off x="2057400" y="4114800"/>
            <a:ext cx="5432560" cy="914400"/>
            <a:chOff x="2590800" y="4191000"/>
            <a:chExt cx="5432560" cy="914400"/>
          </a:xfrm>
        </p:grpSpPr>
        <p:sp>
          <p:nvSpPr>
            <p:cNvPr id="4" name="Rectangle 3"/>
            <p:cNvSpPr/>
            <p:nvPr/>
          </p:nvSpPr>
          <p:spPr>
            <a:xfrm>
              <a:off x="4038600" y="4191000"/>
              <a:ext cx="190500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ANN</a:t>
              </a:r>
            </a:p>
            <a:p>
              <a:pPr algn="ctr"/>
              <a:r>
                <a:rPr lang="en-US" dirty="0" smtClean="0"/>
                <a:t>W</a:t>
              </a:r>
              <a:endParaRPr lang="en-US" dirty="0"/>
            </a:p>
          </p:txBody>
        </p:sp>
        <p:cxnSp>
          <p:nvCxnSpPr>
            <p:cNvPr id="6" name="Straight Arrow Connector 5"/>
            <p:cNvCxnSpPr>
              <a:endCxn id="4" idx="1"/>
            </p:cNvCxnSpPr>
            <p:nvPr/>
          </p:nvCxnSpPr>
          <p:spPr>
            <a:xfrm>
              <a:off x="2819400" y="4648200"/>
              <a:ext cx="1219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 name="Straight Arrow Connector 7"/>
            <p:cNvCxnSpPr>
              <a:stCxn id="4" idx="3"/>
            </p:cNvCxnSpPr>
            <p:nvPr/>
          </p:nvCxnSpPr>
          <p:spPr>
            <a:xfrm>
              <a:off x="5943600" y="4648200"/>
              <a:ext cx="1143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hape 9"/>
            <p:cNvCxnSpPr/>
            <p:nvPr/>
          </p:nvCxnSpPr>
          <p:spPr>
            <a:xfrm rot="10800000" flipV="1">
              <a:off x="4991100" y="4648200"/>
              <a:ext cx="1562100" cy="457200"/>
            </a:xfrm>
            <a:prstGeom prst="bentConnector4">
              <a:avLst>
                <a:gd name="adj1" fmla="val 10443"/>
                <a:gd name="adj2" fmla="val 203521"/>
              </a:avLst>
            </a:prstGeom>
            <a:ln>
              <a:tailEnd type="arrow"/>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2590800" y="4459069"/>
              <a:ext cx="816249" cy="646331"/>
            </a:xfrm>
            <a:prstGeom prst="rect">
              <a:avLst/>
            </a:prstGeom>
            <a:noFill/>
          </p:spPr>
          <p:txBody>
            <a:bodyPr wrap="none" rtlCol="0">
              <a:spAutoFit/>
            </a:bodyPr>
            <a:lstStyle/>
            <a:p>
              <a:r>
                <a:rPr lang="en-US" dirty="0" smtClean="0"/>
                <a:t>X</a:t>
              </a:r>
            </a:p>
            <a:p>
              <a:r>
                <a:rPr lang="en-US" dirty="0" smtClean="0"/>
                <a:t>(Input)</a:t>
              </a:r>
              <a:endParaRPr lang="en-US" dirty="0"/>
            </a:p>
          </p:txBody>
        </p:sp>
        <p:sp>
          <p:nvSpPr>
            <p:cNvPr id="14" name="TextBox 13"/>
            <p:cNvSpPr txBox="1"/>
            <p:nvPr/>
          </p:nvSpPr>
          <p:spPr>
            <a:xfrm>
              <a:off x="6400800" y="4459069"/>
              <a:ext cx="1622560" cy="646331"/>
            </a:xfrm>
            <a:prstGeom prst="rect">
              <a:avLst/>
            </a:prstGeom>
            <a:noFill/>
          </p:spPr>
          <p:txBody>
            <a:bodyPr wrap="none" rtlCol="0">
              <a:spAutoFit/>
            </a:bodyPr>
            <a:lstStyle/>
            <a:p>
              <a:r>
                <a:rPr lang="en-US" dirty="0" smtClean="0"/>
                <a:t>          Y</a:t>
              </a:r>
            </a:p>
            <a:p>
              <a:r>
                <a:rPr lang="en-US" dirty="0" smtClean="0"/>
                <a:t>(Actual output)</a:t>
              </a:r>
              <a:endParaRPr lang="en-US" dirty="0"/>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552688" cy="838200"/>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p>
        </p:txBody>
      </p:sp>
      <p:sp>
        <p:nvSpPr>
          <p:cNvPr id="3" name="Content Placeholder 2"/>
          <p:cNvSpPr>
            <a:spLocks noGrp="1"/>
          </p:cNvSpPr>
          <p:nvPr>
            <p:ph idx="1"/>
          </p:nvPr>
        </p:nvSpPr>
        <p:spPr>
          <a:xfrm>
            <a:off x="655320" y="914400"/>
            <a:ext cx="8260080" cy="4800600"/>
          </a:xfrm>
        </p:spPr>
        <p:txBody>
          <a:bodyPr>
            <a:normAutofit/>
          </a:bodyPr>
          <a:lstStyle/>
          <a:p>
            <a:pPr marL="539496" indent="-457200" algn="just">
              <a:buClrTx/>
              <a:buFont typeface="+mj-lt"/>
              <a:buAutoNum type="arabicPeriod" startAt="3"/>
            </a:pPr>
            <a:r>
              <a:rPr lang="en-US" sz="2400" b="1" dirty="0" smtClean="0">
                <a:latin typeface="Times New Roman" pitchFamily="18" charset="0"/>
                <a:cs typeface="Times New Roman" pitchFamily="18" charset="0"/>
              </a:rPr>
              <a:t>Reinforcement Learning</a:t>
            </a:r>
          </a:p>
          <a:p>
            <a:pPr lvl="1" algn="just">
              <a:buClrTx/>
              <a:buFont typeface="Courier New" pitchFamily="49" charset="0"/>
              <a:buChar char="o"/>
            </a:pPr>
            <a:r>
              <a:rPr lang="en-US" sz="2000" dirty="0" smtClean="0">
                <a:latin typeface="Times New Roman" pitchFamily="18" charset="0"/>
                <a:cs typeface="Times New Roman" pitchFamily="18" charset="0"/>
              </a:rPr>
              <a:t>This learning process is similar to supervised learning. In the case of supervised learning, the correct target output value are known for each input pattern. But, in some case, less information might be available.</a:t>
            </a:r>
          </a:p>
          <a:p>
            <a:pPr lvl="1" algn="just">
              <a:buClrTx/>
              <a:buFont typeface="Courier New" pitchFamily="49" charset="0"/>
              <a:buChar char="o"/>
            </a:pPr>
            <a:r>
              <a:rPr lang="en-US" sz="2000" dirty="0" smtClean="0">
                <a:latin typeface="Times New Roman" pitchFamily="18" charset="0"/>
                <a:cs typeface="Times New Roman" pitchFamily="18" charset="0"/>
              </a:rPr>
              <a:t>In this learning method only critic information is available, not the exact information. The learning based on this critic information is called reinforcement learning and the feedback sent is called reinforcement signal.  </a:t>
            </a:r>
          </a:p>
          <a:p>
            <a:pPr lvl="1" algn="just">
              <a:buClrTx/>
              <a:buNone/>
            </a:pPr>
            <a:endParaRPr lang="en-US" sz="2000" dirty="0" smtClean="0">
              <a:latin typeface="Times New Roman" pitchFamily="18" charset="0"/>
              <a:cs typeface="Times New Roman" pitchFamily="18" charset="0"/>
            </a:endParaRPr>
          </a:p>
          <a:p>
            <a:pPr algn="just">
              <a:buClrTx/>
              <a:buNone/>
            </a:pPr>
            <a:endParaRPr lang="en-US" sz="1200" b="1" dirty="0" smtClean="0">
              <a:latin typeface="Times New Roman" pitchFamily="18" charset="0"/>
              <a:cs typeface="Times New Roman" pitchFamily="18" charset="0"/>
            </a:endParaRPr>
          </a:p>
          <a:p>
            <a:pPr lvl="1" algn="just">
              <a:buClrTx/>
              <a:buFont typeface="Wingdings 2" pitchFamily="18" charset="2"/>
              <a:buChar char=""/>
            </a:pPr>
            <a:endParaRPr lang="en-US" sz="2000" b="1" dirty="0" smtClean="0">
              <a:latin typeface="Times New Roman" pitchFamily="18" charset="0"/>
              <a:cs typeface="Times New Roman" pitchFamily="18" charset="0"/>
            </a:endParaRPr>
          </a:p>
          <a:p>
            <a:pPr lvl="1" algn="just">
              <a:buClrTx/>
              <a:buFont typeface="Wingdings 2" pitchFamily="18" charset="2"/>
              <a:buChar char=""/>
            </a:pPr>
            <a:endParaRPr lang="en-US" sz="2000" b="1" dirty="0">
              <a:latin typeface="Times New Roman" pitchFamily="18" charset="0"/>
              <a:cs typeface="Times New Roman" pitchFamily="18" charset="0"/>
            </a:endParaRPr>
          </a:p>
        </p:txBody>
      </p:sp>
      <p:grpSp>
        <p:nvGrpSpPr>
          <p:cNvPr id="4" name="Group 3"/>
          <p:cNvGrpSpPr/>
          <p:nvPr/>
        </p:nvGrpSpPr>
        <p:grpSpPr>
          <a:xfrm>
            <a:off x="1164951" y="3962400"/>
            <a:ext cx="7646249" cy="2142530"/>
            <a:chOff x="1164951" y="3962400"/>
            <a:chExt cx="7646249" cy="2142530"/>
          </a:xfrm>
        </p:grpSpPr>
        <p:sp>
          <p:nvSpPr>
            <p:cNvPr id="5" name="Rectangle 4"/>
            <p:cNvSpPr/>
            <p:nvPr/>
          </p:nvSpPr>
          <p:spPr>
            <a:xfrm>
              <a:off x="2514600" y="3962400"/>
              <a:ext cx="14478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smtClean="0"/>
                <a:t>Neural network W</a:t>
              </a:r>
              <a:endParaRPr lang="en-US" dirty="0"/>
            </a:p>
          </p:txBody>
        </p:sp>
        <p:sp>
          <p:nvSpPr>
            <p:cNvPr id="6" name="Rectangle 5"/>
            <p:cNvSpPr/>
            <p:nvPr/>
          </p:nvSpPr>
          <p:spPr>
            <a:xfrm>
              <a:off x="5486400" y="5029200"/>
              <a:ext cx="14478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Error Signal generator</a:t>
              </a:r>
              <a:endParaRPr lang="en-US" dirty="0"/>
            </a:p>
          </p:txBody>
        </p:sp>
        <p:cxnSp>
          <p:nvCxnSpPr>
            <p:cNvPr id="7" name="Straight Arrow Connector 6"/>
            <p:cNvCxnSpPr>
              <a:endCxn id="5" idx="1"/>
            </p:cNvCxnSpPr>
            <p:nvPr/>
          </p:nvCxnSpPr>
          <p:spPr>
            <a:xfrm flipV="1">
              <a:off x="1600200" y="4229100"/>
              <a:ext cx="914400" cy="381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 name="Straight Arrow Connector 7"/>
            <p:cNvCxnSpPr>
              <a:stCxn id="5" idx="3"/>
            </p:cNvCxnSpPr>
            <p:nvPr/>
          </p:nvCxnSpPr>
          <p:spPr>
            <a:xfrm>
              <a:off x="3962400" y="4229100"/>
              <a:ext cx="3657600" cy="381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 name="Straight Arrow Connector 8"/>
            <p:cNvCxnSpPr>
              <a:endCxn id="6" idx="0"/>
            </p:cNvCxnSpPr>
            <p:nvPr/>
          </p:nvCxnSpPr>
          <p:spPr>
            <a:xfrm rot="16200000" flipH="1">
              <a:off x="5810250" y="4629150"/>
              <a:ext cx="762000" cy="381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hape 9"/>
            <p:cNvCxnSpPr>
              <a:stCxn id="6" idx="1"/>
              <a:endCxn id="5" idx="2"/>
            </p:cNvCxnSpPr>
            <p:nvPr/>
          </p:nvCxnSpPr>
          <p:spPr>
            <a:xfrm rot="10800000">
              <a:off x="3238500" y="4495800"/>
              <a:ext cx="2247900" cy="838200"/>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11" name="Straight Arrow Connector 10"/>
            <p:cNvCxnSpPr>
              <a:endCxn id="6" idx="3"/>
            </p:cNvCxnSpPr>
            <p:nvPr/>
          </p:nvCxnSpPr>
          <p:spPr>
            <a:xfrm rot="10800000">
              <a:off x="6934200" y="5334000"/>
              <a:ext cx="838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164951" y="4078069"/>
              <a:ext cx="1044849" cy="646331"/>
            </a:xfrm>
            <a:prstGeom prst="rect">
              <a:avLst/>
            </a:prstGeom>
            <a:noFill/>
          </p:spPr>
          <p:txBody>
            <a:bodyPr wrap="square" rtlCol="0">
              <a:spAutoFit/>
            </a:bodyPr>
            <a:lstStyle/>
            <a:p>
              <a:r>
                <a:rPr lang="en-US" dirty="0" smtClean="0"/>
                <a:t>   X</a:t>
              </a:r>
            </a:p>
            <a:p>
              <a:r>
                <a:rPr lang="en-US" dirty="0" smtClean="0"/>
                <a:t>(Input)</a:t>
              </a:r>
              <a:endParaRPr lang="en-US" dirty="0"/>
            </a:p>
          </p:txBody>
        </p:sp>
        <p:sp>
          <p:nvSpPr>
            <p:cNvPr id="13" name="TextBox 12"/>
            <p:cNvSpPr txBox="1"/>
            <p:nvPr/>
          </p:nvSpPr>
          <p:spPr>
            <a:xfrm>
              <a:off x="6934200" y="4078069"/>
              <a:ext cx="1622560" cy="646331"/>
            </a:xfrm>
            <a:prstGeom prst="rect">
              <a:avLst/>
            </a:prstGeom>
            <a:noFill/>
          </p:spPr>
          <p:txBody>
            <a:bodyPr wrap="none" rtlCol="0">
              <a:spAutoFit/>
            </a:bodyPr>
            <a:lstStyle/>
            <a:p>
              <a:r>
                <a:rPr lang="en-US" dirty="0" smtClean="0"/>
                <a:t>          Y </a:t>
              </a:r>
            </a:p>
            <a:p>
              <a:r>
                <a:rPr lang="en-US" dirty="0" smtClean="0"/>
                <a:t>(Actual output)</a:t>
              </a:r>
              <a:endParaRPr lang="en-US" dirty="0"/>
            </a:p>
          </p:txBody>
        </p:sp>
        <p:sp>
          <p:nvSpPr>
            <p:cNvPr id="14" name="TextBox 13"/>
            <p:cNvSpPr txBox="1"/>
            <p:nvPr/>
          </p:nvSpPr>
          <p:spPr>
            <a:xfrm>
              <a:off x="7162800" y="5181600"/>
              <a:ext cx="1648400" cy="923330"/>
            </a:xfrm>
            <a:prstGeom prst="rect">
              <a:avLst/>
            </a:prstGeom>
            <a:noFill/>
          </p:spPr>
          <p:txBody>
            <a:bodyPr wrap="none" rtlCol="0">
              <a:spAutoFit/>
            </a:bodyPr>
            <a:lstStyle/>
            <a:p>
              <a:r>
                <a:rPr lang="en-US" dirty="0" smtClean="0"/>
                <a:t>         R</a:t>
              </a:r>
            </a:p>
            <a:p>
              <a:r>
                <a:rPr lang="en-US" dirty="0" smtClean="0"/>
                <a:t>(reinforcement </a:t>
              </a:r>
            </a:p>
            <a:p>
              <a:r>
                <a:rPr lang="en-US" dirty="0" smtClean="0"/>
                <a:t>signal)</a:t>
              </a:r>
              <a:endParaRPr lang="en-US" dirty="0"/>
            </a:p>
          </p:txBody>
        </p:sp>
        <p:sp>
          <p:nvSpPr>
            <p:cNvPr id="15" name="TextBox 14"/>
            <p:cNvSpPr txBox="1"/>
            <p:nvPr/>
          </p:nvSpPr>
          <p:spPr>
            <a:xfrm>
              <a:off x="2514600" y="4800600"/>
              <a:ext cx="792205" cy="646331"/>
            </a:xfrm>
            <a:prstGeom prst="rect">
              <a:avLst/>
            </a:prstGeom>
            <a:noFill/>
          </p:spPr>
          <p:txBody>
            <a:bodyPr wrap="none" rtlCol="0">
              <a:spAutoFit/>
            </a:bodyPr>
            <a:lstStyle/>
            <a:p>
              <a:r>
                <a:rPr lang="en-US" dirty="0" smtClean="0"/>
                <a:t>Error</a:t>
              </a:r>
            </a:p>
            <a:p>
              <a:r>
                <a:rPr lang="en-US" dirty="0" smtClean="0"/>
                <a:t>Signals</a:t>
              </a:r>
              <a:endParaRPr lang="en-US" dirty="0"/>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552688" cy="762000"/>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p>
        </p:txBody>
      </p:sp>
      <p:sp>
        <p:nvSpPr>
          <p:cNvPr id="3" name="Content Placeholder 2"/>
          <p:cNvSpPr>
            <a:spLocks noGrp="1"/>
          </p:cNvSpPr>
          <p:nvPr>
            <p:ph idx="1"/>
          </p:nvPr>
        </p:nvSpPr>
        <p:spPr>
          <a:xfrm>
            <a:off x="304800" y="762000"/>
            <a:ext cx="8628888" cy="5562600"/>
          </a:xfrm>
        </p:spPr>
        <p:txBody>
          <a:bodyPr>
            <a:noAutofit/>
          </a:bodyPr>
          <a:lstStyle/>
          <a:p>
            <a:pPr marL="539496" indent="-457200">
              <a:buFont typeface="+mj-lt"/>
              <a:buAutoNum type="alphaUcPeriod" startAt="3"/>
            </a:pPr>
            <a:r>
              <a:rPr lang="en-US" sz="2000" b="1" dirty="0" smtClean="0">
                <a:latin typeface="Times New Roman" pitchFamily="18" charset="0"/>
                <a:cs typeface="Times New Roman" pitchFamily="18" charset="0"/>
              </a:rPr>
              <a:t>Activation Functions</a:t>
            </a:r>
          </a:p>
          <a:p>
            <a:pPr marL="813816" lvl="1" indent="-457200"/>
            <a:r>
              <a:rPr lang="en-US" sz="2000" dirty="0" smtClean="0">
                <a:latin typeface="Times New Roman" pitchFamily="18" charset="0"/>
                <a:cs typeface="Times New Roman" pitchFamily="18" charset="0"/>
              </a:rPr>
              <a:t>The activation function is applied over the net input to calculate the output of an ANN.</a:t>
            </a:r>
          </a:p>
          <a:p>
            <a:pPr marL="813816" lvl="1" indent="-457200"/>
            <a:r>
              <a:rPr lang="en-US" sz="2000" dirty="0" smtClean="0">
                <a:latin typeface="Times New Roman" pitchFamily="18" charset="0"/>
                <a:cs typeface="Times New Roman" pitchFamily="18" charset="0"/>
              </a:rPr>
              <a:t>There are several activation functions . Let us discuss a few in this section:</a:t>
            </a:r>
          </a:p>
          <a:p>
            <a:pPr marL="870966" lvl="1" indent="-514350">
              <a:buClr>
                <a:schemeClr val="tx1"/>
              </a:buClr>
              <a:buFont typeface="+mj-lt"/>
              <a:buAutoNum type="romanLcPeriod"/>
            </a:pPr>
            <a:r>
              <a:rPr lang="en-US" sz="2000" b="1" i="1" dirty="0" smtClean="0">
                <a:latin typeface="Times New Roman" pitchFamily="18" charset="0"/>
                <a:cs typeface="Times New Roman" pitchFamily="18" charset="0"/>
              </a:rPr>
              <a:t>Identity Function:</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It is linear function can be defined as                              </a:t>
            </a:r>
          </a:p>
          <a:p>
            <a:pPr marL="870966" lvl="1" indent="-514350">
              <a:buClr>
                <a:schemeClr val="tx1"/>
              </a:buClr>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f</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 </a:t>
            </a:r>
            <a:r>
              <a:rPr lang="en-US" sz="2000" i="1" dirty="0" smtClean="0">
                <a:latin typeface="Times New Roman" pitchFamily="18" charset="0"/>
                <a:cs typeface="Times New Roman" pitchFamily="18" charset="0"/>
              </a:rPr>
              <a:t>x </a:t>
            </a:r>
            <a:r>
              <a:rPr lang="en-US" sz="2000" dirty="0" smtClean="0">
                <a:latin typeface="Times New Roman" pitchFamily="18" charset="0"/>
                <a:cs typeface="Times New Roman" pitchFamily="18" charset="0"/>
              </a:rPr>
              <a:t>for all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a:t>
            </a:r>
          </a:p>
          <a:p>
            <a:pPr marL="870966" lvl="1" indent="-514350">
              <a:buClr>
                <a:schemeClr val="tx1"/>
              </a:buClr>
              <a:buNone/>
            </a:pPr>
            <a:r>
              <a:rPr lang="en-US" sz="2000" dirty="0" smtClean="0">
                <a:latin typeface="Times New Roman" pitchFamily="18" charset="0"/>
                <a:cs typeface="Times New Roman" pitchFamily="18" charset="0"/>
              </a:rPr>
              <a:t>           The output here remains the same as input. The input layer uses the identity activation function. </a:t>
            </a:r>
          </a:p>
          <a:p>
            <a:pPr marL="870966" lvl="1" indent="-514350">
              <a:buClr>
                <a:schemeClr val="tx1"/>
              </a:buClr>
              <a:buFont typeface="+mj-lt"/>
              <a:buAutoNum type="romanLcPeriod" startAt="2"/>
            </a:pPr>
            <a:r>
              <a:rPr lang="en-US" sz="2000" b="1" i="1" dirty="0" smtClean="0">
                <a:latin typeface="Times New Roman" pitchFamily="18" charset="0"/>
                <a:cs typeface="Times New Roman" pitchFamily="18" charset="0"/>
              </a:rPr>
              <a:t>Binary step function:</a:t>
            </a:r>
            <a:r>
              <a:rPr lang="en-US" sz="2000" dirty="0" smtClean="0">
                <a:latin typeface="Times New Roman" pitchFamily="18" charset="0"/>
                <a:cs typeface="Times New Roman" pitchFamily="18" charset="0"/>
              </a:rPr>
              <a:t>  This function can be defined as</a:t>
            </a:r>
          </a:p>
          <a:p>
            <a:pPr marL="870966" lvl="1" indent="-514350">
              <a:buClr>
                <a:schemeClr val="tx1"/>
              </a:buClr>
              <a:buNone/>
            </a:pPr>
            <a:r>
              <a:rPr lang="en-US" sz="2000" dirty="0" smtClean="0">
                <a:latin typeface="Times New Roman" pitchFamily="18" charset="0"/>
                <a:cs typeface="Times New Roman" pitchFamily="18" charset="0"/>
              </a:rPr>
              <a:t>                         </a:t>
            </a:r>
          </a:p>
          <a:p>
            <a:pPr marL="870966" lvl="1" indent="-514350">
              <a:buClr>
                <a:schemeClr val="tx1"/>
              </a:buClr>
              <a:buNone/>
            </a:pPr>
            <a:endParaRPr lang="en-US" sz="2000" dirty="0" smtClean="0">
              <a:latin typeface="Times New Roman" pitchFamily="18" charset="0"/>
              <a:cs typeface="Times New Roman" pitchFamily="18" charset="0"/>
            </a:endParaRPr>
          </a:p>
          <a:p>
            <a:pPr marL="870966" lvl="1" indent="-514350">
              <a:buClr>
                <a:schemeClr val="tx1"/>
              </a:buClr>
              <a:buNone/>
            </a:pPr>
            <a:endParaRPr lang="en-US" sz="2000" dirty="0" smtClean="0">
              <a:latin typeface="Times New Roman" pitchFamily="18" charset="0"/>
              <a:cs typeface="Times New Roman" pitchFamily="18" charset="0"/>
            </a:endParaRPr>
          </a:p>
          <a:p>
            <a:pPr marL="870966" lvl="1" indent="-514350">
              <a:buClr>
                <a:schemeClr val="tx1"/>
              </a:buClr>
              <a:buNone/>
            </a:pPr>
            <a:r>
              <a:rPr lang="en-US" sz="2000" dirty="0" smtClean="0">
                <a:latin typeface="Times New Roman" pitchFamily="18" charset="0"/>
                <a:cs typeface="Times New Roman" pitchFamily="18" charset="0"/>
              </a:rPr>
              <a:t>  </a:t>
            </a:r>
          </a:p>
          <a:p>
            <a:pPr marL="566738" lvl="1" indent="-211138" algn="just">
              <a:buClr>
                <a:schemeClr val="tx1"/>
              </a:buClr>
              <a:buNone/>
            </a:pPr>
            <a:r>
              <a:rPr lang="en-US" sz="2000" dirty="0" smtClean="0">
                <a:latin typeface="Times New Roman" pitchFamily="18" charset="0"/>
                <a:cs typeface="Times New Roman" pitchFamily="18" charset="0"/>
              </a:rPr>
              <a:t>  Where theta represent the threshold value. This function is most widely used in single layer net to convert the net input to an output that is binary (0 or 1).</a:t>
            </a:r>
          </a:p>
        </p:txBody>
      </p:sp>
      <p:graphicFrame>
        <p:nvGraphicFramePr>
          <p:cNvPr id="5" name="Object 4"/>
          <p:cNvGraphicFramePr>
            <a:graphicFrameLocks noChangeAspect="1"/>
          </p:cNvGraphicFramePr>
          <p:nvPr/>
        </p:nvGraphicFramePr>
        <p:xfrm>
          <a:off x="2133600" y="4267200"/>
          <a:ext cx="4800600" cy="1143000"/>
        </p:xfrm>
        <a:graphic>
          <a:graphicData uri="http://schemas.openxmlformats.org/presentationml/2006/ole">
            <p:oleObj spid="_x0000_s1027" name="Equation" r:id="rId3" imgW="1117440" imgH="457200" progId="Equation.3">
              <p:embed/>
            </p:oleObj>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28888" cy="792162"/>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p>
        </p:txBody>
      </p:sp>
      <p:sp>
        <p:nvSpPr>
          <p:cNvPr id="3" name="Content Placeholder 2"/>
          <p:cNvSpPr>
            <a:spLocks noGrp="1"/>
          </p:cNvSpPr>
          <p:nvPr>
            <p:ph idx="1"/>
          </p:nvPr>
        </p:nvSpPr>
        <p:spPr>
          <a:xfrm>
            <a:off x="457200" y="762000"/>
            <a:ext cx="8476488" cy="5486400"/>
          </a:xfrm>
        </p:spPr>
        <p:txBody>
          <a:bodyPr>
            <a:normAutofit/>
          </a:bodyPr>
          <a:lstStyle/>
          <a:p>
            <a:pPr marL="653796" indent="-571500" algn="just">
              <a:buFont typeface="+mj-lt"/>
              <a:buAutoNum type="romanLcPeriod" startAt="3"/>
            </a:pPr>
            <a:r>
              <a:rPr lang="en-US" sz="2400" b="1" i="1" dirty="0" smtClean="0">
                <a:latin typeface="Times New Roman" pitchFamily="18" charset="0"/>
                <a:cs typeface="Times New Roman" pitchFamily="18" charset="0"/>
              </a:rPr>
              <a:t>Bipolar step function:</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This function is also used in single layer nets to convert the net input to an output that is bipolar (+1 or -1).</a:t>
            </a:r>
          </a:p>
          <a:p>
            <a:pPr marL="653796" indent="-571500" algn="just">
              <a:buFont typeface="+mj-lt"/>
              <a:buAutoNum type="romanLcPeriod" startAt="3"/>
            </a:pPr>
            <a:r>
              <a:rPr lang="en-US" sz="2400" b="1" i="1" dirty="0" err="1" smtClean="0">
                <a:latin typeface="Times New Roman" pitchFamily="18" charset="0"/>
                <a:cs typeface="Times New Roman" pitchFamily="18" charset="0"/>
              </a:rPr>
              <a:t>Sigmoidal</a:t>
            </a:r>
            <a:r>
              <a:rPr lang="en-US" sz="2400" b="1" i="1" dirty="0" smtClean="0">
                <a:latin typeface="Times New Roman" pitchFamily="18" charset="0"/>
                <a:cs typeface="Times New Roman" pitchFamily="18" charset="0"/>
              </a:rPr>
              <a:t> Functions:</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This function is mostly used in back – propagation nets because of the relationship between the value of the function at a point and value of the derivative at that point which reduces the computational burden during training. </a:t>
            </a:r>
            <a:r>
              <a:rPr lang="en-US" sz="2400" dirty="0" err="1" smtClean="0">
                <a:latin typeface="Times New Roman" pitchFamily="18" charset="0"/>
                <a:cs typeface="Times New Roman" pitchFamily="18" charset="0"/>
              </a:rPr>
              <a:t>Sigmoidal</a:t>
            </a:r>
            <a:r>
              <a:rPr lang="en-US" sz="2400" dirty="0" smtClean="0">
                <a:latin typeface="Times New Roman" pitchFamily="18" charset="0"/>
                <a:cs typeface="Times New Roman" pitchFamily="18" charset="0"/>
              </a:rPr>
              <a:t> function are two types:</a:t>
            </a:r>
          </a:p>
          <a:p>
            <a:pPr marL="928116" lvl="1" indent="-571500" algn="just">
              <a:buFont typeface="Wingdings" pitchFamily="2" charset="2"/>
              <a:buChar char="ü"/>
            </a:pPr>
            <a:r>
              <a:rPr lang="en-US" sz="2000" b="1" i="1" dirty="0" smtClean="0">
                <a:latin typeface="Times New Roman" pitchFamily="18" charset="0"/>
                <a:cs typeface="Times New Roman" pitchFamily="18" charset="0"/>
              </a:rPr>
              <a:t>Binary sigmoid function: </a:t>
            </a:r>
            <a:r>
              <a:rPr lang="en-US" sz="2000" dirty="0" smtClean="0">
                <a:latin typeface="Times New Roman" pitchFamily="18" charset="0"/>
                <a:cs typeface="Times New Roman" pitchFamily="18" charset="0"/>
              </a:rPr>
              <a:t>It is also termed as logistic sigmoid function or unipolar sigmoid function. </a:t>
            </a:r>
            <a:endParaRPr lang="en-US" sz="2000" i="1" dirty="0" smtClean="0">
              <a:latin typeface="Times New Roman" pitchFamily="18" charset="0"/>
              <a:cs typeface="Times New Roman" pitchFamily="18" charset="0"/>
            </a:endParaRPr>
          </a:p>
          <a:p>
            <a:pPr marL="928116" lvl="1" indent="-571500" algn="just">
              <a:buFont typeface="Wingdings" pitchFamily="2" charset="2"/>
              <a:buChar char="ü"/>
            </a:pPr>
            <a:r>
              <a:rPr lang="en-US" sz="2000" b="1" i="1" dirty="0" smtClean="0">
                <a:latin typeface="Times New Roman" pitchFamily="18" charset="0"/>
                <a:cs typeface="Times New Roman" pitchFamily="18" charset="0"/>
              </a:rPr>
              <a:t>Bipolar sigmoid function: </a:t>
            </a:r>
            <a:r>
              <a:rPr lang="en-US" sz="2000" dirty="0" smtClean="0">
                <a:latin typeface="Times New Roman" pitchFamily="18" charset="0"/>
                <a:cs typeface="Times New Roman" pitchFamily="18" charset="0"/>
              </a:rPr>
              <a:t>The bipolar </a:t>
            </a:r>
            <a:r>
              <a:rPr lang="en-US" sz="2000" dirty="0" err="1" smtClean="0">
                <a:latin typeface="Times New Roman" pitchFamily="18" charset="0"/>
                <a:cs typeface="Times New Roman" pitchFamily="18" charset="0"/>
              </a:rPr>
              <a:t>sigmoidal</a:t>
            </a:r>
            <a:r>
              <a:rPr lang="en-US" sz="2000" dirty="0" smtClean="0">
                <a:latin typeface="Times New Roman" pitchFamily="18" charset="0"/>
                <a:cs typeface="Times New Roman" pitchFamily="18" charset="0"/>
              </a:rPr>
              <a:t> function is closely related to hyperbolic tangent function.</a:t>
            </a:r>
          </a:p>
          <a:p>
            <a:pPr marL="653796" indent="-571500" algn="just">
              <a:buFont typeface="+mj-lt"/>
              <a:buAutoNum type="romanLcPeriod" startAt="5"/>
            </a:pPr>
            <a:r>
              <a:rPr lang="en-US" sz="2400" b="1" i="1" dirty="0" smtClean="0">
                <a:latin typeface="Times New Roman" pitchFamily="18" charset="0"/>
                <a:cs typeface="Times New Roman" pitchFamily="18" charset="0"/>
              </a:rPr>
              <a:t>Ramp function: </a:t>
            </a:r>
          </a:p>
          <a:p>
            <a:pPr marL="1175004" lvl="2" indent="-571500" algn="just">
              <a:buNone/>
            </a:pPr>
            <a:endParaRPr lang="en-US" sz="1600"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324088" cy="792162"/>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Important Terminologies of ANNs</a:t>
            </a:r>
            <a:endParaRPr lang="en-US" sz="36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04800" y="990600"/>
            <a:ext cx="8686800" cy="5257800"/>
          </a:xfrm>
        </p:spPr>
        <p:txBody>
          <a:bodyPr/>
          <a:lstStyle/>
          <a:p>
            <a:pPr marL="596646" indent="-514350" algn="just">
              <a:buClr>
                <a:schemeClr val="tx1"/>
              </a:buClr>
              <a:buFont typeface="+mj-lt"/>
              <a:buAutoNum type="arabicPeriod"/>
            </a:pPr>
            <a:r>
              <a:rPr lang="en-US" sz="2400" b="1" dirty="0" smtClean="0">
                <a:latin typeface="Times New Roman" pitchFamily="18" charset="0"/>
                <a:cs typeface="Times New Roman" pitchFamily="18" charset="0"/>
              </a:rPr>
              <a:t>Weights: </a:t>
            </a:r>
          </a:p>
          <a:p>
            <a:pPr marL="870966" lvl="1" indent="-514350" algn="just">
              <a:buClr>
                <a:schemeClr val="tx1"/>
              </a:buClr>
              <a:buFont typeface="+mj-lt"/>
              <a:buAutoNum type="romanLcPeriod"/>
            </a:pPr>
            <a:r>
              <a:rPr lang="en-US" sz="2000" dirty="0" smtClean="0">
                <a:latin typeface="Times New Roman" pitchFamily="18" charset="0"/>
                <a:cs typeface="Times New Roman" pitchFamily="18" charset="0"/>
              </a:rPr>
              <a:t>In the architecture of an ANN, each  neuron is connected to the other neurons by means of directed communication links, each communication link is associated with weights. </a:t>
            </a:r>
          </a:p>
          <a:p>
            <a:pPr marL="870966" lvl="1" indent="-514350" algn="just">
              <a:buClr>
                <a:schemeClr val="tx1"/>
              </a:buClr>
              <a:buFont typeface="+mj-lt"/>
              <a:buAutoNum type="romanLcPeriod"/>
            </a:pPr>
            <a:r>
              <a:rPr lang="en-US" sz="2000" dirty="0" smtClean="0">
                <a:latin typeface="Times New Roman" pitchFamily="18" charset="0"/>
                <a:cs typeface="Times New Roman" pitchFamily="18" charset="0"/>
              </a:rPr>
              <a:t>The weights contain the information about the input signal. This information is used by net to solve a problem.</a:t>
            </a:r>
          </a:p>
          <a:p>
            <a:pPr marL="870966" lvl="1" indent="-514350" algn="just">
              <a:buClr>
                <a:schemeClr val="tx1"/>
              </a:buClr>
              <a:buFont typeface="+mj-lt"/>
              <a:buAutoNum type="romanLcPeriod"/>
            </a:pPr>
            <a:r>
              <a:rPr lang="en-US" sz="2000" dirty="0" smtClean="0">
                <a:latin typeface="Times New Roman" pitchFamily="18" charset="0"/>
                <a:cs typeface="Times New Roman" pitchFamily="18" charset="0"/>
              </a:rPr>
              <a:t>The weight matrix is also called the connection matrix. </a:t>
            </a:r>
          </a:p>
          <a:p>
            <a:pPr marL="596646" indent="-514350" algn="just">
              <a:buClr>
                <a:schemeClr val="tx1"/>
              </a:buClr>
              <a:buFont typeface="+mj-lt"/>
              <a:buAutoNum type="arabicPeriod"/>
            </a:pPr>
            <a:r>
              <a:rPr lang="en-US" sz="2400" b="1" dirty="0" smtClean="0">
                <a:latin typeface="Times New Roman" pitchFamily="18" charset="0"/>
                <a:cs typeface="Times New Roman" pitchFamily="18" charset="0"/>
              </a:rPr>
              <a:t>Bias:</a:t>
            </a:r>
            <a:r>
              <a:rPr lang="en-US" sz="2400" dirty="0" smtClean="0">
                <a:latin typeface="Times New Roman" pitchFamily="18" charset="0"/>
                <a:cs typeface="Times New Roman" pitchFamily="18" charset="0"/>
              </a:rPr>
              <a:t> </a:t>
            </a:r>
          </a:p>
          <a:p>
            <a:pPr marL="870966" lvl="1" indent="-514350" algn="just">
              <a:buClr>
                <a:schemeClr val="tx1"/>
              </a:buClr>
              <a:buFont typeface="+mj-lt"/>
              <a:buAutoNum type="romanLcPeriod"/>
            </a:pPr>
            <a:r>
              <a:rPr lang="en-US" sz="2000" dirty="0" smtClean="0">
                <a:latin typeface="Times New Roman" pitchFamily="18" charset="0"/>
                <a:cs typeface="Times New Roman" pitchFamily="18" charset="0"/>
              </a:rPr>
              <a:t>The bias include in the network has its impact in calculating the net input.  </a:t>
            </a:r>
          </a:p>
          <a:p>
            <a:pPr marL="596646" indent="-514350" algn="just">
              <a:buClr>
                <a:schemeClr val="tx1"/>
              </a:buClr>
              <a:buFont typeface="+mj-lt"/>
              <a:buAutoNum type="arabicPeriod"/>
            </a:pPr>
            <a:r>
              <a:rPr lang="en-US" sz="2400" b="1" dirty="0" smtClean="0">
                <a:latin typeface="Times New Roman" pitchFamily="18" charset="0"/>
                <a:cs typeface="Times New Roman" pitchFamily="18" charset="0"/>
              </a:rPr>
              <a:t>Threshold: </a:t>
            </a:r>
          </a:p>
          <a:p>
            <a:pPr marL="870966" lvl="1" indent="-514350" algn="just">
              <a:buClr>
                <a:schemeClr val="tx1"/>
              </a:buClr>
              <a:buFont typeface="+mj-lt"/>
              <a:buAutoNum type="romanLcPeriod"/>
            </a:pPr>
            <a:r>
              <a:rPr lang="en-US" sz="2000" dirty="0" smtClean="0">
                <a:latin typeface="Times New Roman" pitchFamily="18" charset="0"/>
                <a:cs typeface="Times New Roman" pitchFamily="18" charset="0"/>
              </a:rPr>
              <a:t>Threshold is a set value based upon which the final output of the network may be calculated . </a:t>
            </a:r>
          </a:p>
          <a:p>
            <a:pPr marL="870966" lvl="1" indent="-514350" algn="just">
              <a:buClr>
                <a:schemeClr val="tx1"/>
              </a:buClr>
              <a:buFont typeface="+mj-lt"/>
              <a:buAutoNum type="romanLcPeriod"/>
            </a:pPr>
            <a:r>
              <a:rPr lang="en-US" sz="2000" dirty="0" smtClean="0">
                <a:latin typeface="Times New Roman" pitchFamily="18" charset="0"/>
                <a:cs typeface="Times New Roman" pitchFamily="18" charset="0"/>
              </a:rPr>
              <a:t>In neural network, based on the threshold value, the activation function are defined and the output is calculated. </a:t>
            </a:r>
          </a:p>
          <a:p>
            <a:pPr marL="870966" lvl="1" indent="-514350" algn="just">
              <a:buClr>
                <a:schemeClr val="tx1"/>
              </a:buClr>
              <a:buFont typeface="+mj-lt"/>
              <a:buAutoNum type="romanLcPeriod"/>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120" y="0"/>
            <a:ext cx="7498080" cy="792162"/>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Important Terminologies of ANNs</a:t>
            </a:r>
            <a:endParaRPr lang="en-US" sz="3600" dirty="0"/>
          </a:p>
        </p:txBody>
      </p:sp>
      <p:sp>
        <p:nvSpPr>
          <p:cNvPr id="3" name="Content Placeholder 2"/>
          <p:cNvSpPr>
            <a:spLocks noGrp="1"/>
          </p:cNvSpPr>
          <p:nvPr>
            <p:ph idx="1"/>
          </p:nvPr>
        </p:nvSpPr>
        <p:spPr>
          <a:xfrm>
            <a:off x="609600" y="685800"/>
            <a:ext cx="8324088" cy="5943600"/>
          </a:xfrm>
        </p:spPr>
        <p:txBody>
          <a:bodyPr>
            <a:normAutofit lnSpcReduction="10000"/>
          </a:bodyPr>
          <a:lstStyle/>
          <a:p>
            <a:pPr marL="596646" indent="-514350" algn="just">
              <a:buClrTx/>
              <a:buFont typeface="+mj-lt"/>
              <a:buAutoNum type="arabicPeriod" startAt="4"/>
            </a:pPr>
            <a:r>
              <a:rPr lang="en-US" sz="2400" b="1" dirty="0" smtClean="0">
                <a:latin typeface="Times New Roman" pitchFamily="18" charset="0"/>
                <a:cs typeface="Times New Roman" pitchFamily="18" charset="0"/>
              </a:rPr>
              <a:t>Learning Rate:</a:t>
            </a:r>
            <a:endParaRPr lang="en-US" sz="2400" dirty="0" smtClean="0">
              <a:latin typeface="Times New Roman" pitchFamily="18" charset="0"/>
              <a:cs typeface="Times New Roman" pitchFamily="18" charset="0"/>
            </a:endParaRPr>
          </a:p>
          <a:p>
            <a:pPr marL="870966" lvl="1" indent="-514350" algn="just">
              <a:buClrTx/>
              <a:buFont typeface="+mj-lt"/>
              <a:buAutoNum type="romanLcPeriod"/>
            </a:pPr>
            <a:r>
              <a:rPr lang="en-US" sz="2000" dirty="0" smtClean="0">
                <a:latin typeface="Times New Roman" pitchFamily="18" charset="0"/>
                <a:cs typeface="Times New Roman" pitchFamily="18" charset="0"/>
              </a:rPr>
              <a:t>The learning rate is denoted by </a:t>
            </a:r>
            <a:r>
              <a:rPr lang="el-GR" sz="2000" dirty="0" smtClean="0">
                <a:latin typeface="Times New Roman"/>
                <a:cs typeface="Times New Roman"/>
              </a:rPr>
              <a:t>α</a:t>
            </a:r>
            <a:r>
              <a:rPr lang="en-US" sz="2000" dirty="0" smtClean="0">
                <a:latin typeface="Times New Roman"/>
                <a:cs typeface="Times New Roman"/>
              </a:rPr>
              <a:t>. </a:t>
            </a:r>
          </a:p>
          <a:p>
            <a:pPr marL="870966" lvl="1" indent="-514350" algn="just">
              <a:buClrTx/>
              <a:buFont typeface="+mj-lt"/>
              <a:buAutoNum type="romanLcPeriod"/>
            </a:pPr>
            <a:r>
              <a:rPr lang="en-US" sz="2000" dirty="0" smtClean="0">
                <a:latin typeface="Times New Roman"/>
                <a:cs typeface="Times New Roman"/>
              </a:rPr>
              <a:t>It is used to control the amount of weight adjustment at each step of training. </a:t>
            </a:r>
          </a:p>
          <a:p>
            <a:pPr marL="870966" lvl="1" indent="-514350" algn="just">
              <a:buClrTx/>
              <a:buFont typeface="+mj-lt"/>
              <a:buAutoNum type="romanLcPeriod"/>
            </a:pPr>
            <a:r>
              <a:rPr lang="en-US" sz="2000" dirty="0" smtClean="0">
                <a:latin typeface="Times New Roman"/>
                <a:cs typeface="Times New Roman"/>
              </a:rPr>
              <a:t>The learning rate, ranging from 0 to 1, determine the rate of learning at each time step.</a:t>
            </a:r>
          </a:p>
          <a:p>
            <a:pPr marL="596646" indent="-514350" algn="just">
              <a:buClrTx/>
              <a:buFont typeface="+mj-lt"/>
              <a:buAutoNum type="arabicPeriod" startAt="4"/>
            </a:pPr>
            <a:r>
              <a:rPr lang="en-US" sz="2400" b="1" dirty="0" smtClean="0">
                <a:latin typeface="Times New Roman"/>
                <a:cs typeface="Times New Roman"/>
              </a:rPr>
              <a:t>Momentum factor: </a:t>
            </a:r>
            <a:endParaRPr lang="en-US" sz="2400" dirty="0" smtClean="0">
              <a:latin typeface="Times New Roman"/>
              <a:cs typeface="Times New Roman"/>
            </a:endParaRPr>
          </a:p>
          <a:p>
            <a:pPr marL="870966" lvl="1" indent="-514350" algn="just">
              <a:buClrTx/>
              <a:buFont typeface="+mj-lt"/>
              <a:buAutoNum type="romanLcPeriod"/>
            </a:pPr>
            <a:r>
              <a:rPr lang="en-US" sz="2000" dirty="0" smtClean="0">
                <a:latin typeface="Times New Roman"/>
                <a:cs typeface="Times New Roman"/>
              </a:rPr>
              <a:t>Convergence is made faster if the momentum factor is added to the weight updation process.</a:t>
            </a:r>
          </a:p>
          <a:p>
            <a:pPr marL="870966" lvl="1" indent="-514350" algn="just">
              <a:buClrTx/>
              <a:buFont typeface="+mj-lt"/>
              <a:buAutoNum type="romanLcPeriod"/>
            </a:pPr>
            <a:r>
              <a:rPr lang="en-US" sz="2000" dirty="0" smtClean="0">
                <a:latin typeface="Times New Roman"/>
                <a:cs typeface="Times New Roman"/>
              </a:rPr>
              <a:t>This is generally done in the back propagation network. </a:t>
            </a:r>
          </a:p>
          <a:p>
            <a:pPr marL="596646" indent="-514350" algn="just">
              <a:buClrTx/>
              <a:buFont typeface="+mj-lt"/>
              <a:buAutoNum type="arabicPeriod" startAt="4"/>
            </a:pPr>
            <a:r>
              <a:rPr lang="en-US" sz="2400" b="1" dirty="0" smtClean="0">
                <a:latin typeface="Times New Roman"/>
                <a:cs typeface="Times New Roman"/>
              </a:rPr>
              <a:t>Vigilance parameter:</a:t>
            </a:r>
          </a:p>
          <a:p>
            <a:pPr marL="870966" lvl="1" indent="-514350" algn="just">
              <a:buClrTx/>
              <a:buFont typeface="+mj-lt"/>
              <a:buAutoNum type="romanLcPeriod"/>
            </a:pPr>
            <a:r>
              <a:rPr lang="en-US" sz="2000" dirty="0" smtClean="0">
                <a:latin typeface="Times New Roman"/>
                <a:cs typeface="Times New Roman"/>
              </a:rPr>
              <a:t>The vigilance parameter is denoted by </a:t>
            </a:r>
            <a:r>
              <a:rPr lang="el-GR" sz="2000" i="1" dirty="0" smtClean="0">
                <a:latin typeface="Times New Roman"/>
                <a:cs typeface="Times New Roman"/>
              </a:rPr>
              <a:t>ρ</a:t>
            </a:r>
            <a:r>
              <a:rPr lang="en-US" sz="2000" i="1" dirty="0" smtClean="0">
                <a:latin typeface="Times New Roman"/>
                <a:cs typeface="Times New Roman"/>
              </a:rPr>
              <a:t>. </a:t>
            </a:r>
            <a:r>
              <a:rPr lang="en-US" sz="2000" dirty="0" smtClean="0">
                <a:latin typeface="Times New Roman"/>
                <a:cs typeface="Times New Roman"/>
              </a:rPr>
              <a:t>It is used in adaptive resonance theory(ART) network.</a:t>
            </a:r>
          </a:p>
          <a:p>
            <a:pPr marL="870966" lvl="1" indent="-514350" algn="just">
              <a:buClrTx/>
              <a:buFont typeface="+mj-lt"/>
              <a:buAutoNum type="romanLcPeriod"/>
            </a:pPr>
            <a:r>
              <a:rPr lang="en-US" sz="2000" dirty="0" smtClean="0">
                <a:latin typeface="Times New Roman"/>
                <a:cs typeface="Times New Roman"/>
              </a:rPr>
              <a:t>It is used to control the degree of similarity required for pattern to be assigned to the same cluster. </a:t>
            </a:r>
          </a:p>
          <a:p>
            <a:pPr marL="870966" lvl="1" indent="-514350" algn="just">
              <a:buClrTx/>
              <a:buFont typeface="+mj-lt"/>
              <a:buAutoNum type="romanLcPeriod"/>
            </a:pPr>
            <a:r>
              <a:rPr lang="en-US" sz="2000" dirty="0" smtClean="0">
                <a:latin typeface="Times New Roman"/>
                <a:cs typeface="Times New Roman"/>
              </a:rPr>
              <a:t>The choice of vigilance parameter ranges approximately from 0.7 to 1 to perform  useful work in controlling the number of cluster.</a:t>
            </a:r>
          </a:p>
          <a:p>
            <a:pPr marL="870966" lvl="1" indent="-514350" algn="just">
              <a:buClrTx/>
              <a:buFont typeface="+mj-lt"/>
              <a:buAutoNum type="romanLcPeriod"/>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288" cy="685800"/>
          </a:xfrm>
        </p:spPr>
        <p:txBody>
          <a:bodyPr>
            <a:normAutofit/>
          </a:bodyPr>
          <a:lstStyle/>
          <a:p>
            <a:r>
              <a:rPr lang="en-US" sz="3600" b="1" dirty="0" smtClean="0">
                <a:latin typeface="Times New Roman" pitchFamily="18" charset="0"/>
                <a:cs typeface="Times New Roman" pitchFamily="18" charset="0"/>
              </a:rPr>
              <a:t>McCulloch – Pitts Neuron</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533400" y="609600"/>
            <a:ext cx="8534400" cy="6248400"/>
          </a:xfrm>
        </p:spPr>
        <p:txBody>
          <a:bodyPr>
            <a:normAutofit/>
          </a:bodyPr>
          <a:lstStyle/>
          <a:p>
            <a:pPr algn="just"/>
            <a:r>
              <a:rPr lang="en-US" sz="2400" dirty="0" smtClean="0">
                <a:latin typeface="Times New Roman" pitchFamily="18" charset="0"/>
                <a:cs typeface="Times New Roman" pitchFamily="18" charset="0"/>
              </a:rPr>
              <a:t>McCulloch – Pitts neuron was the earliest neural network discovered in 1943.</a:t>
            </a:r>
          </a:p>
          <a:p>
            <a:pPr algn="just"/>
            <a:r>
              <a:rPr lang="en-US" sz="2400" dirty="0" smtClean="0">
                <a:latin typeface="Times New Roman" pitchFamily="18" charset="0"/>
                <a:cs typeface="Times New Roman" pitchFamily="18" charset="0"/>
              </a:rPr>
              <a:t>It is usually called as </a:t>
            </a:r>
            <a:r>
              <a:rPr lang="en-US" sz="2400" i="1" dirty="0" smtClean="0">
                <a:latin typeface="Times New Roman" pitchFamily="18" charset="0"/>
                <a:cs typeface="Times New Roman" pitchFamily="18" charset="0"/>
              </a:rPr>
              <a:t>M-P neuron</a:t>
            </a:r>
            <a:r>
              <a:rPr lang="en-US"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The M-P neuron are connected by directed weighted paths.</a:t>
            </a:r>
          </a:p>
          <a:p>
            <a:pPr algn="just"/>
            <a:r>
              <a:rPr lang="en-US" sz="2400" dirty="0" smtClean="0">
                <a:latin typeface="Times New Roman" pitchFamily="18" charset="0"/>
                <a:cs typeface="Times New Roman" pitchFamily="18" charset="0"/>
              </a:rPr>
              <a:t>The weights associated with the communication links may be excitatory (weight is positive) or inhibitory (weight is negative). </a:t>
            </a:r>
          </a:p>
          <a:p>
            <a:pPr algn="just"/>
            <a:r>
              <a:rPr lang="en-US" sz="2400" dirty="0" smtClean="0">
                <a:latin typeface="Times New Roman" pitchFamily="18" charset="0"/>
                <a:cs typeface="Times New Roman" pitchFamily="18" charset="0"/>
              </a:rPr>
              <a:t>All the excitatory connected weights entering into a particular neuron will have same weights.</a:t>
            </a:r>
          </a:p>
          <a:p>
            <a:pPr algn="just"/>
            <a:r>
              <a:rPr lang="en-US" sz="2400" dirty="0" smtClean="0">
                <a:latin typeface="Times New Roman" pitchFamily="18" charset="0"/>
                <a:cs typeface="Times New Roman" pitchFamily="18" charset="0"/>
              </a:rPr>
              <a:t>The threshold plays an important role in M-P neuron. </a:t>
            </a:r>
          </a:p>
          <a:p>
            <a:pPr algn="just"/>
            <a:r>
              <a:rPr lang="en-US" sz="2400" dirty="0" smtClean="0">
                <a:latin typeface="Times New Roman" pitchFamily="18" charset="0"/>
                <a:cs typeface="Times New Roman" pitchFamily="18" charset="0"/>
              </a:rPr>
              <a:t>There is a fixed threshold for each neuron, and if the net input to the neuron is greater than the threshold then the neuron fires and any nonzero inhibitory input would prevent the neuron from firing.</a:t>
            </a:r>
          </a:p>
          <a:p>
            <a:pPr algn="just"/>
            <a:r>
              <a:rPr lang="en-US" sz="2400" dirty="0" smtClean="0">
                <a:latin typeface="Times New Roman" pitchFamily="18" charset="0"/>
                <a:cs typeface="Times New Roman" pitchFamily="18" charset="0"/>
              </a:rPr>
              <a:t>The </a:t>
            </a:r>
            <a:r>
              <a:rPr lang="en-US" sz="2400" i="1" dirty="0" smtClean="0">
                <a:latin typeface="Times New Roman" pitchFamily="18" charset="0"/>
                <a:cs typeface="Times New Roman" pitchFamily="18" charset="0"/>
              </a:rPr>
              <a:t>M-P neuron </a:t>
            </a:r>
            <a:r>
              <a:rPr lang="en-US" sz="2400" dirty="0" smtClean="0">
                <a:latin typeface="Times New Roman" pitchFamily="18" charset="0"/>
                <a:cs typeface="Times New Roman" pitchFamily="18" charset="0"/>
              </a:rPr>
              <a:t>are most widely used in the case of logic function.</a:t>
            </a:r>
            <a:endParaRPr lang="en-US" sz="2400" i="1"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274638"/>
            <a:ext cx="7498080" cy="563562"/>
          </a:xfrm>
        </p:spPr>
        <p:txBody>
          <a:bodyPr>
            <a:noAutofit/>
          </a:bodyPr>
          <a:lstStyle/>
          <a:p>
            <a:r>
              <a:rPr lang="en-US" sz="3600" b="1" dirty="0" smtClean="0">
                <a:latin typeface="Times New Roman" pitchFamily="18" charset="0"/>
                <a:cs typeface="Times New Roman" pitchFamily="18" charset="0"/>
              </a:rPr>
              <a:t>McCulloch – Pitts Neuron</a:t>
            </a:r>
            <a:endParaRPr lang="en-US" sz="3600" dirty="0">
              <a:latin typeface="Times New Roman" pitchFamily="18" charset="0"/>
              <a:cs typeface="Times New Roman" pitchFamily="18" charset="0"/>
            </a:endParaRPr>
          </a:p>
        </p:txBody>
      </p:sp>
      <p:grpSp>
        <p:nvGrpSpPr>
          <p:cNvPr id="41" name="Group 40"/>
          <p:cNvGrpSpPr/>
          <p:nvPr/>
        </p:nvGrpSpPr>
        <p:grpSpPr>
          <a:xfrm>
            <a:off x="1295400" y="1295400"/>
            <a:ext cx="7600856" cy="5169932"/>
            <a:chOff x="1295400" y="1295400"/>
            <a:chExt cx="7600856" cy="5169932"/>
          </a:xfrm>
        </p:grpSpPr>
        <p:sp>
          <p:nvSpPr>
            <p:cNvPr id="4" name="Oval 3"/>
            <p:cNvSpPr/>
            <p:nvPr/>
          </p:nvSpPr>
          <p:spPr>
            <a:xfrm>
              <a:off x="2209800" y="2438400"/>
              <a:ext cx="7620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X</a:t>
              </a:r>
              <a:r>
                <a:rPr lang="en-US" baseline="-25000" dirty="0" smtClean="0"/>
                <a:t>2</a:t>
              </a:r>
              <a:endParaRPr lang="en-US" baseline="-25000" dirty="0"/>
            </a:p>
          </p:txBody>
        </p:sp>
        <p:sp>
          <p:nvSpPr>
            <p:cNvPr id="5" name="Oval 4"/>
            <p:cNvSpPr/>
            <p:nvPr/>
          </p:nvSpPr>
          <p:spPr>
            <a:xfrm>
              <a:off x="2209800" y="3505200"/>
              <a:ext cx="7620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smtClean="0"/>
                <a:t>Xn</a:t>
              </a:r>
              <a:endParaRPr lang="en-US" baseline="-25000" dirty="0"/>
            </a:p>
          </p:txBody>
        </p:sp>
        <p:sp>
          <p:nvSpPr>
            <p:cNvPr id="6" name="Oval 5"/>
            <p:cNvSpPr/>
            <p:nvPr/>
          </p:nvSpPr>
          <p:spPr>
            <a:xfrm>
              <a:off x="2209800" y="1371600"/>
              <a:ext cx="7620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X</a:t>
              </a:r>
              <a:r>
                <a:rPr lang="en-US" baseline="-25000" dirty="0" smtClean="0"/>
                <a:t>1</a:t>
              </a:r>
              <a:endParaRPr lang="en-US" baseline="-25000" dirty="0"/>
            </a:p>
          </p:txBody>
        </p:sp>
        <p:sp>
          <p:nvSpPr>
            <p:cNvPr id="7" name="Oval 6"/>
            <p:cNvSpPr/>
            <p:nvPr/>
          </p:nvSpPr>
          <p:spPr>
            <a:xfrm>
              <a:off x="2209800" y="4572000"/>
              <a:ext cx="7620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t>X</a:t>
              </a:r>
              <a:r>
                <a:rPr lang="en-US" sz="1400" baseline="-25000" dirty="0" smtClean="0"/>
                <a:t>n+1</a:t>
              </a:r>
              <a:endParaRPr lang="en-US" sz="1400" baseline="-25000" dirty="0"/>
            </a:p>
          </p:txBody>
        </p:sp>
        <p:sp>
          <p:nvSpPr>
            <p:cNvPr id="8" name="Oval 7"/>
            <p:cNvSpPr/>
            <p:nvPr/>
          </p:nvSpPr>
          <p:spPr>
            <a:xfrm>
              <a:off x="2209800" y="5715000"/>
              <a:ext cx="7620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err="1" smtClean="0"/>
                <a:t>X</a:t>
              </a:r>
              <a:r>
                <a:rPr lang="en-US" sz="1400" baseline="-25000" dirty="0" err="1" smtClean="0"/>
                <a:t>n+m</a:t>
              </a:r>
              <a:endParaRPr lang="en-US" sz="1400" baseline="-25000" dirty="0"/>
            </a:p>
          </p:txBody>
        </p:sp>
        <p:sp>
          <p:nvSpPr>
            <p:cNvPr id="9" name="Oval 8"/>
            <p:cNvSpPr/>
            <p:nvPr/>
          </p:nvSpPr>
          <p:spPr>
            <a:xfrm>
              <a:off x="6934200" y="2971800"/>
              <a:ext cx="7620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Y</a:t>
              </a:r>
              <a:endParaRPr lang="en-US" dirty="0"/>
            </a:p>
          </p:txBody>
        </p:sp>
        <p:cxnSp>
          <p:nvCxnSpPr>
            <p:cNvPr id="11" name="Straight Arrow Connector 10"/>
            <p:cNvCxnSpPr>
              <a:endCxn id="6" idx="2"/>
            </p:cNvCxnSpPr>
            <p:nvPr/>
          </p:nvCxnSpPr>
          <p:spPr>
            <a:xfrm>
              <a:off x="1371600" y="1676400"/>
              <a:ext cx="838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Straight Arrow Connector 11"/>
            <p:cNvCxnSpPr/>
            <p:nvPr/>
          </p:nvCxnSpPr>
          <p:spPr>
            <a:xfrm>
              <a:off x="1295400" y="2743200"/>
              <a:ext cx="838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a:off x="1371600" y="3810000"/>
              <a:ext cx="838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p:nvPr/>
          </p:nvCxnSpPr>
          <p:spPr>
            <a:xfrm>
              <a:off x="1371600" y="4876800"/>
              <a:ext cx="838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p:nvPr/>
          </p:nvCxnSpPr>
          <p:spPr>
            <a:xfrm>
              <a:off x="1371600" y="6019800"/>
              <a:ext cx="838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hape 18"/>
            <p:cNvCxnSpPr>
              <a:endCxn id="9" idx="0"/>
            </p:cNvCxnSpPr>
            <p:nvPr/>
          </p:nvCxnSpPr>
          <p:spPr>
            <a:xfrm>
              <a:off x="2971800" y="1676400"/>
              <a:ext cx="4343400" cy="1295400"/>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21" name="Curved Connector 20"/>
            <p:cNvCxnSpPr>
              <a:stCxn id="4" idx="7"/>
              <a:endCxn id="9" idx="1"/>
            </p:cNvCxnSpPr>
            <p:nvPr/>
          </p:nvCxnSpPr>
          <p:spPr>
            <a:xfrm rot="16200000" flipH="1">
              <a:off x="4686300" y="701582"/>
              <a:ext cx="533400" cy="4185584"/>
            </a:xfrm>
            <a:prstGeom prst="curvedConnector3">
              <a:avLst>
                <a:gd name="adj1" fmla="val -59594"/>
              </a:avLst>
            </a:prstGeom>
            <a:ln>
              <a:tailEnd type="arrow"/>
            </a:ln>
          </p:spPr>
          <p:style>
            <a:lnRef idx="2">
              <a:schemeClr val="dk1"/>
            </a:lnRef>
            <a:fillRef idx="0">
              <a:schemeClr val="dk1"/>
            </a:fillRef>
            <a:effectRef idx="1">
              <a:schemeClr val="dk1"/>
            </a:effectRef>
            <a:fontRef idx="minor">
              <a:schemeClr val="tx1"/>
            </a:fontRef>
          </p:style>
        </p:cxnSp>
        <p:cxnSp>
          <p:nvCxnSpPr>
            <p:cNvPr id="23" name="Shape 22"/>
            <p:cNvCxnSpPr>
              <a:stCxn id="5" idx="6"/>
              <a:endCxn id="9" idx="3"/>
            </p:cNvCxnSpPr>
            <p:nvPr/>
          </p:nvCxnSpPr>
          <p:spPr>
            <a:xfrm flipV="1">
              <a:off x="2971800" y="3492126"/>
              <a:ext cx="4073992" cy="317874"/>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25" name="Shape 24"/>
            <p:cNvCxnSpPr>
              <a:stCxn id="7" idx="6"/>
              <a:endCxn id="9" idx="4"/>
            </p:cNvCxnSpPr>
            <p:nvPr/>
          </p:nvCxnSpPr>
          <p:spPr>
            <a:xfrm flipV="1">
              <a:off x="2971800" y="3581400"/>
              <a:ext cx="4343400" cy="1295400"/>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27" name="Shape 26"/>
            <p:cNvCxnSpPr>
              <a:stCxn id="8" idx="6"/>
              <a:endCxn id="9" idx="5"/>
            </p:cNvCxnSpPr>
            <p:nvPr/>
          </p:nvCxnSpPr>
          <p:spPr>
            <a:xfrm flipV="1">
              <a:off x="2971800" y="3492126"/>
              <a:ext cx="4612808" cy="2527674"/>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29" name="Straight Arrow Connector 28"/>
            <p:cNvCxnSpPr>
              <a:stCxn id="9" idx="6"/>
            </p:cNvCxnSpPr>
            <p:nvPr/>
          </p:nvCxnSpPr>
          <p:spPr>
            <a:xfrm>
              <a:off x="7696200" y="3276600"/>
              <a:ext cx="838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1524000" y="1295400"/>
              <a:ext cx="425116" cy="369332"/>
            </a:xfrm>
            <a:prstGeom prst="rect">
              <a:avLst/>
            </a:prstGeom>
            <a:noFill/>
          </p:spPr>
          <p:txBody>
            <a:bodyPr wrap="none" rtlCol="0">
              <a:spAutoFit/>
            </a:bodyPr>
            <a:lstStyle/>
            <a:p>
              <a:r>
                <a:rPr lang="en-US" dirty="0" smtClean="0"/>
                <a:t>X</a:t>
              </a:r>
              <a:r>
                <a:rPr lang="en-US" baseline="-25000" dirty="0" smtClean="0"/>
                <a:t>1</a:t>
              </a:r>
              <a:endParaRPr lang="en-US" baseline="-25000" dirty="0"/>
            </a:p>
          </p:txBody>
        </p:sp>
        <p:sp>
          <p:nvSpPr>
            <p:cNvPr id="31" name="TextBox 30"/>
            <p:cNvSpPr txBox="1"/>
            <p:nvPr/>
          </p:nvSpPr>
          <p:spPr>
            <a:xfrm>
              <a:off x="1600200" y="2667000"/>
              <a:ext cx="425116" cy="369332"/>
            </a:xfrm>
            <a:prstGeom prst="rect">
              <a:avLst/>
            </a:prstGeom>
            <a:noFill/>
          </p:spPr>
          <p:txBody>
            <a:bodyPr wrap="none" rtlCol="0">
              <a:spAutoFit/>
            </a:bodyPr>
            <a:lstStyle/>
            <a:p>
              <a:r>
                <a:rPr lang="en-US" dirty="0" smtClean="0"/>
                <a:t>X</a:t>
              </a:r>
              <a:r>
                <a:rPr lang="en-US" baseline="-25000" dirty="0" smtClean="0"/>
                <a:t>2</a:t>
              </a:r>
              <a:endParaRPr lang="en-US" baseline="-25000" dirty="0"/>
            </a:p>
          </p:txBody>
        </p:sp>
        <p:sp>
          <p:nvSpPr>
            <p:cNvPr id="32" name="TextBox 31"/>
            <p:cNvSpPr txBox="1"/>
            <p:nvPr/>
          </p:nvSpPr>
          <p:spPr>
            <a:xfrm>
              <a:off x="1600200" y="3810000"/>
              <a:ext cx="425116" cy="369332"/>
            </a:xfrm>
            <a:prstGeom prst="rect">
              <a:avLst/>
            </a:prstGeom>
            <a:noFill/>
          </p:spPr>
          <p:txBody>
            <a:bodyPr wrap="none" rtlCol="0">
              <a:spAutoFit/>
            </a:bodyPr>
            <a:lstStyle/>
            <a:p>
              <a:r>
                <a:rPr lang="en-US" dirty="0" err="1" smtClean="0"/>
                <a:t>X</a:t>
              </a:r>
              <a:r>
                <a:rPr lang="en-US" baseline="-25000" dirty="0" err="1" smtClean="0"/>
                <a:t>n</a:t>
              </a:r>
              <a:endParaRPr lang="en-US" baseline="-25000" dirty="0"/>
            </a:p>
          </p:txBody>
        </p:sp>
        <p:sp>
          <p:nvSpPr>
            <p:cNvPr id="33" name="TextBox 32"/>
            <p:cNvSpPr txBox="1"/>
            <p:nvPr/>
          </p:nvSpPr>
          <p:spPr>
            <a:xfrm>
              <a:off x="1600200" y="4876800"/>
              <a:ext cx="591829" cy="369332"/>
            </a:xfrm>
            <a:prstGeom prst="rect">
              <a:avLst/>
            </a:prstGeom>
            <a:noFill/>
          </p:spPr>
          <p:txBody>
            <a:bodyPr wrap="none" rtlCol="0">
              <a:spAutoFit/>
            </a:bodyPr>
            <a:lstStyle/>
            <a:p>
              <a:r>
                <a:rPr lang="en-US" dirty="0" smtClean="0"/>
                <a:t>X</a:t>
              </a:r>
              <a:r>
                <a:rPr lang="en-US" baseline="-25000" dirty="0" smtClean="0"/>
                <a:t>n+1</a:t>
              </a:r>
              <a:endParaRPr lang="en-US" baseline="-25000" dirty="0"/>
            </a:p>
          </p:txBody>
        </p:sp>
        <p:sp>
          <p:nvSpPr>
            <p:cNvPr id="34" name="TextBox 33"/>
            <p:cNvSpPr txBox="1"/>
            <p:nvPr/>
          </p:nvSpPr>
          <p:spPr>
            <a:xfrm>
              <a:off x="1676400" y="6096000"/>
              <a:ext cx="633507" cy="369332"/>
            </a:xfrm>
            <a:prstGeom prst="rect">
              <a:avLst/>
            </a:prstGeom>
            <a:noFill/>
          </p:spPr>
          <p:txBody>
            <a:bodyPr wrap="none" rtlCol="0">
              <a:spAutoFit/>
            </a:bodyPr>
            <a:lstStyle/>
            <a:p>
              <a:r>
                <a:rPr lang="en-US" dirty="0" err="1" smtClean="0"/>
                <a:t>X</a:t>
              </a:r>
              <a:r>
                <a:rPr lang="en-US" baseline="-25000" dirty="0" err="1" smtClean="0"/>
                <a:t>n+m</a:t>
              </a:r>
              <a:endParaRPr lang="en-US" baseline="-25000" dirty="0"/>
            </a:p>
          </p:txBody>
        </p:sp>
        <p:sp>
          <p:nvSpPr>
            <p:cNvPr id="35" name="TextBox 34"/>
            <p:cNvSpPr txBox="1"/>
            <p:nvPr/>
          </p:nvSpPr>
          <p:spPr>
            <a:xfrm>
              <a:off x="4419600" y="1447800"/>
              <a:ext cx="351378" cy="369332"/>
            </a:xfrm>
            <a:prstGeom prst="rect">
              <a:avLst/>
            </a:prstGeom>
            <a:noFill/>
          </p:spPr>
          <p:txBody>
            <a:bodyPr wrap="none" rtlCol="0">
              <a:spAutoFit/>
            </a:bodyPr>
            <a:lstStyle/>
            <a:p>
              <a:r>
                <a:rPr lang="en-US" dirty="0" smtClean="0"/>
                <a:t>w</a:t>
              </a:r>
              <a:endParaRPr lang="en-US" dirty="0"/>
            </a:p>
          </p:txBody>
        </p:sp>
        <p:sp>
          <p:nvSpPr>
            <p:cNvPr id="36" name="Rectangle 35"/>
            <p:cNvSpPr/>
            <p:nvPr/>
          </p:nvSpPr>
          <p:spPr>
            <a:xfrm>
              <a:off x="4267200" y="1905000"/>
              <a:ext cx="351378" cy="369332"/>
            </a:xfrm>
            <a:prstGeom prst="rect">
              <a:avLst/>
            </a:prstGeom>
          </p:spPr>
          <p:txBody>
            <a:bodyPr wrap="none">
              <a:spAutoFit/>
            </a:bodyPr>
            <a:lstStyle/>
            <a:p>
              <a:r>
                <a:rPr lang="en-US" dirty="0" smtClean="0"/>
                <a:t>w</a:t>
              </a:r>
              <a:endParaRPr lang="en-US" dirty="0"/>
            </a:p>
          </p:txBody>
        </p:sp>
        <p:sp>
          <p:nvSpPr>
            <p:cNvPr id="37" name="Rectangle 36"/>
            <p:cNvSpPr/>
            <p:nvPr/>
          </p:nvSpPr>
          <p:spPr>
            <a:xfrm>
              <a:off x="4572000" y="3429000"/>
              <a:ext cx="351378" cy="369332"/>
            </a:xfrm>
            <a:prstGeom prst="rect">
              <a:avLst/>
            </a:prstGeom>
          </p:spPr>
          <p:txBody>
            <a:bodyPr wrap="none">
              <a:spAutoFit/>
            </a:bodyPr>
            <a:lstStyle/>
            <a:p>
              <a:r>
                <a:rPr lang="en-US" dirty="0" smtClean="0"/>
                <a:t>w</a:t>
              </a:r>
              <a:endParaRPr lang="en-US" dirty="0"/>
            </a:p>
          </p:txBody>
        </p:sp>
        <p:sp>
          <p:nvSpPr>
            <p:cNvPr id="38" name="TextBox 37"/>
            <p:cNvSpPr txBox="1"/>
            <p:nvPr/>
          </p:nvSpPr>
          <p:spPr>
            <a:xfrm>
              <a:off x="4191000" y="4495800"/>
              <a:ext cx="375424" cy="369332"/>
            </a:xfrm>
            <a:prstGeom prst="rect">
              <a:avLst/>
            </a:prstGeom>
            <a:noFill/>
          </p:spPr>
          <p:txBody>
            <a:bodyPr wrap="none" rtlCol="0">
              <a:spAutoFit/>
            </a:bodyPr>
            <a:lstStyle/>
            <a:p>
              <a:r>
                <a:rPr lang="en-US" dirty="0" smtClean="0"/>
                <a:t>-p</a:t>
              </a:r>
              <a:endParaRPr lang="en-US" dirty="0"/>
            </a:p>
          </p:txBody>
        </p:sp>
        <p:sp>
          <p:nvSpPr>
            <p:cNvPr id="39" name="TextBox 38"/>
            <p:cNvSpPr txBox="1"/>
            <p:nvPr/>
          </p:nvSpPr>
          <p:spPr>
            <a:xfrm>
              <a:off x="4419600" y="5486400"/>
              <a:ext cx="375424" cy="369332"/>
            </a:xfrm>
            <a:prstGeom prst="rect">
              <a:avLst/>
            </a:prstGeom>
            <a:noFill/>
          </p:spPr>
          <p:txBody>
            <a:bodyPr wrap="none" rtlCol="0">
              <a:spAutoFit/>
            </a:bodyPr>
            <a:lstStyle/>
            <a:p>
              <a:r>
                <a:rPr lang="en-US" dirty="0" smtClean="0"/>
                <a:t>-p</a:t>
              </a:r>
              <a:endParaRPr lang="en-US" dirty="0"/>
            </a:p>
          </p:txBody>
        </p:sp>
        <p:sp>
          <p:nvSpPr>
            <p:cNvPr id="40" name="TextBox 39"/>
            <p:cNvSpPr txBox="1"/>
            <p:nvPr/>
          </p:nvSpPr>
          <p:spPr>
            <a:xfrm>
              <a:off x="8610600" y="3048000"/>
              <a:ext cx="285656" cy="369332"/>
            </a:xfrm>
            <a:prstGeom prst="rect">
              <a:avLst/>
            </a:prstGeom>
            <a:noFill/>
          </p:spPr>
          <p:txBody>
            <a:bodyPr wrap="none" rtlCol="0">
              <a:spAutoFit/>
            </a:bodyPr>
            <a:lstStyle/>
            <a:p>
              <a:r>
                <a:rPr lang="en-US" dirty="0" smtClean="0"/>
                <a:t>y</a:t>
              </a:r>
              <a:endParaRPr lang="en-US" dirty="0"/>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52688" cy="533400"/>
          </a:xfrm>
        </p:spPr>
        <p:txBody>
          <a:bodyPr>
            <a:noAutofit/>
          </a:bodyPr>
          <a:lstStyle/>
          <a:p>
            <a:r>
              <a:rPr lang="en-US" sz="3600" b="1" dirty="0" smtClean="0">
                <a:latin typeface="Times New Roman" pitchFamily="18" charset="0"/>
                <a:cs typeface="Times New Roman" pitchFamily="18" charset="0"/>
              </a:rPr>
              <a:t>McCulloch – Pitts Neuron</a:t>
            </a:r>
            <a:endParaRPr lang="en-US" sz="3600" dirty="0"/>
          </a:p>
        </p:txBody>
      </p:sp>
      <p:sp>
        <p:nvSpPr>
          <p:cNvPr id="3" name="Content Placeholder 2"/>
          <p:cNvSpPr>
            <a:spLocks noGrp="1"/>
          </p:cNvSpPr>
          <p:nvPr>
            <p:ph idx="1"/>
          </p:nvPr>
        </p:nvSpPr>
        <p:spPr>
          <a:xfrm>
            <a:off x="457200" y="838200"/>
            <a:ext cx="8476488" cy="5562600"/>
          </a:xfrm>
        </p:spPr>
        <p:txBody>
          <a:bodyPr>
            <a:normAutofit/>
          </a:bodyPr>
          <a:lstStyle/>
          <a:p>
            <a:r>
              <a:rPr lang="en-US" sz="2400" dirty="0" smtClean="0">
                <a:latin typeface="Times New Roman" pitchFamily="18" charset="0"/>
                <a:cs typeface="Times New Roman" pitchFamily="18" charset="0"/>
              </a:rPr>
              <a:t>The M-P neuron has both excitatory and inhibitory connection. </a:t>
            </a:r>
          </a:p>
          <a:p>
            <a:pPr algn="just"/>
            <a:r>
              <a:rPr lang="en-US" sz="2400" dirty="0" smtClean="0">
                <a:latin typeface="Times New Roman" pitchFamily="18" charset="0"/>
                <a:cs typeface="Times New Roman" pitchFamily="18" charset="0"/>
              </a:rPr>
              <a:t>It is excitatory with weight (w &gt; 0) or inhibitory with weight –p (p &lt; 0).</a:t>
            </a:r>
          </a:p>
          <a:p>
            <a:pPr algn="just"/>
            <a:r>
              <a:rPr lang="en-US" sz="2400" dirty="0" smtClean="0">
                <a:latin typeface="Times New Roman" pitchFamily="18" charset="0"/>
                <a:cs typeface="Times New Roman" pitchFamily="18" charset="0"/>
              </a:rPr>
              <a:t>In the previous figure you can see, input from x</a:t>
            </a:r>
            <a:r>
              <a:rPr lang="en-US" sz="2400" baseline="-25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to </a:t>
            </a:r>
            <a:r>
              <a:rPr lang="en-US" sz="2400" dirty="0" err="1" smtClean="0">
                <a:latin typeface="Times New Roman" pitchFamily="18" charset="0"/>
                <a:cs typeface="Times New Roman" pitchFamily="18" charset="0"/>
              </a:rPr>
              <a:t>x</a:t>
            </a:r>
            <a:r>
              <a:rPr lang="en-US" sz="2400" baseline="-25000" dirty="0" err="1"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possess excitatory weighted connection and input from x</a:t>
            </a:r>
            <a:r>
              <a:rPr lang="en-US" sz="2400" baseline="-25000" dirty="0" smtClean="0">
                <a:latin typeface="Times New Roman" pitchFamily="18" charset="0"/>
                <a:cs typeface="Times New Roman" pitchFamily="18" charset="0"/>
              </a:rPr>
              <a:t>n+1</a:t>
            </a:r>
            <a:r>
              <a:rPr lang="en-US" sz="2400" dirty="0" smtClean="0">
                <a:latin typeface="Times New Roman" pitchFamily="18" charset="0"/>
                <a:cs typeface="Times New Roman" pitchFamily="18" charset="0"/>
              </a:rPr>
              <a:t> to </a:t>
            </a:r>
            <a:r>
              <a:rPr lang="en-US" sz="2400" dirty="0" err="1" smtClean="0">
                <a:latin typeface="Times New Roman" pitchFamily="18" charset="0"/>
                <a:cs typeface="Times New Roman" pitchFamily="18" charset="0"/>
              </a:rPr>
              <a:t>x</a:t>
            </a:r>
            <a:r>
              <a:rPr lang="en-US" sz="2400" baseline="-25000" dirty="0" err="1" smtClean="0">
                <a:latin typeface="Times New Roman" pitchFamily="18" charset="0"/>
                <a:cs typeface="Times New Roman" pitchFamily="18" charset="0"/>
              </a:rPr>
              <a:t>n+m</a:t>
            </a:r>
            <a:r>
              <a:rPr lang="en-US" sz="2400" dirty="0" smtClean="0">
                <a:latin typeface="Times New Roman" pitchFamily="18" charset="0"/>
                <a:cs typeface="Times New Roman" pitchFamily="18" charset="0"/>
              </a:rPr>
              <a:t> possess inhibitory weighted interconnections.</a:t>
            </a:r>
          </a:p>
          <a:p>
            <a:pPr algn="just"/>
            <a:r>
              <a:rPr lang="en-US" sz="2400" dirty="0" smtClean="0">
                <a:latin typeface="Times New Roman" pitchFamily="18" charset="0"/>
                <a:cs typeface="Times New Roman" pitchFamily="18" charset="0"/>
              </a:rPr>
              <a:t>The activation function is defined as</a:t>
            </a:r>
          </a:p>
          <a:p>
            <a:pPr algn="just"/>
            <a:endParaRPr lang="en-US" sz="24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For inhibition to be absolute, the threshold with the activation function should satisfied the following condition: </a:t>
            </a:r>
          </a:p>
          <a:p>
            <a:pPr algn="just">
              <a:buNone/>
            </a:pP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θ</a:t>
            </a:r>
            <a:r>
              <a:rPr lang="en-US" sz="2400" dirty="0" smtClean="0">
                <a:latin typeface="Times New Roman" pitchFamily="18" charset="0"/>
                <a:cs typeface="Times New Roman" pitchFamily="18" charset="0"/>
              </a:rPr>
              <a:t> &gt; </a:t>
            </a:r>
            <a:r>
              <a:rPr lang="en-US" sz="2400" i="1" dirty="0" err="1" smtClean="0">
                <a:latin typeface="Times New Roman" pitchFamily="18" charset="0"/>
                <a:cs typeface="Times New Roman" pitchFamily="18" charset="0"/>
              </a:rPr>
              <a:t>nw</a:t>
            </a:r>
            <a:r>
              <a:rPr lang="en-US" sz="2400" i="1" dirty="0" smtClean="0">
                <a:latin typeface="Times New Roman" pitchFamily="18" charset="0"/>
                <a:cs typeface="Times New Roman" pitchFamily="18" charset="0"/>
              </a:rPr>
              <a:t> - p</a:t>
            </a:r>
            <a:endParaRPr lang="en-US" sz="2400" i="1" dirty="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3048000" y="3733800"/>
          <a:ext cx="3276600" cy="1219200"/>
        </p:xfrm>
        <a:graphic>
          <a:graphicData uri="http://schemas.openxmlformats.org/presentationml/2006/ole">
            <p:oleObj spid="_x0000_s32770" name="Equation" r:id="rId3" imgW="1358640" imgH="634680" progId="Equation.3">
              <p:embed/>
            </p:oleObj>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28888" cy="639762"/>
          </a:xfrm>
        </p:spPr>
        <p:txBody>
          <a:bodyPr>
            <a:noAutofit/>
          </a:bodyPr>
          <a:lstStyle/>
          <a:p>
            <a:r>
              <a:rPr lang="en-US" sz="3600" b="1" dirty="0" smtClean="0">
                <a:latin typeface="Times New Roman" pitchFamily="18" charset="0"/>
                <a:cs typeface="Times New Roman" pitchFamily="18" charset="0"/>
              </a:rPr>
              <a:t>McCulloch – Pitts Neuron</a:t>
            </a:r>
            <a:endParaRPr lang="en-US" sz="3600" dirty="0"/>
          </a:p>
        </p:txBody>
      </p:sp>
      <p:sp>
        <p:nvSpPr>
          <p:cNvPr id="3" name="Content Placeholder 2"/>
          <p:cNvSpPr>
            <a:spLocks noGrp="1"/>
          </p:cNvSpPr>
          <p:nvPr>
            <p:ph idx="1"/>
          </p:nvPr>
        </p:nvSpPr>
        <p:spPr>
          <a:xfrm>
            <a:off x="762000" y="914400"/>
            <a:ext cx="8171688" cy="4800600"/>
          </a:xfrm>
        </p:spPr>
        <p:txBody>
          <a:bodyPr>
            <a:normAutofit/>
          </a:bodyPr>
          <a:lstStyle/>
          <a:p>
            <a:pPr algn="just"/>
            <a:r>
              <a:rPr lang="en-US" sz="2400" dirty="0" smtClean="0">
                <a:latin typeface="Times New Roman" pitchFamily="18" charset="0"/>
                <a:cs typeface="Times New Roman" pitchFamily="18" charset="0"/>
              </a:rPr>
              <a:t>The output will fire if it receives k or more excitatory inputs but no inhibitory input, where</a:t>
            </a:r>
          </a:p>
          <a:p>
            <a:pPr algn="just">
              <a:buNone/>
            </a:pP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kw</a:t>
            </a:r>
            <a:r>
              <a:rPr lang="en-US" sz="2400" dirty="0" smtClean="0">
                <a:latin typeface="Times New Roman" pitchFamily="18" charset="0"/>
                <a:cs typeface="Times New Roman" pitchFamily="18" charset="0"/>
              </a:rPr>
              <a:t>  </a:t>
            </a:r>
            <a:r>
              <a:rPr lang="en-US" sz="2400" dirty="0" smtClean="0">
                <a:latin typeface="Times New Roman"/>
                <a:cs typeface="Times New Roman"/>
              </a:rPr>
              <a:t>≥ </a:t>
            </a:r>
            <a:r>
              <a:rPr lang="el-GR" sz="2400" dirty="0" smtClean="0">
                <a:latin typeface="Times New Roman"/>
                <a:cs typeface="Times New Roman"/>
              </a:rPr>
              <a:t>θ</a:t>
            </a:r>
            <a:r>
              <a:rPr lang="en-US" sz="2400" dirty="0" smtClean="0">
                <a:latin typeface="Times New Roman"/>
                <a:cs typeface="Times New Roman"/>
              </a:rPr>
              <a:t> &gt; (k – 1)w</a:t>
            </a:r>
          </a:p>
          <a:p>
            <a:pPr algn="just">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912" y="76200"/>
            <a:ext cx="8628888" cy="715962"/>
          </a:xfrm>
        </p:spPr>
        <p:txBody>
          <a:bodyPr>
            <a:normAutofit/>
          </a:bodyPr>
          <a:lstStyle/>
          <a:p>
            <a:r>
              <a:rPr lang="en-US" sz="3600" dirty="0" err="1" smtClean="0">
                <a:latin typeface="Times New Roman" pitchFamily="18" charset="0"/>
                <a:cs typeface="Times New Roman" pitchFamily="18" charset="0"/>
              </a:rPr>
              <a:t>Hebb</a:t>
            </a:r>
            <a:r>
              <a:rPr lang="en-US" sz="3600" dirty="0" smtClean="0">
                <a:latin typeface="Times New Roman" pitchFamily="18" charset="0"/>
                <a:cs typeface="Times New Roman" pitchFamily="18" charset="0"/>
              </a:rPr>
              <a:t> Neural network</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609600" y="914400"/>
            <a:ext cx="8324088" cy="5181600"/>
          </a:xfrm>
        </p:spPr>
        <p:txBody>
          <a:bodyPr>
            <a:normAutofit lnSpcReduction="10000"/>
          </a:bodyPr>
          <a:lstStyle/>
          <a:p>
            <a:pPr algn="just"/>
            <a:r>
              <a:rPr lang="en-US" sz="2400" dirty="0" err="1" smtClean="0">
                <a:latin typeface="Times New Roman" pitchFamily="18" charset="0"/>
                <a:cs typeface="Times New Roman" pitchFamily="18" charset="0"/>
              </a:rPr>
              <a:t>Hebb</a:t>
            </a:r>
            <a:r>
              <a:rPr lang="en-US" sz="2400" dirty="0" smtClean="0">
                <a:latin typeface="Times New Roman" pitchFamily="18" charset="0"/>
                <a:cs typeface="Times New Roman" pitchFamily="18" charset="0"/>
              </a:rPr>
              <a:t>  stated in 1949 that in the brain, the learning is performed by the change in the synaptic gap.</a:t>
            </a:r>
          </a:p>
          <a:p>
            <a:pPr algn="just"/>
            <a:r>
              <a:rPr lang="en-US" sz="2400" dirty="0" err="1" smtClean="0">
                <a:latin typeface="Times New Roman" pitchFamily="18" charset="0"/>
                <a:cs typeface="Times New Roman" pitchFamily="18" charset="0"/>
              </a:rPr>
              <a:t>Hebb</a:t>
            </a:r>
            <a:r>
              <a:rPr lang="en-US" sz="2400" dirty="0" smtClean="0">
                <a:latin typeface="Times New Roman" pitchFamily="18" charset="0"/>
                <a:cs typeface="Times New Roman" pitchFamily="18" charset="0"/>
              </a:rPr>
              <a:t> explained it: “When an axon of the cell A is near enough to excite cell B, and repeatedly and permanently takes place in firing it, some growth process or metabolic change take place in one or both the cell such that A’s efficiency, as one of the cells firing B, is increased.”</a:t>
            </a:r>
          </a:p>
          <a:p>
            <a:pPr algn="just"/>
            <a:r>
              <a:rPr lang="en-US" sz="2400" dirty="0" smtClean="0">
                <a:latin typeface="Times New Roman" pitchFamily="18" charset="0"/>
                <a:cs typeface="Times New Roman" pitchFamily="18" charset="0"/>
              </a:rPr>
              <a:t>According to the </a:t>
            </a:r>
            <a:r>
              <a:rPr lang="en-US" sz="2400" dirty="0" err="1" smtClean="0">
                <a:latin typeface="Times New Roman" pitchFamily="18" charset="0"/>
                <a:cs typeface="Times New Roman" pitchFamily="18" charset="0"/>
              </a:rPr>
              <a:t>Hebb</a:t>
            </a:r>
            <a:r>
              <a:rPr lang="en-US" sz="2400" dirty="0" smtClean="0">
                <a:latin typeface="Times New Roman" pitchFamily="18" charset="0"/>
                <a:cs typeface="Times New Roman" pitchFamily="18" charset="0"/>
              </a:rPr>
              <a:t> rule, the weight vector is found to increase proportionately to the product of the input and the learning signal and the learning signal = neuron's output.</a:t>
            </a:r>
          </a:p>
          <a:p>
            <a:pPr algn="just"/>
            <a:r>
              <a:rPr lang="en-US" sz="2400" dirty="0" smtClean="0">
                <a:latin typeface="Times New Roman" pitchFamily="18" charset="0"/>
                <a:cs typeface="Times New Roman" pitchFamily="18" charset="0"/>
              </a:rPr>
              <a:t>In </a:t>
            </a:r>
            <a:r>
              <a:rPr lang="en-US" sz="2400" dirty="0" err="1" smtClean="0">
                <a:latin typeface="Times New Roman" pitchFamily="18" charset="0"/>
                <a:cs typeface="Times New Roman" pitchFamily="18" charset="0"/>
              </a:rPr>
              <a:t>Hebb</a:t>
            </a:r>
            <a:r>
              <a:rPr lang="en-US" sz="2400" dirty="0" smtClean="0">
                <a:latin typeface="Times New Roman" pitchFamily="18" charset="0"/>
                <a:cs typeface="Times New Roman" pitchFamily="18" charset="0"/>
              </a:rPr>
              <a:t> learning, if two interconnected neuron’s are ‘on’ simultaneously then the weights associated with these neurons can be increased by the modification made in their synaptic gap. </a:t>
            </a:r>
          </a:p>
          <a:p>
            <a:pPr algn="just">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324088" cy="533400"/>
          </a:xfrm>
        </p:spPr>
        <p:txBody>
          <a:bodyPr>
            <a:noAutofit/>
          </a:bodyPr>
          <a:lstStyle/>
          <a:p>
            <a:r>
              <a:rPr lang="en-US" sz="3600" dirty="0" err="1" smtClean="0">
                <a:latin typeface="Times New Roman" pitchFamily="18" charset="0"/>
                <a:cs typeface="Times New Roman" pitchFamily="18" charset="0"/>
              </a:rPr>
              <a:t>Hebb</a:t>
            </a:r>
            <a:r>
              <a:rPr lang="en-US" sz="3600" dirty="0" smtClean="0">
                <a:latin typeface="Times New Roman" pitchFamily="18" charset="0"/>
                <a:cs typeface="Times New Roman" pitchFamily="18" charset="0"/>
              </a:rPr>
              <a:t> Neural network</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685800"/>
            <a:ext cx="8400288" cy="5943600"/>
          </a:xfrm>
        </p:spPr>
        <p:txBody>
          <a:bodyPr>
            <a:normAutofit/>
          </a:bodyPr>
          <a:lstStyle/>
          <a:p>
            <a:pPr algn="just"/>
            <a:r>
              <a:rPr lang="en-US" sz="2400" dirty="0" smtClean="0">
                <a:latin typeface="Times New Roman" pitchFamily="18" charset="0"/>
                <a:cs typeface="Times New Roman" pitchFamily="18" charset="0"/>
              </a:rPr>
              <a:t>The weights updates in </a:t>
            </a:r>
            <a:r>
              <a:rPr lang="en-US" sz="2400" dirty="0" err="1" smtClean="0">
                <a:latin typeface="Times New Roman" pitchFamily="18" charset="0"/>
                <a:cs typeface="Times New Roman" pitchFamily="18" charset="0"/>
              </a:rPr>
              <a:t>Hebb</a:t>
            </a:r>
            <a:r>
              <a:rPr lang="en-US" sz="2400" dirty="0" smtClean="0">
                <a:latin typeface="Times New Roman" pitchFamily="18" charset="0"/>
                <a:cs typeface="Times New Roman" pitchFamily="18" charset="0"/>
              </a:rPr>
              <a:t> rule is given by</a:t>
            </a:r>
          </a:p>
          <a:p>
            <a:pPr algn="just">
              <a:buNone/>
            </a:pPr>
            <a:r>
              <a:rPr lang="en-US" sz="2400"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wi</a:t>
            </a:r>
            <a:r>
              <a:rPr lang="en-US" sz="2400" dirty="0" smtClean="0">
                <a:latin typeface="Times New Roman" pitchFamily="18" charset="0"/>
                <a:cs typeface="Times New Roman" pitchFamily="18" charset="0"/>
              </a:rPr>
              <a:t>(new) = </a:t>
            </a:r>
            <a:r>
              <a:rPr lang="en-US" sz="2400" i="1" dirty="0" err="1" smtClean="0">
                <a:latin typeface="Times New Roman" pitchFamily="18" charset="0"/>
                <a:cs typeface="Times New Roman" pitchFamily="18" charset="0"/>
              </a:rPr>
              <a:t>wi</a:t>
            </a:r>
            <a:r>
              <a:rPr lang="en-US" sz="2400" dirty="0" smtClean="0">
                <a:latin typeface="Times New Roman" pitchFamily="18" charset="0"/>
                <a:cs typeface="Times New Roman" pitchFamily="18" charset="0"/>
              </a:rPr>
              <a:t>(old) + </a:t>
            </a:r>
            <a:r>
              <a:rPr lang="en-US" sz="2400" i="1" dirty="0" err="1" smtClean="0">
                <a:latin typeface="Times New Roman" pitchFamily="18" charset="0"/>
                <a:cs typeface="Times New Roman" pitchFamily="18" charset="0"/>
              </a:rPr>
              <a:t>x</a:t>
            </a:r>
            <a:r>
              <a:rPr lang="en-US" sz="2400" baseline="-25000" dirty="0" err="1" smtClean="0">
                <a:latin typeface="Times New Roman" pitchFamily="18" charset="0"/>
                <a:cs typeface="Times New Roman" pitchFamily="18" charset="0"/>
              </a:rPr>
              <a:t>i</a:t>
            </a:r>
            <a:r>
              <a:rPr lang="en-US" sz="2400" i="1" dirty="0" err="1" smtClean="0">
                <a:latin typeface="Times New Roman" pitchFamily="18" charset="0"/>
                <a:cs typeface="Times New Roman" pitchFamily="18" charset="0"/>
              </a:rPr>
              <a:t>y</a:t>
            </a:r>
            <a:endParaRPr lang="en-US" sz="2400" i="1"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err="1" smtClean="0">
                <a:latin typeface="Times New Roman" pitchFamily="18" charset="0"/>
                <a:cs typeface="Times New Roman" pitchFamily="18" charset="0"/>
              </a:rPr>
              <a:t>Hebb</a:t>
            </a:r>
            <a:r>
              <a:rPr lang="en-US" sz="2400" dirty="0" smtClean="0">
                <a:latin typeface="Times New Roman" pitchFamily="18" charset="0"/>
                <a:cs typeface="Times New Roman" pitchFamily="18" charset="0"/>
              </a:rPr>
              <a:t> rule is more suited for bipolar data than binary data. </a:t>
            </a:r>
          </a:p>
          <a:p>
            <a:pPr algn="just"/>
            <a:r>
              <a:rPr lang="en-US" sz="2400" dirty="0" smtClean="0">
                <a:latin typeface="Times New Roman" pitchFamily="18" charset="0"/>
                <a:cs typeface="Times New Roman" pitchFamily="18" charset="0"/>
              </a:rPr>
              <a:t>If we used the binary data, the above weight updation formula can not distinguish two condition namely:</a:t>
            </a:r>
          </a:p>
          <a:p>
            <a:pPr lvl="1" algn="just"/>
            <a:r>
              <a:rPr lang="en-US" sz="2000" dirty="0" smtClean="0">
                <a:latin typeface="Times New Roman" pitchFamily="18" charset="0"/>
                <a:cs typeface="Times New Roman" pitchFamily="18" charset="0"/>
              </a:rPr>
              <a:t>A training pair in which an input unit is ‘on’ and target value is ‘off’.</a:t>
            </a:r>
          </a:p>
          <a:p>
            <a:pPr lvl="1" algn="just"/>
            <a:r>
              <a:rPr lang="en-US" sz="2000" dirty="0" smtClean="0">
                <a:latin typeface="Times New Roman" pitchFamily="18" charset="0"/>
                <a:cs typeface="Times New Roman" pitchFamily="18" charset="0"/>
              </a:rPr>
              <a:t>A training pair in which both input unit and target value are ‘off’.</a:t>
            </a:r>
          </a:p>
          <a:p>
            <a:pPr algn="just"/>
            <a:r>
              <a:rPr lang="en-US" sz="2400" b="1" dirty="0" smtClean="0">
                <a:latin typeface="Times New Roman" pitchFamily="18" charset="0"/>
                <a:cs typeface="Times New Roman" pitchFamily="18" charset="0"/>
              </a:rPr>
              <a:t>Training algorithm</a:t>
            </a:r>
            <a:r>
              <a:rPr lang="en-US" sz="2400" dirty="0" smtClean="0">
                <a:latin typeface="Times New Roman" pitchFamily="18" charset="0"/>
                <a:cs typeface="Times New Roman" pitchFamily="18" charset="0"/>
              </a:rPr>
              <a:t> </a:t>
            </a:r>
          </a:p>
          <a:p>
            <a:pPr lvl="1" algn="just"/>
            <a:r>
              <a:rPr lang="en-US" sz="2000" dirty="0" smtClean="0">
                <a:latin typeface="Times New Roman" pitchFamily="18" charset="0"/>
                <a:cs typeface="Times New Roman" pitchFamily="18" charset="0"/>
              </a:rPr>
              <a:t>The training algorithm is used for the calculation and adjustment of weights.</a:t>
            </a:r>
          </a:p>
          <a:p>
            <a:pPr algn="just"/>
            <a:r>
              <a:rPr lang="en-US" sz="2400" b="1" dirty="0" smtClean="0">
                <a:latin typeface="Times New Roman" pitchFamily="18" charset="0"/>
                <a:cs typeface="Times New Roman" pitchFamily="18" charset="0"/>
              </a:rPr>
              <a:t>Step 0:</a:t>
            </a:r>
            <a:r>
              <a:rPr lang="en-US" sz="2400" dirty="0" smtClean="0">
                <a:latin typeface="Times New Roman" pitchFamily="18" charset="0"/>
                <a:cs typeface="Times New Roman" pitchFamily="18" charset="0"/>
              </a:rPr>
              <a:t> First initialize the weights. Basically in the network they may be set to zero, i.e., </a:t>
            </a:r>
            <a:r>
              <a:rPr lang="en-US" sz="2400" dirty="0" err="1" smtClean="0">
                <a:latin typeface="Times New Roman" pitchFamily="18" charset="0"/>
                <a:cs typeface="Times New Roman" pitchFamily="18" charset="0"/>
              </a:rPr>
              <a:t>w</a:t>
            </a:r>
            <a:r>
              <a:rPr lang="en-US" sz="2400" i="1" baseline="-250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0 for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1 to n where n = total number of input neurons.</a:t>
            </a:r>
          </a:p>
          <a:p>
            <a:pPr lvl="1"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400288" cy="533400"/>
          </a:xfrm>
        </p:spPr>
        <p:txBody>
          <a:bodyPr>
            <a:noAutofit/>
          </a:bodyPr>
          <a:lstStyle/>
          <a:p>
            <a:r>
              <a:rPr lang="en-US" sz="3600" dirty="0" err="1" smtClean="0">
                <a:latin typeface="Times New Roman" pitchFamily="18" charset="0"/>
                <a:cs typeface="Times New Roman" pitchFamily="18" charset="0"/>
              </a:rPr>
              <a:t>Hebb</a:t>
            </a:r>
            <a:r>
              <a:rPr lang="en-US" sz="3600" dirty="0" smtClean="0">
                <a:latin typeface="Times New Roman" pitchFamily="18" charset="0"/>
                <a:cs typeface="Times New Roman" pitchFamily="18" charset="0"/>
              </a:rPr>
              <a:t> Neural network</a:t>
            </a:r>
            <a:endParaRPr lang="en-US" sz="3600" dirty="0"/>
          </a:p>
        </p:txBody>
      </p:sp>
      <p:sp>
        <p:nvSpPr>
          <p:cNvPr id="3" name="Content Placeholder 2"/>
          <p:cNvSpPr>
            <a:spLocks noGrp="1"/>
          </p:cNvSpPr>
          <p:nvPr>
            <p:ph idx="1"/>
          </p:nvPr>
        </p:nvSpPr>
        <p:spPr>
          <a:xfrm>
            <a:off x="381000" y="533400"/>
            <a:ext cx="8552688" cy="6096000"/>
          </a:xfrm>
        </p:spPr>
        <p:txBody>
          <a:bodyPr>
            <a:normAutofit fontScale="92500" lnSpcReduction="20000"/>
          </a:bodyPr>
          <a:lstStyle/>
          <a:p>
            <a:pPr algn="just">
              <a:buNone/>
            </a:pPr>
            <a:r>
              <a:rPr lang="en-US" sz="2400" b="1" dirty="0" smtClean="0">
                <a:latin typeface="Times New Roman" pitchFamily="18" charset="0"/>
                <a:cs typeface="Times New Roman" pitchFamily="18" charset="0"/>
              </a:rPr>
              <a:t>Step 1: </a:t>
            </a:r>
            <a:r>
              <a:rPr lang="en-US" sz="2400" dirty="0" smtClean="0">
                <a:latin typeface="Times New Roman" pitchFamily="18" charset="0"/>
                <a:cs typeface="Times New Roman" pitchFamily="18" charset="0"/>
              </a:rPr>
              <a:t>Steps 2-4 have to be performed for each input training vector and target output pair, </a:t>
            </a:r>
            <a:r>
              <a:rPr lang="en-US" sz="2400" i="1" dirty="0" smtClean="0">
                <a:latin typeface="Times New Roman" pitchFamily="18" charset="0"/>
                <a:cs typeface="Times New Roman" pitchFamily="18" charset="0"/>
              </a:rPr>
              <a:t>s:t</a:t>
            </a:r>
            <a:r>
              <a:rPr lang="en-US" sz="2400" dirty="0" smtClean="0">
                <a:latin typeface="Times New Roman" pitchFamily="18" charset="0"/>
                <a:cs typeface="Times New Roman" pitchFamily="18" charset="0"/>
              </a:rPr>
              <a:t>.</a:t>
            </a:r>
          </a:p>
          <a:p>
            <a:pPr algn="just">
              <a:buNone/>
            </a:pPr>
            <a:r>
              <a:rPr lang="en-US" sz="2400" b="1" dirty="0" smtClean="0">
                <a:latin typeface="Times New Roman" pitchFamily="18" charset="0"/>
                <a:cs typeface="Times New Roman" pitchFamily="18" charset="0"/>
              </a:rPr>
              <a:t>Step 2: </a:t>
            </a:r>
            <a:r>
              <a:rPr lang="en-US" sz="2400" dirty="0" smtClean="0">
                <a:latin typeface="Times New Roman" pitchFamily="18" charset="0"/>
                <a:cs typeface="Times New Roman" pitchFamily="18" charset="0"/>
              </a:rPr>
              <a:t>Input unit activations are set. Generally, the activation function of input layer is identity function: </a:t>
            </a:r>
            <a:r>
              <a:rPr lang="en-US" sz="2400" i="1" dirty="0" smtClean="0">
                <a:latin typeface="Times New Roman" pitchFamily="18" charset="0"/>
                <a:cs typeface="Times New Roman" pitchFamily="18" charset="0"/>
              </a:rPr>
              <a:t>x</a:t>
            </a:r>
            <a:r>
              <a:rPr lang="en-US" sz="2400" i="1" baseline="-25000" dirty="0"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s</a:t>
            </a:r>
            <a:r>
              <a:rPr lang="en-US" sz="2400" i="1" baseline="-250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for </a:t>
            </a:r>
            <a:r>
              <a:rPr lang="en-US" sz="2400" i="1"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1 to </a:t>
            </a:r>
            <a:r>
              <a:rPr lang="en-US" sz="2400" i="1" dirty="0" smtClean="0">
                <a:latin typeface="Times New Roman" pitchFamily="18" charset="0"/>
                <a:cs typeface="Times New Roman" pitchFamily="18" charset="0"/>
              </a:rPr>
              <a:t>n.</a:t>
            </a:r>
          </a:p>
          <a:p>
            <a:pPr algn="just">
              <a:buNone/>
            </a:pPr>
            <a:r>
              <a:rPr lang="en-US" sz="2400" b="1" dirty="0" smtClean="0">
                <a:latin typeface="Times New Roman" pitchFamily="18" charset="0"/>
                <a:cs typeface="Times New Roman" pitchFamily="18" charset="0"/>
              </a:rPr>
              <a:t>Step 3: </a:t>
            </a:r>
            <a:r>
              <a:rPr lang="en-US" sz="2400" dirty="0" smtClean="0">
                <a:latin typeface="Times New Roman" pitchFamily="18" charset="0"/>
                <a:cs typeface="Times New Roman" pitchFamily="18" charset="0"/>
              </a:rPr>
              <a:t>Output unit activation function are set: </a:t>
            </a:r>
            <a:r>
              <a:rPr lang="en-US" sz="2400" i="1" dirty="0" smtClean="0">
                <a:latin typeface="Times New Roman" pitchFamily="18" charset="0"/>
                <a:cs typeface="Times New Roman" pitchFamily="18" charset="0"/>
              </a:rPr>
              <a:t>y</a:t>
            </a:r>
            <a:r>
              <a:rPr lang="en-US" sz="2400" dirty="0" smtClean="0">
                <a:latin typeface="Times New Roman" pitchFamily="18" charset="0"/>
                <a:cs typeface="Times New Roman" pitchFamily="18" charset="0"/>
              </a:rPr>
              <a:t> = </a:t>
            </a:r>
            <a:r>
              <a:rPr lang="en-US" sz="2400" i="1" dirty="0" smtClean="0">
                <a:latin typeface="Times New Roman" pitchFamily="18" charset="0"/>
                <a:cs typeface="Times New Roman" pitchFamily="18" charset="0"/>
              </a:rPr>
              <a:t>t</a:t>
            </a:r>
            <a:r>
              <a:rPr lang="en-US" sz="2400" dirty="0" smtClean="0">
                <a:latin typeface="Times New Roman" pitchFamily="18" charset="0"/>
                <a:cs typeface="Times New Roman" pitchFamily="18" charset="0"/>
              </a:rPr>
              <a:t>.</a:t>
            </a:r>
          </a:p>
          <a:p>
            <a:pPr algn="just">
              <a:buNone/>
            </a:pPr>
            <a:r>
              <a:rPr lang="en-US" sz="2400" b="1" dirty="0" smtClean="0">
                <a:latin typeface="Times New Roman" pitchFamily="18" charset="0"/>
                <a:cs typeface="Times New Roman" pitchFamily="18" charset="0"/>
              </a:rPr>
              <a:t>Step 4: </a:t>
            </a:r>
            <a:r>
              <a:rPr lang="en-US" sz="2400" dirty="0" smtClean="0">
                <a:latin typeface="Times New Roman" pitchFamily="18" charset="0"/>
                <a:cs typeface="Times New Roman" pitchFamily="18" charset="0"/>
              </a:rPr>
              <a:t>Weight adjustments are bias adjustments are performed:</a:t>
            </a:r>
          </a:p>
          <a:p>
            <a:pPr algn="just">
              <a:buNone/>
            </a:pPr>
            <a:r>
              <a:rPr lang="en-US" sz="2400"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(new) = </a:t>
            </a:r>
            <a:r>
              <a:rPr lang="en-US" sz="2400" i="1"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(old) +</a:t>
            </a:r>
            <a:r>
              <a:rPr lang="en-US" sz="2400" i="1" dirty="0" err="1" smtClean="0">
                <a:latin typeface="Times New Roman" pitchFamily="18" charset="0"/>
                <a:cs typeface="Times New Roman" pitchFamily="18" charset="0"/>
              </a:rPr>
              <a:t>x</a:t>
            </a:r>
            <a:r>
              <a:rPr lang="en-US" sz="2400" i="1" baseline="-25000" dirty="0" err="1" smtClean="0">
                <a:latin typeface="Times New Roman" pitchFamily="18" charset="0"/>
                <a:cs typeface="Times New Roman" pitchFamily="18" charset="0"/>
              </a:rPr>
              <a:t>i</a:t>
            </a:r>
            <a:r>
              <a:rPr lang="en-US" sz="2400" i="1" dirty="0" err="1" smtClean="0">
                <a:latin typeface="Times New Roman" pitchFamily="18" charset="0"/>
                <a:cs typeface="Times New Roman" pitchFamily="18" charset="0"/>
              </a:rPr>
              <a:t>y</a:t>
            </a:r>
            <a:endParaRPr lang="en-US" sz="2400" i="1" dirty="0" smtClean="0">
              <a:latin typeface="Times New Roman" pitchFamily="18" charset="0"/>
              <a:cs typeface="Times New Roman" pitchFamily="18" charset="0"/>
            </a:endParaRPr>
          </a:p>
          <a:p>
            <a:pPr algn="just">
              <a:buNone/>
            </a:pPr>
            <a:r>
              <a:rPr lang="en-US" sz="2400" b="1" i="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b</a:t>
            </a:r>
            <a:r>
              <a:rPr lang="en-US" sz="2400" dirty="0" smtClean="0">
                <a:latin typeface="Times New Roman" pitchFamily="18" charset="0"/>
                <a:cs typeface="Times New Roman" pitchFamily="18" charset="0"/>
              </a:rPr>
              <a:t>(new) = </a:t>
            </a:r>
            <a:r>
              <a:rPr lang="en-US" sz="2400" i="1" dirty="0" smtClean="0">
                <a:latin typeface="Times New Roman" pitchFamily="18" charset="0"/>
                <a:cs typeface="Times New Roman" pitchFamily="18" charset="0"/>
              </a:rPr>
              <a:t>b</a:t>
            </a:r>
            <a:r>
              <a:rPr lang="en-US" sz="2400" dirty="0" smtClean="0">
                <a:latin typeface="Times New Roman" pitchFamily="18" charset="0"/>
                <a:cs typeface="Times New Roman" pitchFamily="18" charset="0"/>
              </a:rPr>
              <a:t>(old) + </a:t>
            </a:r>
            <a:r>
              <a:rPr lang="en-US" sz="2400" i="1" dirty="0" smtClean="0">
                <a:latin typeface="Times New Roman" pitchFamily="18" charset="0"/>
                <a:cs typeface="Times New Roman" pitchFamily="18" charset="0"/>
              </a:rPr>
              <a:t>y</a:t>
            </a:r>
          </a:p>
          <a:p>
            <a:pPr algn="just">
              <a:buNone/>
            </a:pPr>
            <a:r>
              <a:rPr lang="en-US" sz="2400" dirty="0" smtClean="0">
                <a:latin typeface="Times New Roman" pitchFamily="18" charset="0"/>
                <a:cs typeface="Times New Roman" pitchFamily="18" charset="0"/>
              </a:rPr>
              <a:t>The above five steps complete the algorithm process. The weight updation formula can be given in vector forms as</a:t>
            </a:r>
          </a:p>
          <a:p>
            <a:pPr algn="just">
              <a:buNone/>
            </a:pP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w</a:t>
            </a:r>
            <a:r>
              <a:rPr lang="en-US" sz="2400" dirty="0" smtClean="0">
                <a:latin typeface="Times New Roman" pitchFamily="18" charset="0"/>
                <a:cs typeface="Times New Roman" pitchFamily="18" charset="0"/>
              </a:rPr>
              <a:t>(new) = </a:t>
            </a:r>
            <a:r>
              <a:rPr lang="en-US" sz="2400" i="1" dirty="0" smtClean="0">
                <a:latin typeface="Times New Roman" pitchFamily="18" charset="0"/>
                <a:cs typeface="Times New Roman" pitchFamily="18" charset="0"/>
              </a:rPr>
              <a:t>w</a:t>
            </a:r>
            <a:r>
              <a:rPr lang="en-US" sz="2400" dirty="0" smtClean="0">
                <a:latin typeface="Times New Roman" pitchFamily="18" charset="0"/>
                <a:cs typeface="Times New Roman" pitchFamily="18" charset="0"/>
              </a:rPr>
              <a:t>(old) + </a:t>
            </a:r>
            <a:r>
              <a:rPr lang="en-US" sz="2400" i="1" dirty="0" err="1" smtClean="0">
                <a:latin typeface="Times New Roman" pitchFamily="18" charset="0"/>
                <a:cs typeface="Times New Roman" pitchFamily="18" charset="0"/>
              </a:rPr>
              <a:t>xy</a:t>
            </a:r>
            <a:endParaRPr lang="en-US" sz="2400" i="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Here the change in weight can be expressed as</a:t>
            </a:r>
          </a:p>
          <a:p>
            <a:pPr algn="just">
              <a:buNone/>
            </a:pPr>
            <a:r>
              <a:rPr lang="en-US" sz="2400" dirty="0" smtClean="0">
                <a:latin typeface="Times New Roman" pitchFamily="18" charset="0"/>
                <a:cs typeface="Times New Roman" pitchFamily="18" charset="0"/>
              </a:rPr>
              <a:t>                             </a:t>
            </a:r>
            <a:r>
              <a:rPr lang="el-GR" sz="2400" dirty="0" smtClean="0">
                <a:latin typeface="Times New Roman" pitchFamily="18" charset="0"/>
                <a:cs typeface="Times New Roman" pitchFamily="18" charset="0"/>
              </a:rPr>
              <a:t>Δ</a:t>
            </a:r>
            <a:r>
              <a:rPr lang="en-US" sz="2400" i="1" dirty="0" smtClean="0">
                <a:latin typeface="Times New Roman" pitchFamily="18" charset="0"/>
                <a:cs typeface="Times New Roman" pitchFamily="18" charset="0"/>
              </a:rPr>
              <a:t>w</a:t>
            </a:r>
            <a:r>
              <a:rPr lang="en-US" sz="2400" dirty="0" smtClean="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xy</a:t>
            </a:r>
            <a:endParaRPr lang="en-US" sz="2400" i="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As a result,</a:t>
            </a:r>
          </a:p>
          <a:p>
            <a:pPr algn="just">
              <a:buNone/>
            </a:pP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w</a:t>
            </a:r>
            <a:r>
              <a:rPr lang="en-US" sz="2400" dirty="0" smtClean="0">
                <a:latin typeface="Times New Roman" pitchFamily="18" charset="0"/>
                <a:cs typeface="Times New Roman" pitchFamily="18" charset="0"/>
              </a:rPr>
              <a:t>(new) = </a:t>
            </a:r>
            <a:r>
              <a:rPr lang="en-US" sz="2400" i="1" dirty="0" smtClean="0">
                <a:latin typeface="Times New Roman" pitchFamily="18" charset="0"/>
                <a:cs typeface="Times New Roman" pitchFamily="18" charset="0"/>
              </a:rPr>
              <a:t>w</a:t>
            </a:r>
            <a:r>
              <a:rPr lang="en-US" sz="2400" dirty="0" smtClean="0">
                <a:latin typeface="Times New Roman" pitchFamily="18" charset="0"/>
                <a:cs typeface="Times New Roman" pitchFamily="18" charset="0"/>
              </a:rPr>
              <a:t>(old) + </a:t>
            </a:r>
            <a:r>
              <a:rPr lang="el-GR" sz="2400" dirty="0" smtClean="0">
                <a:latin typeface="Times New Roman" pitchFamily="18" charset="0"/>
                <a:cs typeface="Times New Roman" pitchFamily="18" charset="0"/>
              </a:rPr>
              <a:t>Δ</a:t>
            </a:r>
            <a:r>
              <a:rPr lang="en-US" sz="2400" i="1" dirty="0" smtClean="0">
                <a:latin typeface="Times New Roman" pitchFamily="18" charset="0"/>
                <a:cs typeface="Times New Roman" pitchFamily="18" charset="0"/>
              </a:rPr>
              <a:t>w</a:t>
            </a:r>
          </a:p>
          <a:p>
            <a:pPr algn="just">
              <a:buNone/>
            </a:pPr>
            <a:r>
              <a:rPr lang="en-US" sz="2400" i="1" dirty="0" smtClean="0">
                <a:latin typeface="Times New Roman" pitchFamily="18" charset="0"/>
                <a:cs typeface="Times New Roman" pitchFamily="18" charset="0"/>
              </a:rPr>
              <a:t>The </a:t>
            </a:r>
            <a:r>
              <a:rPr lang="en-US" sz="2400" i="1" dirty="0" err="1" smtClean="0">
                <a:latin typeface="Times New Roman" pitchFamily="18" charset="0"/>
                <a:cs typeface="Times New Roman" pitchFamily="18" charset="0"/>
              </a:rPr>
              <a:t>Hebb</a:t>
            </a:r>
            <a:r>
              <a:rPr lang="en-US" sz="2400" i="1" dirty="0" smtClean="0">
                <a:latin typeface="Times New Roman" pitchFamily="18" charset="0"/>
                <a:cs typeface="Times New Roman" pitchFamily="18" charset="0"/>
              </a:rPr>
              <a:t> rule can be used for pattern association, pattern categorization, pattern classification and over the range of other area.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476488" cy="685800"/>
          </a:xfrm>
        </p:spPr>
        <p:txBody>
          <a:bodyPr>
            <a:normAutofit/>
          </a:bodyPr>
          <a:lstStyle/>
          <a:p>
            <a:r>
              <a:rPr lang="en-US" sz="3600" dirty="0" smtClean="0">
                <a:latin typeface="Times New Roman" pitchFamily="18" charset="0"/>
                <a:cs typeface="Times New Roman" pitchFamily="18" charset="0"/>
              </a:rPr>
              <a:t>Supervised learning network</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838200"/>
            <a:ext cx="8400288" cy="5410200"/>
          </a:xfrm>
        </p:spPr>
        <p:txBody>
          <a:bodyPr>
            <a:normAutofit/>
          </a:bodyPr>
          <a:lstStyle/>
          <a:p>
            <a:r>
              <a:rPr lang="en-US" sz="2400" dirty="0" smtClean="0">
                <a:latin typeface="Times New Roman" pitchFamily="18" charset="0"/>
                <a:cs typeface="Times New Roman" pitchFamily="18" charset="0"/>
              </a:rPr>
              <a:t>In supervised learning network, the following topics have been discussed in details:</a:t>
            </a:r>
          </a:p>
          <a:p>
            <a:pPr lvl="1"/>
            <a:r>
              <a:rPr lang="en-US" sz="2000" dirty="0" smtClean="0">
                <a:latin typeface="Times New Roman" pitchFamily="18" charset="0"/>
                <a:cs typeface="Times New Roman" pitchFamily="18" charset="0"/>
              </a:rPr>
              <a:t>Perceptron Network</a:t>
            </a:r>
          </a:p>
          <a:p>
            <a:pPr lvl="1"/>
            <a:r>
              <a:rPr lang="en-US" sz="2000" dirty="0" smtClean="0">
                <a:latin typeface="Times New Roman" pitchFamily="18" charset="0"/>
                <a:cs typeface="Times New Roman" pitchFamily="18" charset="0"/>
              </a:rPr>
              <a:t>Adaptive linear neurons (Adaline) </a:t>
            </a:r>
          </a:p>
          <a:p>
            <a:pPr lvl="1"/>
            <a:r>
              <a:rPr lang="en-US" sz="2000" dirty="0" smtClean="0">
                <a:latin typeface="Times New Roman" pitchFamily="18" charset="0"/>
                <a:cs typeface="Times New Roman" pitchFamily="18" charset="0"/>
              </a:rPr>
              <a:t>Back-propagation Network</a:t>
            </a:r>
          </a:p>
          <a:p>
            <a:pPr lvl="1"/>
            <a:r>
              <a:rPr lang="en-US" sz="2000" dirty="0" smtClean="0">
                <a:latin typeface="Times New Roman" pitchFamily="18" charset="0"/>
                <a:cs typeface="Times New Roman" pitchFamily="18" charset="0"/>
              </a:rPr>
              <a:t>Radial basis function network</a:t>
            </a:r>
          </a:p>
          <a:p>
            <a:r>
              <a:rPr lang="en-US" sz="2400" b="1" dirty="0" smtClean="0">
                <a:latin typeface="Times New Roman" pitchFamily="18" charset="0"/>
                <a:cs typeface="Times New Roman" pitchFamily="18" charset="0"/>
              </a:rPr>
              <a:t>Perceptron Networks </a:t>
            </a:r>
          </a:p>
          <a:p>
            <a:pPr lvl="1"/>
            <a:r>
              <a:rPr lang="en-US" sz="2000" dirty="0" smtClean="0">
                <a:latin typeface="Times New Roman" pitchFamily="18" charset="0"/>
                <a:cs typeface="Times New Roman" pitchFamily="18" charset="0"/>
              </a:rPr>
              <a:t>Perceptron networks come under single – layer feed forward networks and are also called simple </a:t>
            </a:r>
            <a:r>
              <a:rPr lang="en-US" sz="2000" dirty="0" err="1" smtClean="0">
                <a:latin typeface="Times New Roman" pitchFamily="18" charset="0"/>
                <a:cs typeface="Times New Roman" pitchFamily="18" charset="0"/>
              </a:rPr>
              <a:t>perceptrons</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The simple perceptron network was discovered by Block in 1962.</a:t>
            </a:r>
          </a:p>
          <a:p>
            <a:pPr lvl="1"/>
            <a:r>
              <a:rPr lang="en-US" sz="2000" dirty="0" smtClean="0">
                <a:latin typeface="Times New Roman" pitchFamily="18" charset="0"/>
                <a:cs typeface="Times New Roman" pitchFamily="18" charset="0"/>
              </a:rPr>
              <a:t>The key points to be noted in a perceptron network are:</a:t>
            </a:r>
          </a:p>
          <a:p>
            <a:pPr marL="539496" indent="-457200">
              <a:buFont typeface="+mj-lt"/>
              <a:buAutoNum type="arabicPeriod"/>
            </a:pPr>
            <a:r>
              <a:rPr lang="en-US" sz="2400" dirty="0" smtClean="0">
                <a:latin typeface="Times New Roman" pitchFamily="18" charset="0"/>
                <a:cs typeface="Times New Roman" pitchFamily="18" charset="0"/>
              </a:rPr>
              <a:t>The perceptron network consists of three units that are sensory unit (input unit), associator unit (hidden unit), response unit (output unit).</a:t>
            </a:r>
          </a:p>
          <a:p>
            <a:pPr>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705088" cy="609600"/>
          </a:xfrm>
        </p:spPr>
        <p:txBody>
          <a:bodyPr>
            <a:noAutofit/>
          </a:bodyPr>
          <a:lstStyle/>
          <a:p>
            <a:r>
              <a:rPr lang="en-US" sz="3600" b="1" dirty="0" smtClean="0">
                <a:latin typeface="Times New Roman" pitchFamily="18" charset="0"/>
                <a:cs typeface="Times New Roman" pitchFamily="18" charset="0"/>
              </a:rPr>
              <a:t>Perceptron Networks </a:t>
            </a:r>
            <a:br>
              <a:rPr lang="en-US" sz="3600" b="1" dirty="0" smtClean="0">
                <a:latin typeface="Times New Roman" pitchFamily="18" charset="0"/>
                <a:cs typeface="Times New Roman" pitchFamily="18" charset="0"/>
              </a:rPr>
            </a:br>
            <a:endParaRPr lang="en-US" sz="3600" dirty="0"/>
          </a:p>
        </p:txBody>
      </p:sp>
      <p:sp>
        <p:nvSpPr>
          <p:cNvPr id="3" name="Content Placeholder 2"/>
          <p:cNvSpPr>
            <a:spLocks noGrp="1"/>
          </p:cNvSpPr>
          <p:nvPr>
            <p:ph idx="1"/>
          </p:nvPr>
        </p:nvSpPr>
        <p:spPr>
          <a:xfrm>
            <a:off x="609600" y="533400"/>
            <a:ext cx="8153400" cy="5867400"/>
          </a:xfrm>
        </p:spPr>
        <p:txBody>
          <a:bodyPr>
            <a:normAutofit/>
          </a:bodyPr>
          <a:lstStyle/>
          <a:p>
            <a:pPr marL="596646" indent="-514350" algn="just">
              <a:buFont typeface="+mj-lt"/>
              <a:buAutoNum type="arabicPeriod" startAt="2"/>
            </a:pPr>
            <a:r>
              <a:rPr lang="en-US" sz="2400" dirty="0" smtClean="0">
                <a:latin typeface="Times New Roman" pitchFamily="18" charset="0"/>
                <a:cs typeface="Times New Roman" pitchFamily="18" charset="0"/>
              </a:rPr>
              <a:t>The sensory units are connected to associator units with fixed weights having value 1, 0, and -1 which are assigned at random.</a:t>
            </a:r>
          </a:p>
          <a:p>
            <a:pPr marL="596646" indent="-514350" algn="just">
              <a:buFont typeface="+mj-lt"/>
              <a:buAutoNum type="arabicPeriod" startAt="2"/>
            </a:pPr>
            <a:r>
              <a:rPr lang="en-US" sz="2400" dirty="0" smtClean="0">
                <a:latin typeface="Times New Roman" pitchFamily="18" charset="0"/>
                <a:cs typeface="Times New Roman" pitchFamily="18" charset="0"/>
              </a:rPr>
              <a:t>The binary activation function is used in sensory unit and associator unit.</a:t>
            </a:r>
          </a:p>
          <a:p>
            <a:pPr marL="596646" indent="-514350" algn="just">
              <a:buFont typeface="+mj-lt"/>
              <a:buAutoNum type="arabicPeriod" startAt="2"/>
            </a:pPr>
            <a:r>
              <a:rPr lang="en-US" sz="2400" dirty="0" smtClean="0">
                <a:latin typeface="Times New Roman" pitchFamily="18" charset="0"/>
                <a:cs typeface="Times New Roman" pitchFamily="18" charset="0"/>
              </a:rPr>
              <a:t>The response unit has an activation of 1, 0, or -1. The binary step with fixed threshold </a:t>
            </a:r>
            <a:r>
              <a:rPr lang="el-GR" sz="2400" dirty="0" smtClean="0">
                <a:latin typeface="Times New Roman" pitchFamily="18" charset="0"/>
                <a:cs typeface="Times New Roman" pitchFamily="18" charset="0"/>
              </a:rPr>
              <a:t>θ</a:t>
            </a:r>
            <a:r>
              <a:rPr lang="en-US" sz="2400" dirty="0" smtClean="0">
                <a:latin typeface="Times New Roman" pitchFamily="18" charset="0"/>
                <a:cs typeface="Times New Roman" pitchFamily="18" charset="0"/>
              </a:rPr>
              <a:t> is used as activation for associator. The output signals that are sent from the associator unit to the response unit are only binary.</a:t>
            </a:r>
          </a:p>
          <a:p>
            <a:pPr marL="596646" indent="-514350" algn="just">
              <a:buFont typeface="+mj-lt"/>
              <a:buAutoNum type="arabicPeriod" startAt="2"/>
            </a:pPr>
            <a:r>
              <a:rPr lang="en-US" sz="2400" dirty="0" smtClean="0">
                <a:latin typeface="Times New Roman" pitchFamily="18" charset="0"/>
                <a:cs typeface="Times New Roman" pitchFamily="18" charset="0"/>
              </a:rPr>
              <a:t>The output of the perceptron network is given by:</a:t>
            </a:r>
          </a:p>
          <a:p>
            <a:pPr marL="596646" indent="-514350" algn="just">
              <a:buNone/>
            </a:pP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y</a:t>
            </a:r>
            <a:r>
              <a:rPr lang="en-US" sz="2400" dirty="0" smtClean="0">
                <a:latin typeface="Times New Roman" pitchFamily="18" charset="0"/>
                <a:cs typeface="Times New Roman" pitchFamily="18" charset="0"/>
              </a:rPr>
              <a:t> = </a:t>
            </a:r>
            <a:r>
              <a:rPr lang="en-US" sz="2400" i="1" dirty="0" smtClean="0">
                <a:latin typeface="Times New Roman" pitchFamily="18" charset="0"/>
                <a:cs typeface="Times New Roman" pitchFamily="18" charset="0"/>
              </a:rPr>
              <a:t>f</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y</a:t>
            </a:r>
            <a:r>
              <a:rPr lang="en-US" sz="2400" i="1" baseline="-25000" dirty="0" smtClean="0">
                <a:latin typeface="Times New Roman" pitchFamily="18" charset="0"/>
                <a:cs typeface="Times New Roman" pitchFamily="18" charset="0"/>
              </a:rPr>
              <a:t>in</a:t>
            </a:r>
            <a:r>
              <a:rPr lang="en-US" sz="2400" dirty="0" smtClean="0">
                <a:latin typeface="Times New Roman" pitchFamily="18" charset="0"/>
                <a:cs typeface="Times New Roman" pitchFamily="18" charset="0"/>
              </a:rPr>
              <a:t>)</a:t>
            </a:r>
          </a:p>
          <a:p>
            <a:pPr marL="596646" indent="-514350" algn="just">
              <a:buNone/>
            </a:pP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Where </a:t>
            </a:r>
            <a:r>
              <a:rPr lang="en-US" sz="2400" i="1" dirty="0" smtClean="0">
                <a:latin typeface="Times New Roman" pitchFamily="18" charset="0"/>
                <a:cs typeface="Times New Roman" pitchFamily="18" charset="0"/>
              </a:rPr>
              <a:t>f</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y</a:t>
            </a:r>
            <a:r>
              <a:rPr lang="en-US" sz="2400" i="1" baseline="-25000" dirty="0" smtClean="0">
                <a:latin typeface="Times New Roman" pitchFamily="18" charset="0"/>
                <a:cs typeface="Times New Roman" pitchFamily="18" charset="0"/>
              </a:rPr>
              <a:t>in</a:t>
            </a:r>
            <a:r>
              <a:rPr lang="en-US" sz="2400" dirty="0" smtClean="0">
                <a:latin typeface="Times New Roman" pitchFamily="18" charset="0"/>
                <a:cs typeface="Times New Roman" pitchFamily="18" charset="0"/>
              </a:rPr>
              <a:t>) is activation function and is defined as</a:t>
            </a:r>
          </a:p>
          <a:p>
            <a:pPr marL="596646" indent="-514350" algn="just">
              <a:buNone/>
            </a:pPr>
            <a:endParaRPr lang="en-US" sz="2400" i="1" dirty="0" smtClean="0">
              <a:latin typeface="Times New Roman" pitchFamily="18" charset="0"/>
              <a:cs typeface="Times New Roman" pitchFamily="18" charset="0"/>
            </a:endParaRPr>
          </a:p>
          <a:p>
            <a:pPr marL="596646" indent="-514350" algn="just">
              <a:buFont typeface="+mj-lt"/>
              <a:buAutoNum type="arabicPeriod" startAt="2"/>
            </a:pPr>
            <a:endParaRPr lang="en-US" sz="24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2895600" y="5334000"/>
          <a:ext cx="3581400" cy="1524000"/>
        </p:xfrm>
        <a:graphic>
          <a:graphicData uri="http://schemas.openxmlformats.org/presentationml/2006/ole">
            <p:oleObj spid="_x0000_s38914" name="Equation" r:id="rId3" imgW="1790640" imgH="939600" progId="Equation.3">
              <p:embed/>
            </p:oleObj>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552688" cy="533400"/>
          </a:xfrm>
        </p:spPr>
        <p:txBody>
          <a:bodyPr>
            <a:noAutofit/>
          </a:bodyPr>
          <a:lstStyle/>
          <a:p>
            <a:r>
              <a:rPr lang="en-US" sz="3600" b="1" dirty="0" smtClean="0">
                <a:latin typeface="Times New Roman" pitchFamily="18" charset="0"/>
                <a:cs typeface="Times New Roman" pitchFamily="18" charset="0"/>
              </a:rPr>
              <a:t>Perceptron Networks </a:t>
            </a:r>
            <a:br>
              <a:rPr lang="en-US" sz="3600" b="1" dirty="0" smtClean="0">
                <a:latin typeface="Times New Roman" pitchFamily="18" charset="0"/>
                <a:cs typeface="Times New Roman" pitchFamily="18" charset="0"/>
              </a:rPr>
            </a:br>
            <a:endParaRPr lang="en-US" sz="3600" dirty="0"/>
          </a:p>
        </p:txBody>
      </p:sp>
      <p:sp>
        <p:nvSpPr>
          <p:cNvPr id="3" name="Content Placeholder 2"/>
          <p:cNvSpPr>
            <a:spLocks noGrp="1"/>
          </p:cNvSpPr>
          <p:nvPr>
            <p:ph idx="1"/>
          </p:nvPr>
        </p:nvSpPr>
        <p:spPr>
          <a:xfrm>
            <a:off x="533400" y="762000"/>
            <a:ext cx="8229600" cy="5791200"/>
          </a:xfrm>
        </p:spPr>
        <p:txBody>
          <a:bodyPr>
            <a:normAutofit/>
          </a:bodyPr>
          <a:lstStyle/>
          <a:p>
            <a:pPr marL="539496" indent="-457200" algn="just">
              <a:buFont typeface="+mj-lt"/>
              <a:buAutoNum type="arabicPeriod" startAt="6"/>
            </a:pPr>
            <a:r>
              <a:rPr lang="en-US" sz="2400" dirty="0" smtClean="0">
                <a:latin typeface="Times New Roman" pitchFamily="18" charset="0"/>
                <a:cs typeface="Times New Roman" pitchFamily="18" charset="0"/>
              </a:rPr>
              <a:t>The perceptron learning rule is used in the weight updation between the associator unit and the response unit. For each training input, the net will calculate the response and it will determine whether or not an error has occurred. </a:t>
            </a:r>
          </a:p>
          <a:p>
            <a:pPr marL="539496" indent="-457200" algn="just">
              <a:buFont typeface="+mj-lt"/>
              <a:buAutoNum type="arabicPeriod" startAt="6"/>
            </a:pPr>
            <a:r>
              <a:rPr lang="en-US" sz="2400" dirty="0" smtClean="0">
                <a:latin typeface="Times New Roman" pitchFamily="18" charset="0"/>
                <a:cs typeface="Times New Roman" pitchFamily="18" charset="0"/>
              </a:rPr>
              <a:t>The error calculation is based on the comparison of the value of targets with those of the calculated output.</a:t>
            </a:r>
          </a:p>
          <a:p>
            <a:pPr marL="539496" indent="-457200" algn="just">
              <a:buFont typeface="+mj-lt"/>
              <a:buAutoNum type="arabicPeriod" startAt="6"/>
            </a:pPr>
            <a:r>
              <a:rPr lang="en-US" sz="2400" dirty="0" smtClean="0">
                <a:latin typeface="Times New Roman" pitchFamily="18" charset="0"/>
                <a:cs typeface="Times New Roman" pitchFamily="18" charset="0"/>
              </a:rPr>
              <a:t>The weights on the connection from the units that send the nonzero signal will get adjusted suitably.</a:t>
            </a:r>
          </a:p>
          <a:p>
            <a:pPr marL="539496" indent="-457200" algn="just">
              <a:buFont typeface="+mj-lt"/>
              <a:buAutoNum type="arabicPeriod" startAt="6"/>
            </a:pPr>
            <a:r>
              <a:rPr lang="en-US" sz="2400" dirty="0" smtClean="0">
                <a:latin typeface="Times New Roman" pitchFamily="18" charset="0"/>
                <a:cs typeface="Times New Roman" pitchFamily="18" charset="0"/>
              </a:rPr>
              <a:t>The weights will be adjusted on the basis of the learning rule if an error has occurred for a particular training pattern, i.e.,</a:t>
            </a:r>
          </a:p>
          <a:p>
            <a:pPr algn="just">
              <a:buNone/>
            </a:pPr>
            <a:r>
              <a:rPr lang="en-US" sz="2400" b="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w</a:t>
            </a:r>
            <a:r>
              <a:rPr lang="en-US" sz="2400" b="1" i="1" baseline="-25000" dirty="0" err="1" smtClean="0">
                <a:latin typeface="Times New Roman" pitchFamily="18" charset="0"/>
                <a:cs typeface="Times New Roman" pitchFamily="18" charset="0"/>
              </a:rPr>
              <a:t>i</a:t>
            </a:r>
            <a:r>
              <a:rPr lang="en-US" sz="2400" b="1" dirty="0" smtClean="0">
                <a:latin typeface="Times New Roman" pitchFamily="18" charset="0"/>
                <a:cs typeface="Times New Roman" pitchFamily="18" charset="0"/>
              </a:rPr>
              <a:t>(new) = </a:t>
            </a:r>
            <a:r>
              <a:rPr lang="en-US" sz="2400" b="1" i="1" dirty="0" err="1" smtClean="0">
                <a:latin typeface="Times New Roman" pitchFamily="18" charset="0"/>
                <a:cs typeface="Times New Roman" pitchFamily="18" charset="0"/>
              </a:rPr>
              <a:t>w</a:t>
            </a:r>
            <a:r>
              <a:rPr lang="en-US" sz="2400" b="1" i="1" baseline="-25000" dirty="0" err="1" smtClean="0">
                <a:latin typeface="Times New Roman" pitchFamily="18" charset="0"/>
                <a:cs typeface="Times New Roman" pitchFamily="18" charset="0"/>
              </a:rPr>
              <a:t>i</a:t>
            </a:r>
            <a:r>
              <a:rPr lang="en-US" sz="2400" b="1" dirty="0" smtClean="0">
                <a:latin typeface="Times New Roman" pitchFamily="18" charset="0"/>
                <a:cs typeface="Times New Roman" pitchFamily="18" charset="0"/>
              </a:rPr>
              <a:t>(old) + </a:t>
            </a:r>
            <a:r>
              <a:rPr lang="el-GR" sz="2400" b="1" i="1" dirty="0" smtClean="0">
                <a:latin typeface="Times New Roman"/>
                <a:cs typeface="Times New Roman"/>
              </a:rPr>
              <a:t>α</a:t>
            </a:r>
            <a:r>
              <a:rPr lang="en-US" sz="2400" b="1" i="1" dirty="0" err="1" smtClean="0">
                <a:latin typeface="Times New Roman"/>
                <a:cs typeface="Times New Roman"/>
              </a:rPr>
              <a:t>tx</a:t>
            </a:r>
            <a:r>
              <a:rPr lang="en-US" sz="2400" b="1" i="1" baseline="-25000" dirty="0" err="1" smtClean="0">
                <a:latin typeface="Times New Roman"/>
                <a:cs typeface="Times New Roman"/>
              </a:rPr>
              <a:t>i</a:t>
            </a:r>
            <a:r>
              <a:rPr lang="en-US" sz="2400" b="1" i="1" baseline="-25000" dirty="0" smtClean="0">
                <a:latin typeface="Times New Roman"/>
                <a:cs typeface="Times New Roman"/>
              </a:rPr>
              <a:t>      </a:t>
            </a:r>
            <a:r>
              <a:rPr lang="en-US" sz="2400" dirty="0" smtClean="0">
                <a:latin typeface="Times New Roman"/>
                <a:cs typeface="Times New Roman"/>
              </a:rPr>
              <a:t>where t = target value(+1 or -1) and </a:t>
            </a:r>
            <a:r>
              <a:rPr lang="el-GR" sz="2400" i="1" dirty="0" smtClean="0">
                <a:latin typeface="Times New Roman"/>
                <a:cs typeface="Times New Roman"/>
              </a:rPr>
              <a:t>α</a:t>
            </a:r>
            <a:r>
              <a:rPr lang="en-US" sz="2400" i="1" dirty="0" smtClean="0">
                <a:latin typeface="Times New Roman"/>
                <a:cs typeface="Times New Roman"/>
              </a:rPr>
              <a:t> is the learning rate</a:t>
            </a:r>
            <a:r>
              <a:rPr lang="en-US" sz="2400" dirty="0" smtClean="0">
                <a:latin typeface="Times New Roman"/>
                <a:cs typeface="Times New Roman"/>
              </a:rPr>
              <a:t>     </a:t>
            </a:r>
            <a:r>
              <a:rPr lang="en-US" sz="2400" b="1" i="1" dirty="0" smtClean="0">
                <a:latin typeface="Times New Roman"/>
                <a:cs typeface="Times New Roman"/>
              </a:rPr>
              <a:t>b</a:t>
            </a:r>
            <a:r>
              <a:rPr lang="en-US" sz="2400" b="1" dirty="0" smtClean="0">
                <a:latin typeface="Times New Roman"/>
                <a:cs typeface="Times New Roman"/>
              </a:rPr>
              <a:t>(new) = </a:t>
            </a:r>
            <a:r>
              <a:rPr lang="en-US" sz="2400" b="1" i="1" dirty="0" smtClean="0">
                <a:latin typeface="Times New Roman"/>
                <a:cs typeface="Times New Roman"/>
              </a:rPr>
              <a:t>b</a:t>
            </a:r>
            <a:r>
              <a:rPr lang="en-US" sz="2400" b="1" dirty="0" smtClean="0">
                <a:latin typeface="Times New Roman"/>
                <a:cs typeface="Times New Roman"/>
              </a:rPr>
              <a:t>(old) +</a:t>
            </a:r>
            <a:r>
              <a:rPr lang="en-US" sz="2400" b="1" i="1" dirty="0" smtClean="0">
                <a:latin typeface="Times New Roman"/>
                <a:cs typeface="Times New Roman"/>
              </a:rPr>
              <a:t> </a:t>
            </a:r>
            <a:r>
              <a:rPr lang="el-GR" sz="2400" b="1" i="1" dirty="0" smtClean="0">
                <a:latin typeface="Times New Roman"/>
                <a:cs typeface="Times New Roman"/>
              </a:rPr>
              <a:t>α</a:t>
            </a:r>
            <a:r>
              <a:rPr lang="en-US" sz="2400" b="1" i="1" dirty="0" smtClean="0">
                <a:latin typeface="Times New Roman"/>
                <a:cs typeface="Times New Roman"/>
              </a:rPr>
              <a:t>t      </a:t>
            </a:r>
          </a:p>
          <a:p>
            <a:pPr algn="just">
              <a:buNone/>
            </a:pPr>
            <a:r>
              <a:rPr lang="en-US" sz="2400" i="1" dirty="0" smtClean="0">
                <a:latin typeface="Times New Roman"/>
                <a:cs typeface="Times New Roman"/>
              </a:rPr>
              <a:t>If no error occurs, there is no weight updation and hence the training process may be stopped. </a:t>
            </a:r>
            <a:endParaRPr lang="en-US" sz="2400"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552688" cy="609600"/>
          </a:xfrm>
        </p:spPr>
        <p:txBody>
          <a:bodyPr>
            <a:noAutofit/>
          </a:bodyPr>
          <a:lstStyle/>
          <a:p>
            <a:r>
              <a:rPr lang="en-US" sz="3600" b="1" dirty="0" smtClean="0">
                <a:latin typeface="Times New Roman" pitchFamily="18" charset="0"/>
                <a:cs typeface="Times New Roman" pitchFamily="18" charset="0"/>
              </a:rPr>
              <a:t>Perceptron Learning Rule </a:t>
            </a:r>
            <a:br>
              <a:rPr lang="en-US" sz="3600" b="1" dirty="0" smtClean="0">
                <a:latin typeface="Times New Roman" pitchFamily="18" charset="0"/>
                <a:cs typeface="Times New Roman" pitchFamily="18" charset="0"/>
              </a:rPr>
            </a:br>
            <a:endParaRPr lang="en-US" sz="3600" dirty="0"/>
          </a:p>
        </p:txBody>
      </p:sp>
      <p:sp>
        <p:nvSpPr>
          <p:cNvPr id="3" name="Content Placeholder 2"/>
          <p:cNvSpPr>
            <a:spLocks noGrp="1"/>
          </p:cNvSpPr>
          <p:nvPr>
            <p:ph idx="1"/>
          </p:nvPr>
        </p:nvSpPr>
        <p:spPr>
          <a:xfrm>
            <a:off x="304800" y="685800"/>
            <a:ext cx="8628888" cy="5943600"/>
          </a:xfrm>
        </p:spPr>
        <p:txBody>
          <a:bodyPr>
            <a:normAutofit lnSpcReduction="10000"/>
          </a:bodyPr>
          <a:lstStyle/>
          <a:p>
            <a:r>
              <a:rPr lang="en-US" sz="2400" dirty="0" smtClean="0">
                <a:latin typeface="Times New Roman" pitchFamily="18" charset="0"/>
                <a:cs typeface="Times New Roman" pitchFamily="18" charset="0"/>
              </a:rPr>
              <a:t>In case of the perceptron rule, the learning signal is the difference between the desired and actual response of the neuron. </a:t>
            </a:r>
          </a:p>
          <a:p>
            <a:pPr marL="539496" indent="-457200" algn="just">
              <a:buFont typeface="+mj-lt"/>
              <a:buAutoNum type="arabicPeriod"/>
            </a:pPr>
            <a:r>
              <a:rPr lang="en-US" sz="2400" dirty="0" smtClean="0">
                <a:latin typeface="Times New Roman" pitchFamily="18" charset="0"/>
                <a:cs typeface="Times New Roman" pitchFamily="18" charset="0"/>
              </a:rPr>
              <a:t>Consider a finite “</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number of input training vectors, with their associated target (desired) values </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and </a:t>
            </a:r>
            <a:r>
              <a:rPr lang="en-US" sz="2400" i="1" dirty="0" smtClean="0">
                <a:latin typeface="Times New Roman" pitchFamily="18" charset="0"/>
                <a:cs typeface="Times New Roman" pitchFamily="18" charset="0"/>
              </a:rPr>
              <a:t>t</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where n range from 1 to N. The target is either +1 or -1.</a:t>
            </a:r>
          </a:p>
          <a:p>
            <a:pPr marL="539496" indent="-457200" algn="just">
              <a:buFont typeface="+mj-lt"/>
              <a:buAutoNum type="arabicPeriod"/>
            </a:pPr>
            <a:r>
              <a:rPr lang="en-US" sz="2400" dirty="0" smtClean="0">
                <a:latin typeface="Times New Roman" pitchFamily="18" charset="0"/>
                <a:cs typeface="Times New Roman" pitchFamily="18" charset="0"/>
              </a:rPr>
              <a:t>The output “</a:t>
            </a:r>
            <a:r>
              <a:rPr lang="en-US" sz="2400" i="1" dirty="0" smtClean="0">
                <a:latin typeface="Times New Roman" pitchFamily="18" charset="0"/>
                <a:cs typeface="Times New Roman" pitchFamily="18" charset="0"/>
              </a:rPr>
              <a:t>y</a:t>
            </a:r>
            <a:r>
              <a:rPr lang="en-US" sz="2400" dirty="0" smtClean="0">
                <a:latin typeface="Times New Roman" pitchFamily="18" charset="0"/>
                <a:cs typeface="Times New Roman" pitchFamily="18" charset="0"/>
              </a:rPr>
              <a:t>” is </a:t>
            </a: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r>
              <a:rPr lang="en-US" sz="2400" dirty="0" smtClean="0">
                <a:latin typeface="Times New Roman" pitchFamily="18" charset="0"/>
                <a:cs typeface="Times New Roman" pitchFamily="18" charset="0"/>
              </a:rPr>
              <a:t>The weight updation in case of perceptron learning is as shown.</a:t>
            </a:r>
          </a:p>
          <a:p>
            <a:pPr marL="539496" indent="-457200" algn="just">
              <a:buNone/>
            </a:pPr>
            <a:r>
              <a:rPr lang="en-US" sz="2400" dirty="0" smtClean="0">
                <a:latin typeface="Times New Roman" pitchFamily="18" charset="0"/>
                <a:cs typeface="Times New Roman" pitchFamily="18" charset="0"/>
              </a:rPr>
              <a:t>                             if y </a:t>
            </a:r>
            <a:r>
              <a:rPr lang="en-US" sz="2400" dirty="0" smtClean="0">
                <a:latin typeface="Times New Roman"/>
                <a:cs typeface="Times New Roman"/>
              </a:rPr>
              <a:t>≠ t, then</a:t>
            </a:r>
          </a:p>
          <a:p>
            <a:pPr marL="539496" indent="-457200" algn="just">
              <a:buNone/>
            </a:pPr>
            <a:r>
              <a:rPr lang="en-US" sz="2400" dirty="0" smtClean="0">
                <a:latin typeface="Times New Roman"/>
                <a:cs typeface="Times New Roman"/>
              </a:rPr>
              <a:t>                                            w(new) = w(old) + </a:t>
            </a:r>
            <a:r>
              <a:rPr lang="el-GR" sz="2400" dirty="0" smtClean="0">
                <a:latin typeface="Times New Roman"/>
                <a:cs typeface="Times New Roman"/>
              </a:rPr>
              <a:t>α</a:t>
            </a:r>
            <a:r>
              <a:rPr lang="en-US" sz="2400" dirty="0" err="1" smtClean="0">
                <a:latin typeface="Times New Roman"/>
                <a:cs typeface="Times New Roman"/>
              </a:rPr>
              <a:t>tx</a:t>
            </a:r>
            <a:endParaRPr lang="en-US" sz="2400" dirty="0" smtClean="0">
              <a:latin typeface="Times New Roman"/>
              <a:cs typeface="Times New Roman"/>
            </a:endParaRPr>
          </a:p>
          <a:p>
            <a:pPr marL="539496" indent="-457200" algn="just">
              <a:buNone/>
            </a:pPr>
            <a:r>
              <a:rPr lang="en-US" sz="2400" dirty="0" smtClean="0">
                <a:latin typeface="Times New Roman"/>
                <a:cs typeface="Times New Roman"/>
              </a:rPr>
              <a:t>                              else  w(new) = w(old)</a:t>
            </a:r>
            <a:endParaRPr lang="en-US" sz="2400" dirty="0">
              <a:latin typeface="Times New Roman" pitchFamily="18" charset="0"/>
              <a:cs typeface="Times New Roman" pitchFamily="18" charset="0"/>
            </a:endParaRPr>
          </a:p>
        </p:txBody>
      </p:sp>
      <p:graphicFrame>
        <p:nvGraphicFramePr>
          <p:cNvPr id="39938" name="Object 2"/>
          <p:cNvGraphicFramePr>
            <a:graphicFrameLocks noChangeAspect="1"/>
          </p:cNvGraphicFramePr>
          <p:nvPr/>
        </p:nvGraphicFramePr>
        <p:xfrm>
          <a:off x="2362200" y="2819400"/>
          <a:ext cx="4572000" cy="1600200"/>
        </p:xfrm>
        <a:graphic>
          <a:graphicData uri="http://schemas.openxmlformats.org/presentationml/2006/ole">
            <p:oleObj spid="_x0000_s39938" name="Equation" r:id="rId3" imgW="2019240" imgH="939600" progId="Equation.3">
              <p:embed/>
            </p:oleObj>
          </a:graphicData>
        </a:graphic>
      </p:graphicFrame>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81288" cy="487362"/>
          </a:xfrm>
        </p:spPr>
        <p:txBody>
          <a:bodyPr>
            <a:noAutofit/>
          </a:bodyPr>
          <a:lstStyle/>
          <a:p>
            <a:r>
              <a:rPr lang="en-US" sz="3600" b="1" dirty="0" smtClean="0">
                <a:latin typeface="Times New Roman" pitchFamily="18" charset="0"/>
                <a:cs typeface="Times New Roman" pitchFamily="18" charset="0"/>
              </a:rPr>
              <a:t>Perceptron Learning Rule </a:t>
            </a:r>
            <a:br>
              <a:rPr lang="en-US" sz="3600" b="1" dirty="0" smtClean="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685800"/>
            <a:ext cx="8476488" cy="5867400"/>
          </a:xfrm>
        </p:spPr>
        <p:txBody>
          <a:bodyPr>
            <a:normAutofit/>
          </a:bodyPr>
          <a:lstStyle/>
          <a:p>
            <a:pPr algn="just"/>
            <a:r>
              <a:rPr lang="en-US" sz="2400" dirty="0" smtClean="0">
                <a:latin typeface="Times New Roman" pitchFamily="18" charset="0"/>
                <a:cs typeface="Times New Roman" pitchFamily="18" charset="0"/>
              </a:rPr>
              <a:t>The weight can be initialized at any values in this method. </a:t>
            </a:r>
          </a:p>
          <a:p>
            <a:pPr algn="just"/>
            <a:r>
              <a:rPr lang="en-US" sz="2400" dirty="0" smtClean="0">
                <a:latin typeface="Times New Roman" pitchFamily="18" charset="0"/>
                <a:cs typeface="Times New Roman" pitchFamily="18" charset="0"/>
              </a:rPr>
              <a:t>The perceptron rule convergence theorem states that “If there is a weight vector W, such that f(x(n)W) = t(n), for all n, then for any starting vector </a:t>
            </a:r>
            <a:r>
              <a:rPr lang="en-US" sz="2400" i="1" dirty="0" smtClean="0">
                <a:latin typeface="Times New Roman" pitchFamily="18" charset="0"/>
                <a:cs typeface="Times New Roman" pitchFamily="18" charset="0"/>
              </a:rPr>
              <a:t>w</a:t>
            </a:r>
            <a:r>
              <a:rPr lang="en-US" sz="2400" baseline="-25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the perceptron learning rule will converge to a weight vector that gives the correct response for all training patterns, and this learning takes place within a finite number of steps provided that the salutation exists.</a:t>
            </a:r>
          </a:p>
          <a:p>
            <a:pPr algn="just">
              <a:buNone/>
            </a:pPr>
            <a:endParaRPr lang="en-US" sz="2400" baseline="-25000" dirty="0">
              <a:latin typeface="Times New Roman" pitchFamily="18" charset="0"/>
              <a:cs typeface="Times New Roman" pitchFamily="18" charset="0"/>
            </a:endParaRPr>
          </a:p>
        </p:txBody>
      </p:sp>
      <p:grpSp>
        <p:nvGrpSpPr>
          <p:cNvPr id="35" name="Group 34"/>
          <p:cNvGrpSpPr/>
          <p:nvPr/>
        </p:nvGrpSpPr>
        <p:grpSpPr>
          <a:xfrm>
            <a:off x="2152744" y="3352800"/>
            <a:ext cx="4933856" cy="3276600"/>
            <a:chOff x="990600" y="3352800"/>
            <a:chExt cx="4933856" cy="3276600"/>
          </a:xfrm>
        </p:grpSpPr>
        <p:sp>
          <p:nvSpPr>
            <p:cNvPr id="4" name="Oval 3"/>
            <p:cNvSpPr/>
            <p:nvPr/>
          </p:nvSpPr>
          <p:spPr>
            <a:xfrm>
              <a:off x="1524000" y="4800600"/>
              <a:ext cx="6096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x</a:t>
              </a:r>
              <a:r>
                <a:rPr lang="en-US" baseline="-25000" dirty="0" smtClean="0"/>
                <a:t>i</a:t>
              </a:r>
              <a:endParaRPr lang="en-US" baseline="-25000" dirty="0"/>
            </a:p>
          </p:txBody>
        </p:sp>
        <p:sp>
          <p:nvSpPr>
            <p:cNvPr id="6" name="Oval 5"/>
            <p:cNvSpPr/>
            <p:nvPr/>
          </p:nvSpPr>
          <p:spPr>
            <a:xfrm>
              <a:off x="1524000" y="3581400"/>
              <a:ext cx="6096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x</a:t>
              </a:r>
              <a:r>
                <a:rPr lang="en-US" baseline="-25000" dirty="0" smtClean="0"/>
                <a:t>1</a:t>
              </a:r>
              <a:endParaRPr lang="en-US" baseline="-25000" dirty="0"/>
            </a:p>
          </p:txBody>
        </p:sp>
        <p:sp>
          <p:nvSpPr>
            <p:cNvPr id="7" name="Oval 6"/>
            <p:cNvSpPr/>
            <p:nvPr/>
          </p:nvSpPr>
          <p:spPr>
            <a:xfrm>
              <a:off x="1524000" y="6019800"/>
              <a:ext cx="6096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smtClean="0"/>
                <a:t>x</a:t>
              </a:r>
              <a:r>
                <a:rPr lang="en-US" baseline="-25000" dirty="0" err="1" smtClean="0"/>
                <a:t>n</a:t>
              </a:r>
              <a:endParaRPr lang="en-US" baseline="-25000" dirty="0"/>
            </a:p>
          </p:txBody>
        </p:sp>
        <p:sp>
          <p:nvSpPr>
            <p:cNvPr id="8" name="Oval 7"/>
            <p:cNvSpPr/>
            <p:nvPr/>
          </p:nvSpPr>
          <p:spPr>
            <a:xfrm>
              <a:off x="3352800" y="3429000"/>
              <a:ext cx="6096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1</a:t>
              </a:r>
              <a:endParaRPr lang="en-US" dirty="0"/>
            </a:p>
          </p:txBody>
        </p:sp>
        <p:sp>
          <p:nvSpPr>
            <p:cNvPr id="9" name="Oval 8"/>
            <p:cNvSpPr/>
            <p:nvPr/>
          </p:nvSpPr>
          <p:spPr>
            <a:xfrm>
              <a:off x="4419600" y="4724400"/>
              <a:ext cx="6096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Y</a:t>
              </a:r>
              <a:endParaRPr lang="en-US" dirty="0"/>
            </a:p>
          </p:txBody>
        </p:sp>
        <p:cxnSp>
          <p:nvCxnSpPr>
            <p:cNvPr id="13" name="Straight Arrow Connector 12"/>
            <p:cNvCxnSpPr>
              <a:stCxn id="6" idx="6"/>
              <a:endCxn id="9" idx="1"/>
            </p:cNvCxnSpPr>
            <p:nvPr/>
          </p:nvCxnSpPr>
          <p:spPr>
            <a:xfrm>
              <a:off x="2133600" y="3886200"/>
              <a:ext cx="2375274" cy="92747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a:stCxn id="4" idx="6"/>
              <a:endCxn id="9" idx="2"/>
            </p:cNvCxnSpPr>
            <p:nvPr/>
          </p:nvCxnSpPr>
          <p:spPr>
            <a:xfrm flipV="1">
              <a:off x="2133600" y="5029200"/>
              <a:ext cx="2286000" cy="76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a:stCxn id="7" idx="6"/>
              <a:endCxn id="9" idx="3"/>
            </p:cNvCxnSpPr>
            <p:nvPr/>
          </p:nvCxnSpPr>
          <p:spPr>
            <a:xfrm flipV="1">
              <a:off x="2133600" y="5244726"/>
              <a:ext cx="2375274" cy="107987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stCxn id="8" idx="6"/>
              <a:endCxn id="9" idx="0"/>
            </p:cNvCxnSpPr>
            <p:nvPr/>
          </p:nvCxnSpPr>
          <p:spPr>
            <a:xfrm>
              <a:off x="3962400" y="3733800"/>
              <a:ext cx="762000" cy="990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Straight Arrow Connector 20"/>
            <p:cNvCxnSpPr>
              <a:endCxn id="6" idx="2"/>
            </p:cNvCxnSpPr>
            <p:nvPr/>
          </p:nvCxnSpPr>
          <p:spPr>
            <a:xfrm>
              <a:off x="990600" y="3886200"/>
              <a:ext cx="5334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p:nvPr/>
          </p:nvCxnSpPr>
          <p:spPr>
            <a:xfrm>
              <a:off x="2819400" y="3733800"/>
              <a:ext cx="5334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Straight Arrow Connector 22"/>
            <p:cNvCxnSpPr/>
            <p:nvPr/>
          </p:nvCxnSpPr>
          <p:spPr>
            <a:xfrm>
              <a:off x="990600" y="5105400"/>
              <a:ext cx="5334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4" name="Straight Arrow Connector 23"/>
            <p:cNvCxnSpPr/>
            <p:nvPr/>
          </p:nvCxnSpPr>
          <p:spPr>
            <a:xfrm>
              <a:off x="990600" y="6324600"/>
              <a:ext cx="5334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Straight Arrow Connector 24"/>
            <p:cNvCxnSpPr/>
            <p:nvPr/>
          </p:nvCxnSpPr>
          <p:spPr>
            <a:xfrm>
              <a:off x="5029200" y="5029200"/>
              <a:ext cx="5334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3429000" y="4114800"/>
              <a:ext cx="428322" cy="369332"/>
            </a:xfrm>
            <a:prstGeom prst="rect">
              <a:avLst/>
            </a:prstGeom>
            <a:noFill/>
          </p:spPr>
          <p:txBody>
            <a:bodyPr wrap="none" rtlCol="0">
              <a:spAutoFit/>
            </a:bodyPr>
            <a:lstStyle/>
            <a:p>
              <a:r>
                <a:rPr lang="en-US" dirty="0" smtClean="0"/>
                <a:t>w</a:t>
              </a:r>
              <a:r>
                <a:rPr lang="en-US" baseline="-25000" dirty="0" smtClean="0"/>
                <a:t>1</a:t>
              </a:r>
              <a:endParaRPr lang="en-US" baseline="-25000" dirty="0"/>
            </a:p>
          </p:txBody>
        </p:sp>
        <p:sp>
          <p:nvSpPr>
            <p:cNvPr id="27" name="TextBox 26"/>
            <p:cNvSpPr txBox="1"/>
            <p:nvPr/>
          </p:nvSpPr>
          <p:spPr>
            <a:xfrm>
              <a:off x="3048000" y="4724400"/>
              <a:ext cx="428322" cy="369332"/>
            </a:xfrm>
            <a:prstGeom prst="rect">
              <a:avLst/>
            </a:prstGeom>
            <a:noFill/>
          </p:spPr>
          <p:txBody>
            <a:bodyPr wrap="none" rtlCol="0">
              <a:spAutoFit/>
            </a:bodyPr>
            <a:lstStyle/>
            <a:p>
              <a:r>
                <a:rPr lang="en-US" dirty="0" smtClean="0"/>
                <a:t>w</a:t>
              </a:r>
              <a:r>
                <a:rPr lang="en-US" baseline="-25000" dirty="0" smtClean="0"/>
                <a:t>2</a:t>
              </a:r>
              <a:endParaRPr lang="en-US" baseline="-25000" dirty="0"/>
            </a:p>
          </p:txBody>
        </p:sp>
        <p:sp>
          <p:nvSpPr>
            <p:cNvPr id="28" name="TextBox 27"/>
            <p:cNvSpPr txBox="1"/>
            <p:nvPr/>
          </p:nvSpPr>
          <p:spPr>
            <a:xfrm>
              <a:off x="3200400" y="5726668"/>
              <a:ext cx="428322" cy="369332"/>
            </a:xfrm>
            <a:prstGeom prst="rect">
              <a:avLst/>
            </a:prstGeom>
            <a:noFill/>
          </p:spPr>
          <p:txBody>
            <a:bodyPr wrap="none" rtlCol="0">
              <a:spAutoFit/>
            </a:bodyPr>
            <a:lstStyle/>
            <a:p>
              <a:r>
                <a:rPr lang="en-US" dirty="0" smtClean="0"/>
                <a:t>w</a:t>
              </a:r>
              <a:r>
                <a:rPr lang="en-US" baseline="-25000" dirty="0" smtClean="0"/>
                <a:t>3</a:t>
              </a:r>
              <a:endParaRPr lang="en-US" baseline="-25000" dirty="0"/>
            </a:p>
          </p:txBody>
        </p:sp>
        <p:sp>
          <p:nvSpPr>
            <p:cNvPr id="29" name="TextBox 28"/>
            <p:cNvSpPr txBox="1"/>
            <p:nvPr/>
          </p:nvSpPr>
          <p:spPr>
            <a:xfrm>
              <a:off x="1066800" y="3505200"/>
              <a:ext cx="377026" cy="369332"/>
            </a:xfrm>
            <a:prstGeom prst="rect">
              <a:avLst/>
            </a:prstGeom>
            <a:noFill/>
          </p:spPr>
          <p:txBody>
            <a:bodyPr wrap="none" rtlCol="0">
              <a:spAutoFit/>
            </a:bodyPr>
            <a:lstStyle/>
            <a:p>
              <a:r>
                <a:rPr lang="en-US" dirty="0" smtClean="0"/>
                <a:t>x</a:t>
              </a:r>
              <a:r>
                <a:rPr lang="en-US" baseline="-25000" dirty="0" smtClean="0"/>
                <a:t>1</a:t>
              </a:r>
              <a:endParaRPr lang="en-US" baseline="-25000" dirty="0"/>
            </a:p>
          </p:txBody>
        </p:sp>
        <p:sp>
          <p:nvSpPr>
            <p:cNvPr id="30" name="TextBox 29"/>
            <p:cNvSpPr txBox="1"/>
            <p:nvPr/>
          </p:nvSpPr>
          <p:spPr>
            <a:xfrm>
              <a:off x="1066800" y="4724400"/>
              <a:ext cx="333746" cy="369332"/>
            </a:xfrm>
            <a:prstGeom prst="rect">
              <a:avLst/>
            </a:prstGeom>
            <a:noFill/>
          </p:spPr>
          <p:txBody>
            <a:bodyPr wrap="none" rtlCol="0">
              <a:spAutoFit/>
            </a:bodyPr>
            <a:lstStyle/>
            <a:p>
              <a:r>
                <a:rPr lang="en-US" dirty="0" smtClean="0"/>
                <a:t>x</a:t>
              </a:r>
              <a:r>
                <a:rPr lang="en-US" baseline="-25000" dirty="0" smtClean="0"/>
                <a:t>i</a:t>
              </a:r>
              <a:endParaRPr lang="en-US" baseline="-25000" dirty="0"/>
            </a:p>
          </p:txBody>
        </p:sp>
        <p:sp>
          <p:nvSpPr>
            <p:cNvPr id="31" name="TextBox 30"/>
            <p:cNvSpPr txBox="1"/>
            <p:nvPr/>
          </p:nvSpPr>
          <p:spPr>
            <a:xfrm>
              <a:off x="1066800" y="5943600"/>
              <a:ext cx="377026" cy="369332"/>
            </a:xfrm>
            <a:prstGeom prst="rect">
              <a:avLst/>
            </a:prstGeom>
            <a:noFill/>
          </p:spPr>
          <p:txBody>
            <a:bodyPr wrap="none" rtlCol="0">
              <a:spAutoFit/>
            </a:bodyPr>
            <a:lstStyle/>
            <a:p>
              <a:r>
                <a:rPr lang="en-US" dirty="0" err="1" smtClean="0"/>
                <a:t>x</a:t>
              </a:r>
              <a:r>
                <a:rPr lang="en-US" baseline="-25000" dirty="0" err="1" smtClean="0"/>
                <a:t>n</a:t>
              </a:r>
              <a:endParaRPr lang="en-US" baseline="-25000" dirty="0"/>
            </a:p>
          </p:txBody>
        </p:sp>
        <p:sp>
          <p:nvSpPr>
            <p:cNvPr id="32" name="TextBox 31"/>
            <p:cNvSpPr txBox="1"/>
            <p:nvPr/>
          </p:nvSpPr>
          <p:spPr>
            <a:xfrm>
              <a:off x="4343400" y="3962400"/>
              <a:ext cx="300082" cy="369332"/>
            </a:xfrm>
            <a:prstGeom prst="rect">
              <a:avLst/>
            </a:prstGeom>
            <a:noFill/>
          </p:spPr>
          <p:txBody>
            <a:bodyPr wrap="none" rtlCol="0">
              <a:spAutoFit/>
            </a:bodyPr>
            <a:lstStyle/>
            <a:p>
              <a:r>
                <a:rPr lang="en-US" dirty="0" smtClean="0"/>
                <a:t>b</a:t>
              </a:r>
              <a:endParaRPr lang="en-US" dirty="0"/>
            </a:p>
          </p:txBody>
        </p:sp>
        <p:sp>
          <p:nvSpPr>
            <p:cNvPr id="33" name="TextBox 32"/>
            <p:cNvSpPr txBox="1"/>
            <p:nvPr/>
          </p:nvSpPr>
          <p:spPr>
            <a:xfrm>
              <a:off x="2819400" y="3352800"/>
              <a:ext cx="377026" cy="369332"/>
            </a:xfrm>
            <a:prstGeom prst="rect">
              <a:avLst/>
            </a:prstGeom>
            <a:noFill/>
          </p:spPr>
          <p:txBody>
            <a:bodyPr wrap="none" rtlCol="0">
              <a:spAutoFit/>
            </a:bodyPr>
            <a:lstStyle/>
            <a:p>
              <a:r>
                <a:rPr lang="en-US" dirty="0" smtClean="0"/>
                <a:t>x</a:t>
              </a:r>
              <a:r>
                <a:rPr lang="en-US" baseline="-25000" dirty="0" smtClean="0"/>
                <a:t>0</a:t>
              </a:r>
              <a:endParaRPr lang="en-US" baseline="-25000" dirty="0"/>
            </a:p>
          </p:txBody>
        </p:sp>
        <p:sp>
          <p:nvSpPr>
            <p:cNvPr id="34" name="TextBox 33"/>
            <p:cNvSpPr txBox="1"/>
            <p:nvPr/>
          </p:nvSpPr>
          <p:spPr>
            <a:xfrm>
              <a:off x="5638800" y="4876800"/>
              <a:ext cx="285656" cy="369332"/>
            </a:xfrm>
            <a:prstGeom prst="rect">
              <a:avLst/>
            </a:prstGeom>
            <a:noFill/>
          </p:spPr>
          <p:txBody>
            <a:bodyPr wrap="none" rtlCol="0">
              <a:spAutoFit/>
            </a:bodyPr>
            <a:lstStyle/>
            <a:p>
              <a:r>
                <a:rPr lang="en-US" dirty="0" smtClean="0"/>
                <a:t>y</a:t>
              </a:r>
              <a:endParaRPr lang="en-US" dirty="0"/>
            </a:p>
          </p:txBody>
        </p:sp>
      </p:grpSp>
    </p:spTree>
  </p:cSld>
  <p:clrMapOvr>
    <a:masterClrMapping/>
  </p:clrMapOvr>
  <p:transition advTm="0"/>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686800" cy="563562"/>
          </a:xfrm>
        </p:spPr>
        <p:txBody>
          <a:bodyPr>
            <a:noAutofit/>
          </a:bodyPr>
          <a:lstStyle/>
          <a:p>
            <a:r>
              <a:rPr lang="en-US" sz="2800" b="1" dirty="0" smtClean="0">
                <a:latin typeface="Times New Roman" pitchFamily="18" charset="0"/>
                <a:cs typeface="Times New Roman" pitchFamily="18" charset="0"/>
              </a:rPr>
              <a:t>Perceptron training algorithm for single output classes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762000"/>
            <a:ext cx="8476488" cy="5943600"/>
          </a:xfrm>
        </p:spPr>
        <p:txBody>
          <a:bodyPr>
            <a:normAutofit/>
          </a:bodyPr>
          <a:lstStyle/>
          <a:p>
            <a:pPr algn="just"/>
            <a:r>
              <a:rPr lang="en-US" sz="2400" dirty="0" smtClean="0">
                <a:latin typeface="Times New Roman" pitchFamily="18" charset="0"/>
                <a:cs typeface="Times New Roman" pitchFamily="18" charset="0"/>
              </a:rPr>
              <a:t>The perceptron algorithm can be used for either binary or bipolar input vector, having bipolar targets, threshold being fixed and variable bias. </a:t>
            </a:r>
          </a:p>
          <a:p>
            <a:pPr algn="just"/>
            <a:r>
              <a:rPr lang="en-US" sz="2400" dirty="0" smtClean="0">
                <a:latin typeface="Times New Roman" pitchFamily="18" charset="0"/>
                <a:cs typeface="Times New Roman" pitchFamily="18" charset="0"/>
              </a:rPr>
              <a:t>In the algorithm, initially the input are assigned then the net input is calculated and the output of the network is obtained by applying the activation function over the calculated net input.</a:t>
            </a:r>
          </a:p>
          <a:p>
            <a:pPr algn="just"/>
            <a:r>
              <a:rPr lang="en-US" sz="2400" dirty="0" smtClean="0">
                <a:latin typeface="Times New Roman" pitchFamily="18" charset="0"/>
                <a:cs typeface="Times New Roman" pitchFamily="18" charset="0"/>
              </a:rPr>
              <a:t>On performing comparison over the calculated and the desired output, the weight updation process is carried out. </a:t>
            </a:r>
          </a:p>
          <a:p>
            <a:pPr algn="just">
              <a:buNone/>
            </a:pPr>
            <a:endParaRPr lang="en-US" sz="2400" dirty="0" smtClean="0">
              <a:latin typeface="Times New Roman" pitchFamily="18" charset="0"/>
              <a:cs typeface="Times New Roman" pitchFamily="18" charset="0"/>
            </a:endParaRPr>
          </a:p>
          <a:p>
            <a:pPr algn="just">
              <a:buNone/>
            </a:pPr>
            <a:r>
              <a:rPr lang="en-US" sz="2400" b="1" dirty="0" smtClean="0">
                <a:latin typeface="Times New Roman" pitchFamily="18" charset="0"/>
                <a:cs typeface="Times New Roman" pitchFamily="18" charset="0"/>
              </a:rPr>
              <a:t>Step 0:</a:t>
            </a:r>
            <a:r>
              <a:rPr lang="en-US" sz="2400" dirty="0" smtClean="0">
                <a:latin typeface="Times New Roman" pitchFamily="18" charset="0"/>
                <a:cs typeface="Times New Roman" pitchFamily="18" charset="0"/>
              </a:rPr>
              <a:t> Initialize the weights and bias (for easy calculation they can be set to zero). Also initialize the learning rate </a:t>
            </a:r>
            <a:r>
              <a:rPr lang="el-GR" sz="2400" dirty="0" smtClean="0">
                <a:latin typeface="Times New Roman"/>
                <a:cs typeface="Times New Roman"/>
              </a:rPr>
              <a:t>α</a:t>
            </a:r>
            <a:r>
              <a:rPr lang="en-US" sz="2400" dirty="0" smtClean="0">
                <a:latin typeface="Times New Roman"/>
                <a:cs typeface="Times New Roman"/>
              </a:rPr>
              <a:t> (0 &lt; </a:t>
            </a:r>
            <a:r>
              <a:rPr lang="el-GR" sz="2400" dirty="0" smtClean="0">
                <a:latin typeface="Times New Roman"/>
                <a:cs typeface="Times New Roman"/>
              </a:rPr>
              <a:t>α</a:t>
            </a:r>
            <a:r>
              <a:rPr lang="en-US" sz="2400" dirty="0" smtClean="0">
                <a:latin typeface="Times New Roman"/>
                <a:cs typeface="Times New Roman"/>
              </a:rPr>
              <a:t> ≤ 1). For simplicity </a:t>
            </a:r>
            <a:r>
              <a:rPr lang="el-GR" sz="2400" dirty="0" smtClean="0">
                <a:latin typeface="Times New Roman"/>
                <a:cs typeface="Times New Roman"/>
              </a:rPr>
              <a:t>α</a:t>
            </a:r>
            <a:r>
              <a:rPr lang="en-US" sz="2400" dirty="0" smtClean="0">
                <a:latin typeface="Times New Roman"/>
                <a:cs typeface="Times New Roman"/>
              </a:rPr>
              <a:t> is set to 1.</a:t>
            </a:r>
            <a:endParaRPr lang="en-US" sz="2400" b="1" dirty="0" smtClean="0">
              <a:latin typeface="Times New Roman"/>
              <a:cs typeface="Times New Roman"/>
            </a:endParaRPr>
          </a:p>
          <a:p>
            <a:pPr algn="just">
              <a:buNone/>
            </a:pPr>
            <a:r>
              <a:rPr lang="en-US" sz="2400" b="1" dirty="0" smtClean="0">
                <a:latin typeface="Times New Roman"/>
                <a:cs typeface="Times New Roman"/>
              </a:rPr>
              <a:t>Step 1: </a:t>
            </a:r>
            <a:r>
              <a:rPr lang="en-US" sz="2400" dirty="0" smtClean="0">
                <a:latin typeface="Times New Roman"/>
                <a:cs typeface="Times New Roman"/>
              </a:rPr>
              <a:t>Perform Step 2-6 until the final stopping condition is false.</a:t>
            </a:r>
          </a:p>
          <a:p>
            <a:pPr algn="just">
              <a:buNone/>
            </a:pPr>
            <a:r>
              <a:rPr lang="en-US" sz="2400" b="1" dirty="0" smtClean="0">
                <a:latin typeface="Times New Roman"/>
                <a:cs typeface="Times New Roman"/>
              </a:rPr>
              <a:t>Step 2: </a:t>
            </a:r>
            <a:r>
              <a:rPr lang="en-US" sz="2400" dirty="0" smtClean="0">
                <a:latin typeface="Times New Roman"/>
                <a:cs typeface="Times New Roman"/>
              </a:rPr>
              <a:t>Perform step 3-5 for each training pair indicated by </a:t>
            </a:r>
            <a:r>
              <a:rPr lang="en-US" sz="2400" i="1" dirty="0" smtClean="0">
                <a:latin typeface="Times New Roman"/>
                <a:cs typeface="Times New Roman"/>
              </a:rPr>
              <a:t>s : t.</a:t>
            </a:r>
            <a:endParaRPr lang="en-US" sz="2400" b="1"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28888" cy="609600"/>
          </a:xfrm>
        </p:spPr>
        <p:txBody>
          <a:bodyPr>
            <a:normAutofit/>
          </a:bodyPr>
          <a:lstStyle/>
          <a:p>
            <a:r>
              <a:rPr lang="en-US" sz="2800" b="1" dirty="0" smtClean="0">
                <a:latin typeface="Times New Roman" pitchFamily="18" charset="0"/>
                <a:cs typeface="Times New Roman" pitchFamily="18" charset="0"/>
              </a:rPr>
              <a:t>Perceptron training algorithm for single output classes</a:t>
            </a:r>
            <a:endParaRPr lang="en-US" sz="2800" dirty="0"/>
          </a:p>
        </p:txBody>
      </p:sp>
      <p:sp>
        <p:nvSpPr>
          <p:cNvPr id="3" name="Content Placeholder 2"/>
          <p:cNvSpPr>
            <a:spLocks noGrp="1"/>
          </p:cNvSpPr>
          <p:nvPr>
            <p:ph idx="1"/>
          </p:nvPr>
        </p:nvSpPr>
        <p:spPr>
          <a:xfrm>
            <a:off x="533400" y="838200"/>
            <a:ext cx="8400288" cy="5638800"/>
          </a:xfrm>
        </p:spPr>
        <p:txBody>
          <a:bodyPr>
            <a:normAutofit/>
          </a:bodyPr>
          <a:lstStyle/>
          <a:p>
            <a:pPr>
              <a:buNone/>
            </a:pPr>
            <a:r>
              <a:rPr lang="en-US" sz="2400" b="1" dirty="0" smtClean="0">
                <a:latin typeface="Times New Roman" pitchFamily="18" charset="0"/>
                <a:cs typeface="Times New Roman" pitchFamily="18" charset="0"/>
              </a:rPr>
              <a:t>Step 3: </a:t>
            </a:r>
            <a:r>
              <a:rPr lang="en-US" sz="2400" dirty="0" smtClean="0">
                <a:latin typeface="Times New Roman" pitchFamily="18" charset="0"/>
                <a:cs typeface="Times New Roman" pitchFamily="18" charset="0"/>
              </a:rPr>
              <a:t> The input layer containing input units is applied with identity activation functions:</a:t>
            </a:r>
          </a:p>
          <a:p>
            <a:pPr>
              <a:buNone/>
            </a:pPr>
            <a:r>
              <a:rPr lang="en-US" sz="2400" b="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x</a:t>
            </a:r>
            <a:r>
              <a:rPr lang="en-US" sz="2400" baseline="-25000" dirty="0"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s</a:t>
            </a:r>
            <a:r>
              <a:rPr lang="en-US" sz="2400" baseline="-25000" dirty="0" err="1" smtClean="0">
                <a:latin typeface="Times New Roman" pitchFamily="18" charset="0"/>
                <a:cs typeface="Times New Roman" pitchFamily="18" charset="0"/>
              </a:rPr>
              <a:t>i</a:t>
            </a:r>
            <a:endParaRPr lang="en-US" sz="2400" baseline="-25000" dirty="0" smtClean="0">
              <a:latin typeface="Times New Roman" pitchFamily="18" charset="0"/>
              <a:cs typeface="Times New Roman" pitchFamily="18" charset="0"/>
            </a:endParaRPr>
          </a:p>
          <a:p>
            <a:pPr>
              <a:buNone/>
            </a:pPr>
            <a:r>
              <a:rPr lang="en-US" sz="2400" b="1" baseline="-250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Step 4: </a:t>
            </a:r>
            <a:r>
              <a:rPr lang="en-US" sz="2400" dirty="0" smtClean="0">
                <a:latin typeface="Times New Roman" pitchFamily="18" charset="0"/>
                <a:cs typeface="Times New Roman" pitchFamily="18" charset="0"/>
              </a:rPr>
              <a:t>Calculate the output of the network. For first obtained the net input: </a:t>
            </a:r>
          </a:p>
          <a:p>
            <a:pPr>
              <a:buNone/>
            </a:pPr>
            <a:r>
              <a:rPr lang="en-US" sz="2400" b="1" baseline="-250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        </a:t>
            </a:r>
            <a:r>
              <a:rPr lang="en-US" sz="2400" b="1" baseline="-250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where n = #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/p neurons in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/p layer</a:t>
            </a:r>
          </a:p>
          <a:p>
            <a:pPr>
              <a:buNone/>
            </a:pPr>
            <a:r>
              <a:rPr lang="en-US" sz="2400" b="1" baseline="-25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Then apply activation over the net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/p calculated to obtain the o/p.</a:t>
            </a:r>
          </a:p>
          <a:p>
            <a:pPr>
              <a:buNone/>
            </a:pPr>
            <a:endParaRPr lang="en-US" sz="2400" baseline="-250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1905000" y="2667000"/>
          <a:ext cx="2362200" cy="838200"/>
        </p:xfrm>
        <a:graphic>
          <a:graphicData uri="http://schemas.openxmlformats.org/presentationml/2006/ole">
            <p:oleObj spid="_x0000_s47106" name="Equation" r:id="rId3" imgW="1091880" imgH="431640" progId="Equation.3">
              <p:embed/>
            </p:oleObj>
          </a:graphicData>
        </a:graphic>
      </p:graphicFrame>
      <p:graphicFrame>
        <p:nvGraphicFramePr>
          <p:cNvPr id="47107" name="Object 3"/>
          <p:cNvGraphicFramePr>
            <a:graphicFrameLocks noChangeAspect="1"/>
          </p:cNvGraphicFramePr>
          <p:nvPr/>
        </p:nvGraphicFramePr>
        <p:xfrm>
          <a:off x="2362200" y="4267200"/>
          <a:ext cx="4572000" cy="1600200"/>
        </p:xfrm>
        <a:graphic>
          <a:graphicData uri="http://schemas.openxmlformats.org/presentationml/2006/ole">
            <p:oleObj spid="_x0000_s47107" name="Equation" r:id="rId4" imgW="2019240" imgH="939600" progId="Equation.3">
              <p:embed/>
            </p:oleObj>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552688" cy="563562"/>
          </a:xfrm>
        </p:spPr>
        <p:txBody>
          <a:bodyPr>
            <a:normAutofit/>
          </a:bodyPr>
          <a:lstStyle/>
          <a:p>
            <a:r>
              <a:rPr lang="en-US" sz="2800" b="1" dirty="0" smtClean="0">
                <a:latin typeface="Times New Roman" pitchFamily="18" charset="0"/>
                <a:cs typeface="Times New Roman" pitchFamily="18" charset="0"/>
              </a:rPr>
              <a:t>Perceptron training algorithm for single output classes</a:t>
            </a:r>
            <a:endParaRPr lang="en-US" sz="2800" dirty="0"/>
          </a:p>
        </p:txBody>
      </p:sp>
      <p:sp>
        <p:nvSpPr>
          <p:cNvPr id="3" name="Content Placeholder 2"/>
          <p:cNvSpPr>
            <a:spLocks noGrp="1"/>
          </p:cNvSpPr>
          <p:nvPr>
            <p:ph idx="1"/>
          </p:nvPr>
        </p:nvSpPr>
        <p:spPr>
          <a:xfrm>
            <a:off x="381000" y="762000"/>
            <a:ext cx="8552688" cy="5791200"/>
          </a:xfrm>
        </p:spPr>
        <p:txBody>
          <a:bodyPr>
            <a:normAutofit lnSpcReduction="10000"/>
          </a:bodyPr>
          <a:lstStyle/>
          <a:p>
            <a:pPr>
              <a:buNone/>
            </a:pPr>
            <a:r>
              <a:rPr lang="en-US" sz="2400" b="1" dirty="0" smtClean="0">
                <a:latin typeface="Times New Roman" pitchFamily="18" charset="0"/>
                <a:cs typeface="Times New Roman" pitchFamily="18" charset="0"/>
              </a:rPr>
              <a:t>Step 5: </a:t>
            </a:r>
            <a:r>
              <a:rPr lang="en-US" sz="2400" i="1" dirty="0" smtClean="0">
                <a:latin typeface="Times New Roman" pitchFamily="18" charset="0"/>
                <a:cs typeface="Times New Roman" pitchFamily="18" charset="0"/>
              </a:rPr>
              <a:t>Weights and bias adjustment: </a:t>
            </a:r>
            <a:r>
              <a:rPr lang="en-US" sz="2400" dirty="0" smtClean="0">
                <a:latin typeface="Times New Roman" pitchFamily="18" charset="0"/>
                <a:cs typeface="Times New Roman" pitchFamily="18" charset="0"/>
              </a:rPr>
              <a:t>Compare the value of the actual output and desired output.</a:t>
            </a:r>
          </a:p>
          <a:p>
            <a:pPr marL="539496" indent="-457200" algn="just">
              <a:buNone/>
            </a:pPr>
            <a:r>
              <a:rPr lang="en-US" sz="2400" dirty="0" smtClean="0">
                <a:latin typeface="Times New Roman" pitchFamily="18" charset="0"/>
                <a:cs typeface="Times New Roman" pitchFamily="18" charset="0"/>
              </a:rPr>
              <a:t>                                    if </a:t>
            </a:r>
            <a:r>
              <a:rPr lang="en-US" sz="2400" i="1" dirty="0" smtClean="0">
                <a:latin typeface="Times New Roman" pitchFamily="18" charset="0"/>
                <a:cs typeface="Times New Roman" pitchFamily="18" charset="0"/>
              </a:rPr>
              <a:t>y</a:t>
            </a:r>
            <a:r>
              <a:rPr lang="en-US" sz="2400" dirty="0" smtClean="0">
                <a:latin typeface="Times New Roman" pitchFamily="18" charset="0"/>
                <a:cs typeface="Times New Roman" pitchFamily="18" charset="0"/>
              </a:rPr>
              <a:t> </a:t>
            </a:r>
            <a:r>
              <a:rPr lang="en-US" sz="2400" dirty="0" smtClean="0">
                <a:latin typeface="Times New Roman"/>
                <a:cs typeface="Times New Roman"/>
              </a:rPr>
              <a:t>≠ </a:t>
            </a:r>
            <a:r>
              <a:rPr lang="en-US" sz="2400" i="1" dirty="0" smtClean="0">
                <a:latin typeface="Times New Roman"/>
                <a:cs typeface="Times New Roman"/>
              </a:rPr>
              <a:t>t</a:t>
            </a:r>
            <a:r>
              <a:rPr lang="en-US" sz="2400" dirty="0" smtClean="0">
                <a:latin typeface="Times New Roman"/>
                <a:cs typeface="Times New Roman"/>
              </a:rPr>
              <a:t>, then</a:t>
            </a:r>
          </a:p>
          <a:p>
            <a:pPr marL="539496" indent="-457200" algn="just">
              <a:buNone/>
            </a:pPr>
            <a:r>
              <a:rPr lang="en-US" sz="2400" dirty="0" smtClean="0">
                <a:latin typeface="Times New Roman"/>
                <a:cs typeface="Times New Roman"/>
              </a:rPr>
              <a:t>                                            </a:t>
            </a:r>
            <a:r>
              <a:rPr lang="en-US" sz="2400" i="1" dirty="0" err="1" smtClean="0">
                <a:latin typeface="Times New Roman"/>
                <a:cs typeface="Times New Roman"/>
              </a:rPr>
              <a:t>wi</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a:t>
            </a:r>
            <a:r>
              <a:rPr lang="en-US" sz="2400" i="1" dirty="0" smtClean="0">
                <a:latin typeface="Times New Roman"/>
                <a:cs typeface="Times New Roman"/>
              </a:rPr>
              <a:t> </a:t>
            </a:r>
            <a:r>
              <a:rPr lang="en-US" sz="2400" i="1" dirty="0" err="1" smtClean="0">
                <a:latin typeface="Times New Roman"/>
                <a:cs typeface="Times New Roman"/>
              </a:rPr>
              <a:t>w</a:t>
            </a:r>
            <a:r>
              <a:rPr lang="en-US" sz="2400" i="1" baseline="-25000" dirty="0" err="1" smtClean="0">
                <a:latin typeface="Times New Roman"/>
                <a:cs typeface="Times New Roman"/>
              </a:rPr>
              <a:t>i</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 + </a:t>
            </a:r>
            <a:r>
              <a:rPr lang="el-GR" sz="2400" i="1" dirty="0" smtClean="0">
                <a:latin typeface="Times New Roman"/>
                <a:cs typeface="Times New Roman"/>
              </a:rPr>
              <a:t>α</a:t>
            </a:r>
            <a:r>
              <a:rPr lang="en-US" sz="2400" i="1" dirty="0" err="1" smtClean="0">
                <a:latin typeface="Times New Roman"/>
                <a:cs typeface="Times New Roman"/>
              </a:rPr>
              <a:t>tx</a:t>
            </a:r>
            <a:r>
              <a:rPr lang="en-US" sz="2400" i="1" baseline="-25000" dirty="0" err="1" smtClean="0">
                <a:latin typeface="Times New Roman"/>
                <a:cs typeface="Times New Roman"/>
              </a:rPr>
              <a:t>i</a:t>
            </a:r>
            <a:r>
              <a:rPr lang="en-US" sz="2400" i="1" baseline="-25000" dirty="0" smtClean="0">
                <a:latin typeface="Times New Roman"/>
                <a:cs typeface="Times New Roman"/>
              </a:rPr>
              <a:t> </a:t>
            </a:r>
            <a:r>
              <a:rPr lang="en-US" sz="2400" i="1" dirty="0" smtClean="0">
                <a:latin typeface="Times New Roman"/>
                <a:cs typeface="Times New Roman"/>
              </a:rPr>
              <a:t> </a:t>
            </a:r>
          </a:p>
          <a:p>
            <a:pPr marL="539496" indent="-457200" algn="just">
              <a:buNone/>
            </a:pPr>
            <a:r>
              <a:rPr lang="en-US" sz="2400" i="1" dirty="0" smtClean="0">
                <a:latin typeface="Times New Roman"/>
                <a:cs typeface="Times New Roman"/>
              </a:rPr>
              <a:t>                                            b</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 </a:t>
            </a:r>
            <a:r>
              <a:rPr lang="en-US" sz="2400" i="1" dirty="0" smtClean="0">
                <a:latin typeface="Times New Roman"/>
                <a:cs typeface="Times New Roman"/>
              </a:rPr>
              <a:t>b</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 + </a:t>
            </a:r>
            <a:r>
              <a:rPr lang="el-GR" sz="2400" i="1" dirty="0" smtClean="0">
                <a:latin typeface="Times New Roman"/>
                <a:cs typeface="Times New Roman"/>
              </a:rPr>
              <a:t>α</a:t>
            </a:r>
            <a:r>
              <a:rPr lang="en-US" sz="2400" i="1" dirty="0" smtClean="0">
                <a:latin typeface="Times New Roman"/>
                <a:cs typeface="Times New Roman"/>
              </a:rPr>
              <a:t>t</a:t>
            </a:r>
            <a:endParaRPr lang="en-US" sz="2400" i="1" baseline="-25000" dirty="0" smtClean="0">
              <a:latin typeface="Times New Roman"/>
              <a:cs typeface="Times New Roman"/>
            </a:endParaRPr>
          </a:p>
          <a:p>
            <a:pPr marL="539496" indent="-457200" algn="just">
              <a:buNone/>
            </a:pPr>
            <a:r>
              <a:rPr lang="en-US" sz="2400" dirty="0" smtClean="0">
                <a:latin typeface="Times New Roman"/>
                <a:cs typeface="Times New Roman"/>
              </a:rPr>
              <a:t>                              else, we have  </a:t>
            </a:r>
          </a:p>
          <a:p>
            <a:pPr marL="539496" indent="-457200" algn="just">
              <a:buNone/>
            </a:pPr>
            <a:r>
              <a:rPr lang="en-US" sz="2400" dirty="0" smtClean="0">
                <a:latin typeface="Times New Roman"/>
                <a:cs typeface="Times New Roman"/>
              </a:rPr>
              <a:t>                                    </a:t>
            </a:r>
            <a:r>
              <a:rPr lang="en-US" sz="2400" i="1" dirty="0" err="1" smtClean="0">
                <a:latin typeface="Times New Roman"/>
                <a:cs typeface="Times New Roman"/>
              </a:rPr>
              <a:t>w</a:t>
            </a:r>
            <a:r>
              <a:rPr lang="en-US" sz="2400" i="1" baseline="-25000" dirty="0" err="1" smtClean="0">
                <a:latin typeface="Times New Roman"/>
                <a:cs typeface="Times New Roman"/>
              </a:rPr>
              <a:t>i</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 </a:t>
            </a:r>
            <a:r>
              <a:rPr lang="en-US" sz="2400" i="1" dirty="0" err="1" smtClean="0">
                <a:latin typeface="Times New Roman"/>
                <a:cs typeface="Times New Roman"/>
              </a:rPr>
              <a:t>w</a:t>
            </a:r>
            <a:r>
              <a:rPr lang="en-US" sz="2400" i="1" baseline="-25000" dirty="0" err="1" smtClean="0">
                <a:latin typeface="Times New Roman"/>
                <a:cs typeface="Times New Roman"/>
              </a:rPr>
              <a:t>i</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a:t>
            </a:r>
          </a:p>
          <a:p>
            <a:pPr marL="539496" indent="-457200" algn="just">
              <a:buNone/>
            </a:pPr>
            <a:r>
              <a:rPr lang="en-US" sz="2400" dirty="0" smtClean="0">
                <a:latin typeface="Times New Roman"/>
                <a:cs typeface="Times New Roman"/>
              </a:rPr>
              <a:t>                                    </a:t>
            </a:r>
            <a:r>
              <a:rPr lang="en-US" sz="2400" i="1" dirty="0" smtClean="0">
                <a:latin typeface="Times New Roman"/>
                <a:cs typeface="Times New Roman"/>
              </a:rPr>
              <a:t>b</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 </a:t>
            </a:r>
            <a:r>
              <a:rPr lang="en-US" sz="2400" i="1" dirty="0" smtClean="0">
                <a:latin typeface="Times New Roman"/>
                <a:cs typeface="Times New Roman"/>
              </a:rPr>
              <a:t>b</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a:t>
            </a:r>
          </a:p>
          <a:p>
            <a:pPr marL="539496" indent="-457200" algn="just">
              <a:buNone/>
            </a:pPr>
            <a:r>
              <a:rPr lang="en-US" sz="2400" b="1" dirty="0" smtClean="0">
                <a:latin typeface="Times New Roman"/>
                <a:cs typeface="Times New Roman"/>
              </a:rPr>
              <a:t>Step 6: </a:t>
            </a:r>
            <a:r>
              <a:rPr lang="en-US" sz="2400" dirty="0" smtClean="0">
                <a:latin typeface="Times New Roman"/>
                <a:cs typeface="Times New Roman"/>
              </a:rPr>
              <a:t>Train the network unit there is no weight change. This is the stopping condition for the network. If this condition not met, then start again from step 2.</a:t>
            </a:r>
          </a:p>
          <a:p>
            <a:pPr>
              <a:buNone/>
            </a:pPr>
            <a:r>
              <a:rPr lang="en-US" sz="2400" dirty="0" smtClean="0">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This algorithm is not sensitive to the initial value of the weights or value of the learning rate.</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639762"/>
          </a:xfrm>
        </p:spPr>
        <p:txBody>
          <a:bodyPr>
            <a:noAutofit/>
          </a:bodyPr>
          <a:lstStyle/>
          <a:p>
            <a:r>
              <a:rPr lang="en-US" sz="2800" b="1" dirty="0" smtClean="0">
                <a:latin typeface="Times New Roman" pitchFamily="18" charset="0"/>
                <a:cs typeface="Times New Roman" pitchFamily="18" charset="0"/>
              </a:rPr>
              <a:t>Perceptron training algorithm for multiple output classes</a:t>
            </a:r>
            <a:endParaRPr lang="en-US" sz="2800" dirty="0"/>
          </a:p>
        </p:txBody>
      </p:sp>
      <p:sp>
        <p:nvSpPr>
          <p:cNvPr id="3" name="Content Placeholder 2"/>
          <p:cNvSpPr>
            <a:spLocks noGrp="1"/>
          </p:cNvSpPr>
          <p:nvPr>
            <p:ph idx="1"/>
          </p:nvPr>
        </p:nvSpPr>
        <p:spPr>
          <a:xfrm>
            <a:off x="381000" y="838200"/>
            <a:ext cx="8552688" cy="5410200"/>
          </a:xfrm>
        </p:spPr>
        <p:txBody>
          <a:bodyPr>
            <a:normAutofit/>
          </a:bodyPr>
          <a:lstStyle/>
          <a:p>
            <a:pPr marL="539496" indent="-457200">
              <a:buClr>
                <a:schemeClr val="tx1"/>
              </a:buClr>
              <a:buFont typeface="+mj-lt"/>
              <a:buAutoNum type="arabicPeriod"/>
            </a:pPr>
            <a:r>
              <a:rPr lang="en-US" sz="2400" dirty="0" smtClean="0">
                <a:latin typeface="Times New Roman" pitchFamily="18" charset="0"/>
                <a:cs typeface="Times New Roman" pitchFamily="18" charset="0"/>
              </a:rPr>
              <a:t>Initialize the weights, biases and learning rate suitably. </a:t>
            </a:r>
          </a:p>
          <a:p>
            <a:pPr marL="539496" indent="-457200">
              <a:buClr>
                <a:schemeClr val="tx1"/>
              </a:buClr>
              <a:buFont typeface="+mj-lt"/>
              <a:buAutoNum type="arabicPeriod"/>
            </a:pPr>
            <a:r>
              <a:rPr lang="en-US" sz="2400" dirty="0" smtClean="0">
                <a:latin typeface="Times New Roman" pitchFamily="18" charset="0"/>
                <a:cs typeface="Times New Roman" pitchFamily="18" charset="0"/>
              </a:rPr>
              <a:t>Check for stopping condition: if it is false, perform steps 2-6.</a:t>
            </a:r>
          </a:p>
          <a:p>
            <a:pPr marL="539496" indent="-457200">
              <a:buClr>
                <a:schemeClr val="tx1"/>
              </a:buClr>
              <a:buFont typeface="+mj-lt"/>
              <a:buAutoNum type="arabicPeriod"/>
            </a:pPr>
            <a:r>
              <a:rPr lang="en-US" sz="2400" dirty="0" smtClean="0">
                <a:latin typeface="Times New Roman" pitchFamily="18" charset="0"/>
                <a:cs typeface="Times New Roman" pitchFamily="18" charset="0"/>
              </a:rPr>
              <a:t>Perform steps 3-5 for each bipolar or binary training vector pair      </a:t>
            </a:r>
            <a:r>
              <a:rPr lang="en-US" sz="2400" i="1" dirty="0" smtClean="0">
                <a:latin typeface="Times New Roman" pitchFamily="18" charset="0"/>
                <a:cs typeface="Times New Roman" pitchFamily="18" charset="0"/>
              </a:rPr>
              <a:t>s : t</a:t>
            </a:r>
            <a:r>
              <a:rPr lang="en-US" sz="2400" dirty="0" smtClean="0">
                <a:latin typeface="Times New Roman" pitchFamily="18" charset="0"/>
                <a:cs typeface="Times New Roman" pitchFamily="18" charset="0"/>
              </a:rPr>
              <a:t>.</a:t>
            </a:r>
          </a:p>
          <a:p>
            <a:pPr marL="539496" indent="-457200">
              <a:buClr>
                <a:schemeClr val="tx1"/>
              </a:buClr>
              <a:buFont typeface="+mj-lt"/>
              <a:buAutoNum type="arabicPeriod"/>
            </a:pPr>
            <a:r>
              <a:rPr lang="en-US" sz="2400" dirty="0" smtClean="0">
                <a:latin typeface="Times New Roman" pitchFamily="18" charset="0"/>
                <a:cs typeface="Times New Roman" pitchFamily="18" charset="0"/>
              </a:rPr>
              <a:t>Set activation (identity) of each input unit </a:t>
            </a:r>
            <a:r>
              <a:rPr lang="en-US" sz="2400" i="1"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1 to </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a:t>
            </a:r>
          </a:p>
          <a:p>
            <a:pPr marL="539496" indent="-457200">
              <a:buClr>
                <a:schemeClr val="tx1"/>
              </a:buClr>
              <a:buNone/>
            </a:pP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x</a:t>
            </a:r>
            <a:r>
              <a:rPr lang="en-US" sz="2400" baseline="-25000" dirty="0"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s</a:t>
            </a:r>
            <a:r>
              <a:rPr lang="en-US" sz="2400" baseline="-25000" dirty="0" err="1" smtClean="0">
                <a:latin typeface="Times New Roman" pitchFamily="18" charset="0"/>
                <a:cs typeface="Times New Roman" pitchFamily="18" charset="0"/>
              </a:rPr>
              <a:t>i</a:t>
            </a:r>
            <a:endParaRPr lang="en-US" sz="2400" i="1" dirty="0" smtClean="0">
              <a:latin typeface="Times New Roman" pitchFamily="18" charset="0"/>
              <a:cs typeface="Times New Roman" pitchFamily="18" charset="0"/>
            </a:endParaRPr>
          </a:p>
          <a:p>
            <a:pPr marL="539496" indent="-457200">
              <a:buClr>
                <a:schemeClr val="tx1"/>
              </a:buClr>
              <a:buFont typeface="+mj-lt"/>
              <a:buAutoNum type="arabicPeriod" startAt="5"/>
            </a:pPr>
            <a:r>
              <a:rPr lang="en-US" sz="2400" dirty="0" smtClean="0">
                <a:latin typeface="Times New Roman" pitchFamily="18" charset="0"/>
                <a:cs typeface="Times New Roman" pitchFamily="18" charset="0"/>
              </a:rPr>
              <a:t>Calculate output response of the each output unit j = 1 to m: the net input is calculated as</a:t>
            </a:r>
          </a:p>
          <a:p>
            <a:pPr marL="539496" indent="-457200">
              <a:buClr>
                <a:schemeClr val="tx1"/>
              </a:buClr>
              <a:buNone/>
            </a:pPr>
            <a:r>
              <a:rPr lang="en-US" sz="2400" dirty="0" smtClean="0">
                <a:latin typeface="Times New Roman" pitchFamily="18" charset="0"/>
                <a:cs typeface="Times New Roman" pitchFamily="18" charset="0"/>
              </a:rPr>
              <a:t>                        </a:t>
            </a:r>
          </a:p>
          <a:p>
            <a:pPr marL="539496" indent="-457200">
              <a:buClr>
                <a:schemeClr val="tx1"/>
              </a:buClr>
              <a:buNone/>
            </a:pPr>
            <a:endParaRPr lang="en-US" sz="2400" dirty="0" smtClean="0">
              <a:latin typeface="Times New Roman" pitchFamily="18" charset="0"/>
              <a:cs typeface="Times New Roman" pitchFamily="18" charset="0"/>
            </a:endParaRPr>
          </a:p>
          <a:p>
            <a:pPr marL="539496" indent="-457200">
              <a:buClr>
                <a:schemeClr val="tx1"/>
              </a:buClr>
              <a:buNone/>
            </a:pPr>
            <a:endParaRPr lang="en-US" sz="2400" dirty="0" smtClean="0">
              <a:latin typeface="Times New Roman" pitchFamily="18" charset="0"/>
              <a:cs typeface="Times New Roman" pitchFamily="18" charset="0"/>
            </a:endParaRPr>
          </a:p>
          <a:p>
            <a:pPr marL="539496" indent="-457200">
              <a:buClr>
                <a:schemeClr val="tx1"/>
              </a:buClr>
              <a:buNone/>
            </a:pPr>
            <a:r>
              <a:rPr lang="en-US" sz="2400" dirty="0" smtClean="0">
                <a:latin typeface="Times New Roman" pitchFamily="18" charset="0"/>
                <a:cs typeface="Times New Roman" pitchFamily="18" charset="0"/>
              </a:rPr>
              <a:t>                                                                          </a:t>
            </a:r>
          </a:p>
        </p:txBody>
      </p:sp>
      <p:graphicFrame>
        <p:nvGraphicFramePr>
          <p:cNvPr id="48130" name="Object 2"/>
          <p:cNvGraphicFramePr>
            <a:graphicFrameLocks noChangeAspect="1"/>
          </p:cNvGraphicFramePr>
          <p:nvPr/>
        </p:nvGraphicFramePr>
        <p:xfrm>
          <a:off x="4117975" y="3810000"/>
          <a:ext cx="2663825" cy="838200"/>
        </p:xfrm>
        <a:graphic>
          <a:graphicData uri="http://schemas.openxmlformats.org/presentationml/2006/ole">
            <p:oleObj spid="_x0000_s48130" name="Equation" r:id="rId3" imgW="1231560" imgH="431640" progId="Equation.3">
              <p:embed/>
            </p:oleObj>
          </a:graphicData>
        </a:graphic>
      </p:graphicFrame>
      <p:graphicFrame>
        <p:nvGraphicFramePr>
          <p:cNvPr id="48131" name="Object 3"/>
          <p:cNvGraphicFramePr>
            <a:graphicFrameLocks noChangeAspect="1"/>
          </p:cNvGraphicFramePr>
          <p:nvPr/>
        </p:nvGraphicFramePr>
        <p:xfrm>
          <a:off x="2667000" y="4811713"/>
          <a:ext cx="4724400" cy="1730375"/>
        </p:xfrm>
        <a:graphic>
          <a:graphicData uri="http://schemas.openxmlformats.org/presentationml/2006/ole">
            <p:oleObj spid="_x0000_s48131" name="Equation" r:id="rId4" imgW="2171520" imgH="1015920" progId="Equation.3">
              <p:embed/>
            </p:oleObj>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991600" cy="685800"/>
          </a:xfrm>
        </p:spPr>
        <p:txBody>
          <a:bodyPr>
            <a:normAutofit/>
          </a:bodyPr>
          <a:lstStyle/>
          <a:p>
            <a:r>
              <a:rPr lang="en-US" sz="2800" b="1" dirty="0" smtClean="0">
                <a:latin typeface="Times New Roman" pitchFamily="18" charset="0"/>
                <a:cs typeface="Times New Roman" pitchFamily="18" charset="0"/>
              </a:rPr>
              <a:t>Perceptron training algorithm for multiple output classes</a:t>
            </a:r>
            <a:endParaRPr lang="en-US" sz="2800" dirty="0"/>
          </a:p>
        </p:txBody>
      </p:sp>
      <p:sp>
        <p:nvSpPr>
          <p:cNvPr id="3" name="Content Placeholder 2"/>
          <p:cNvSpPr>
            <a:spLocks noGrp="1"/>
          </p:cNvSpPr>
          <p:nvPr>
            <p:ph idx="1"/>
          </p:nvPr>
        </p:nvSpPr>
        <p:spPr>
          <a:xfrm>
            <a:off x="381000" y="914400"/>
            <a:ext cx="8534400" cy="5638800"/>
          </a:xfrm>
        </p:spPr>
        <p:txBody>
          <a:bodyPr>
            <a:normAutofit/>
          </a:bodyPr>
          <a:lstStyle/>
          <a:p>
            <a:pPr marL="539496" indent="-457200">
              <a:buClrTx/>
              <a:buFont typeface="+mj-lt"/>
              <a:buAutoNum type="arabicPeriod" startAt="6"/>
            </a:pPr>
            <a:r>
              <a:rPr lang="en-US" sz="2400" dirty="0" smtClean="0">
                <a:latin typeface="Times New Roman" pitchFamily="18" charset="0"/>
                <a:cs typeface="Times New Roman" pitchFamily="18" charset="0"/>
              </a:rPr>
              <a:t>Make adjustment in weights and bias for j = 1 to m and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1 to n         </a:t>
            </a:r>
          </a:p>
          <a:p>
            <a:pPr marL="539496" indent="-457200" algn="just">
              <a:buNone/>
            </a:pPr>
            <a:r>
              <a:rPr lang="en-US" sz="2400" dirty="0" smtClean="0">
                <a:latin typeface="Times New Roman" pitchFamily="18" charset="0"/>
                <a:cs typeface="Times New Roman" pitchFamily="18" charset="0"/>
              </a:rPr>
              <a:t>                                if </a:t>
            </a:r>
            <a:r>
              <a:rPr lang="en-US" sz="2400" i="1" dirty="0" err="1" smtClean="0">
                <a:latin typeface="Times New Roman" pitchFamily="18" charset="0"/>
                <a:cs typeface="Times New Roman" pitchFamily="18" charset="0"/>
              </a:rPr>
              <a:t>y</a:t>
            </a:r>
            <a:r>
              <a:rPr lang="en-US" sz="2400" i="1" baseline="-25000" dirty="0" err="1" smtClean="0">
                <a:latin typeface="Times New Roman" pitchFamily="18" charset="0"/>
                <a:cs typeface="Times New Roman" pitchFamily="18" charset="0"/>
              </a:rPr>
              <a:t>j</a:t>
            </a:r>
            <a:r>
              <a:rPr lang="en-US" sz="2400" dirty="0" smtClean="0">
                <a:latin typeface="Times New Roman" pitchFamily="18" charset="0"/>
                <a:cs typeface="Times New Roman" pitchFamily="18" charset="0"/>
              </a:rPr>
              <a:t> </a:t>
            </a:r>
            <a:r>
              <a:rPr lang="en-US" sz="2400" dirty="0" smtClean="0">
                <a:latin typeface="Times New Roman"/>
                <a:cs typeface="Times New Roman"/>
              </a:rPr>
              <a:t>≠ </a:t>
            </a:r>
            <a:r>
              <a:rPr lang="en-US" sz="2400" i="1" dirty="0" err="1" smtClean="0">
                <a:latin typeface="Times New Roman"/>
                <a:cs typeface="Times New Roman"/>
              </a:rPr>
              <a:t>t</a:t>
            </a:r>
            <a:r>
              <a:rPr lang="en-US" sz="2400" i="1" baseline="-25000" dirty="0" err="1" smtClean="0">
                <a:latin typeface="Times New Roman"/>
                <a:cs typeface="Times New Roman"/>
              </a:rPr>
              <a:t>j</a:t>
            </a:r>
            <a:r>
              <a:rPr lang="en-US" sz="2400" dirty="0" smtClean="0">
                <a:latin typeface="Times New Roman"/>
                <a:cs typeface="Times New Roman"/>
              </a:rPr>
              <a:t>, then</a:t>
            </a:r>
          </a:p>
          <a:p>
            <a:pPr marL="539496" indent="-457200" algn="just">
              <a:buNone/>
            </a:pPr>
            <a:r>
              <a:rPr lang="en-US" sz="2400" dirty="0" smtClean="0">
                <a:latin typeface="Times New Roman"/>
                <a:cs typeface="Times New Roman"/>
              </a:rPr>
              <a:t>                                            </a:t>
            </a:r>
            <a:r>
              <a:rPr lang="en-US" sz="2400" i="1" dirty="0" err="1" smtClean="0">
                <a:latin typeface="Times New Roman"/>
                <a:cs typeface="Times New Roman"/>
              </a:rPr>
              <a:t>w</a:t>
            </a:r>
            <a:r>
              <a:rPr lang="en-US" sz="2400" i="1" baseline="-25000" dirty="0" err="1" smtClean="0">
                <a:latin typeface="Times New Roman"/>
                <a:cs typeface="Times New Roman"/>
              </a:rPr>
              <a:t>ij</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a:t>
            </a:r>
            <a:r>
              <a:rPr lang="en-US" sz="2400" i="1" dirty="0" smtClean="0">
                <a:latin typeface="Times New Roman"/>
                <a:cs typeface="Times New Roman"/>
              </a:rPr>
              <a:t> </a:t>
            </a:r>
            <a:r>
              <a:rPr lang="en-US" sz="2400" i="1" dirty="0" err="1" smtClean="0">
                <a:latin typeface="Times New Roman"/>
                <a:cs typeface="Times New Roman"/>
              </a:rPr>
              <a:t>w</a:t>
            </a:r>
            <a:r>
              <a:rPr lang="en-US" sz="2400" i="1" baseline="-25000" dirty="0" err="1" smtClean="0">
                <a:latin typeface="Times New Roman"/>
                <a:cs typeface="Times New Roman"/>
              </a:rPr>
              <a:t>ij</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 + </a:t>
            </a:r>
            <a:r>
              <a:rPr lang="el-GR" sz="2400" i="1" dirty="0" smtClean="0">
                <a:latin typeface="Times New Roman"/>
                <a:cs typeface="Times New Roman"/>
              </a:rPr>
              <a:t>α</a:t>
            </a:r>
            <a:r>
              <a:rPr lang="en-US" sz="2400" i="1" dirty="0" err="1" smtClean="0">
                <a:latin typeface="Times New Roman"/>
                <a:cs typeface="Times New Roman"/>
              </a:rPr>
              <a:t>t</a:t>
            </a:r>
            <a:r>
              <a:rPr lang="en-US" sz="2400" i="1" baseline="-25000" dirty="0" err="1" smtClean="0">
                <a:latin typeface="Times New Roman"/>
                <a:cs typeface="Times New Roman"/>
              </a:rPr>
              <a:t>j</a:t>
            </a:r>
            <a:r>
              <a:rPr lang="en-US" sz="2400" i="1" dirty="0" err="1" smtClean="0">
                <a:latin typeface="Times New Roman"/>
                <a:cs typeface="Times New Roman"/>
              </a:rPr>
              <a:t>x</a:t>
            </a:r>
            <a:r>
              <a:rPr lang="en-US" sz="2400" i="1" baseline="-25000" dirty="0" err="1" smtClean="0">
                <a:latin typeface="Times New Roman"/>
                <a:cs typeface="Times New Roman"/>
              </a:rPr>
              <a:t>ij</a:t>
            </a:r>
            <a:r>
              <a:rPr lang="en-US" sz="2400" i="1" baseline="-25000" dirty="0" smtClean="0">
                <a:latin typeface="Times New Roman"/>
                <a:cs typeface="Times New Roman"/>
              </a:rPr>
              <a:t> </a:t>
            </a:r>
            <a:r>
              <a:rPr lang="en-US" sz="2400" i="1" dirty="0" smtClean="0">
                <a:latin typeface="Times New Roman"/>
                <a:cs typeface="Times New Roman"/>
              </a:rPr>
              <a:t> </a:t>
            </a:r>
          </a:p>
          <a:p>
            <a:pPr marL="539496" indent="-457200" algn="just">
              <a:buNone/>
            </a:pPr>
            <a:r>
              <a:rPr lang="en-US" sz="2400" i="1" dirty="0" smtClean="0">
                <a:latin typeface="Times New Roman"/>
                <a:cs typeface="Times New Roman"/>
              </a:rPr>
              <a:t>                                            </a:t>
            </a:r>
            <a:r>
              <a:rPr lang="en-US" sz="2400" i="1" dirty="0" err="1" smtClean="0">
                <a:latin typeface="Times New Roman"/>
                <a:cs typeface="Times New Roman"/>
              </a:rPr>
              <a:t>b</a:t>
            </a:r>
            <a:r>
              <a:rPr lang="en-US" sz="2400" i="1" baseline="-25000" dirty="0" err="1" smtClean="0">
                <a:latin typeface="Times New Roman"/>
                <a:cs typeface="Times New Roman"/>
              </a:rPr>
              <a:t>j</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 </a:t>
            </a:r>
            <a:r>
              <a:rPr lang="en-US" sz="2400" i="1" dirty="0" err="1" smtClean="0">
                <a:latin typeface="Times New Roman"/>
                <a:cs typeface="Times New Roman"/>
              </a:rPr>
              <a:t>b</a:t>
            </a:r>
            <a:r>
              <a:rPr lang="en-US" sz="2400" i="1" baseline="-25000" dirty="0" err="1" smtClean="0">
                <a:latin typeface="Times New Roman"/>
                <a:cs typeface="Times New Roman"/>
              </a:rPr>
              <a:t>j</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 + </a:t>
            </a:r>
            <a:r>
              <a:rPr lang="el-GR" sz="2400" i="1" dirty="0" smtClean="0">
                <a:latin typeface="Times New Roman"/>
                <a:cs typeface="Times New Roman"/>
              </a:rPr>
              <a:t>α</a:t>
            </a:r>
            <a:r>
              <a:rPr lang="en-US" sz="2400" i="1" dirty="0" err="1" smtClean="0">
                <a:latin typeface="Times New Roman"/>
                <a:cs typeface="Times New Roman"/>
              </a:rPr>
              <a:t>t</a:t>
            </a:r>
            <a:r>
              <a:rPr lang="en-US" sz="2400" i="1" baseline="-25000" dirty="0" err="1" smtClean="0">
                <a:latin typeface="Times New Roman"/>
                <a:cs typeface="Times New Roman"/>
              </a:rPr>
              <a:t>j</a:t>
            </a:r>
            <a:endParaRPr lang="en-US" sz="2400" i="1" baseline="-25000" dirty="0" smtClean="0">
              <a:latin typeface="Times New Roman"/>
              <a:cs typeface="Times New Roman"/>
            </a:endParaRPr>
          </a:p>
          <a:p>
            <a:pPr marL="539496" indent="-457200" algn="just">
              <a:buNone/>
            </a:pPr>
            <a:r>
              <a:rPr lang="en-US" sz="2400" dirty="0" smtClean="0">
                <a:latin typeface="Times New Roman"/>
                <a:cs typeface="Times New Roman"/>
              </a:rPr>
              <a:t>                              else, we have  </a:t>
            </a:r>
          </a:p>
          <a:p>
            <a:pPr marL="539496" indent="-457200" algn="just">
              <a:buNone/>
            </a:pPr>
            <a:r>
              <a:rPr lang="en-US" sz="2400" dirty="0" smtClean="0">
                <a:latin typeface="Times New Roman"/>
                <a:cs typeface="Times New Roman"/>
              </a:rPr>
              <a:t>                                    </a:t>
            </a:r>
            <a:r>
              <a:rPr lang="en-US" sz="2400" i="1" dirty="0" err="1" smtClean="0">
                <a:latin typeface="Times New Roman"/>
                <a:cs typeface="Times New Roman"/>
              </a:rPr>
              <a:t>w</a:t>
            </a:r>
            <a:r>
              <a:rPr lang="en-US" sz="2400" i="1" baseline="-25000" dirty="0" err="1" smtClean="0">
                <a:latin typeface="Times New Roman"/>
                <a:cs typeface="Times New Roman"/>
              </a:rPr>
              <a:t>ij</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 </a:t>
            </a:r>
            <a:r>
              <a:rPr lang="en-US" sz="2400" i="1" dirty="0" err="1" smtClean="0">
                <a:latin typeface="Times New Roman"/>
                <a:cs typeface="Times New Roman"/>
              </a:rPr>
              <a:t>w</a:t>
            </a:r>
            <a:r>
              <a:rPr lang="en-US" sz="2400" i="1" baseline="-25000" dirty="0" err="1" smtClean="0">
                <a:latin typeface="Times New Roman"/>
                <a:cs typeface="Times New Roman"/>
              </a:rPr>
              <a:t>ij</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a:t>
            </a:r>
          </a:p>
          <a:p>
            <a:pPr marL="539496" indent="-457200" algn="just">
              <a:buNone/>
            </a:pPr>
            <a:r>
              <a:rPr lang="en-US" sz="2400" dirty="0" smtClean="0">
                <a:latin typeface="Times New Roman"/>
                <a:cs typeface="Times New Roman"/>
              </a:rPr>
              <a:t>                                    </a:t>
            </a:r>
            <a:r>
              <a:rPr lang="en-US" sz="2400" i="1" dirty="0" err="1" smtClean="0">
                <a:latin typeface="Times New Roman"/>
                <a:cs typeface="Times New Roman"/>
              </a:rPr>
              <a:t>b</a:t>
            </a:r>
            <a:r>
              <a:rPr lang="en-US" sz="2400" i="1" baseline="-25000" dirty="0" err="1" smtClean="0">
                <a:latin typeface="Times New Roman"/>
                <a:cs typeface="Times New Roman"/>
              </a:rPr>
              <a:t>j</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 </a:t>
            </a:r>
            <a:r>
              <a:rPr lang="en-US" sz="2400" i="1" dirty="0" err="1" smtClean="0">
                <a:latin typeface="Times New Roman"/>
                <a:cs typeface="Times New Roman"/>
              </a:rPr>
              <a:t>b</a:t>
            </a:r>
            <a:r>
              <a:rPr lang="en-US" sz="2400" i="1" baseline="-25000" dirty="0" err="1" smtClean="0">
                <a:latin typeface="Times New Roman"/>
                <a:cs typeface="Times New Roman"/>
              </a:rPr>
              <a:t>j</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a:t>
            </a:r>
          </a:p>
          <a:p>
            <a:pPr marL="539496" indent="-457200" algn="just">
              <a:buClrTx/>
              <a:buFont typeface="+mj-lt"/>
              <a:buAutoNum type="arabicPeriod" startAt="7"/>
            </a:pPr>
            <a:r>
              <a:rPr lang="en-US" sz="2400" dirty="0" smtClean="0">
                <a:latin typeface="Times New Roman"/>
                <a:cs typeface="Times New Roman"/>
              </a:rPr>
              <a:t>Test for stopping condition , i.e., if there is no change in weights then stop the training process, else start from step 2.</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86800" cy="685800"/>
          </a:xfrm>
        </p:spPr>
        <p:txBody>
          <a:bodyPr>
            <a:noAutofit/>
          </a:bodyPr>
          <a:lstStyle/>
          <a:p>
            <a:r>
              <a:rPr lang="en-US" sz="3600" b="1" dirty="0" smtClean="0">
                <a:latin typeface="Times New Roman" pitchFamily="18" charset="0"/>
                <a:cs typeface="Times New Roman" pitchFamily="18" charset="0"/>
              </a:rPr>
              <a:t>Perceptron Network testing algorithm</a:t>
            </a:r>
            <a:endParaRPr lang="en-US" sz="3600" dirty="0"/>
          </a:p>
        </p:txBody>
      </p:sp>
      <p:sp>
        <p:nvSpPr>
          <p:cNvPr id="3" name="Content Placeholder 2"/>
          <p:cNvSpPr>
            <a:spLocks noGrp="1"/>
          </p:cNvSpPr>
          <p:nvPr>
            <p:ph idx="1"/>
          </p:nvPr>
        </p:nvSpPr>
        <p:spPr>
          <a:xfrm>
            <a:off x="533400" y="914400"/>
            <a:ext cx="8400288" cy="5562600"/>
          </a:xfrm>
        </p:spPr>
        <p:txBody>
          <a:bodyPr>
            <a:normAutofit/>
          </a:bodyPr>
          <a:lstStyle/>
          <a:p>
            <a:r>
              <a:rPr lang="en-US" sz="2400" dirty="0" smtClean="0">
                <a:latin typeface="Times New Roman" pitchFamily="18" charset="0"/>
                <a:cs typeface="Times New Roman" pitchFamily="18" charset="0"/>
              </a:rPr>
              <a:t>It is the best to test the network performance once the training process is complete.</a:t>
            </a:r>
          </a:p>
          <a:p>
            <a:pPr marL="539496" indent="-457200">
              <a:buFont typeface="+mj-lt"/>
              <a:buAutoNum type="arabicPeriod"/>
            </a:pPr>
            <a:r>
              <a:rPr lang="en-US" sz="2400" dirty="0" smtClean="0">
                <a:latin typeface="Times New Roman" pitchFamily="18" charset="0"/>
                <a:cs typeface="Times New Roman" pitchFamily="18" charset="0"/>
              </a:rPr>
              <a:t>The initial weights to be used here are taken from the training algorithms (the final weights obtained during the training).</a:t>
            </a:r>
          </a:p>
          <a:p>
            <a:pPr marL="539496" indent="-457200">
              <a:buFont typeface="+mj-lt"/>
              <a:buAutoNum type="arabicPeriod"/>
            </a:pPr>
            <a:r>
              <a:rPr lang="en-US" sz="2400" dirty="0" smtClean="0">
                <a:latin typeface="Times New Roman" pitchFamily="18" charset="0"/>
                <a:cs typeface="Times New Roman" pitchFamily="18" charset="0"/>
              </a:rPr>
              <a:t>For each input vector X to be classified, perform step 2-3.</a:t>
            </a:r>
          </a:p>
          <a:p>
            <a:pPr marL="539496" indent="-457200">
              <a:buFont typeface="+mj-lt"/>
              <a:buAutoNum type="arabicPeriod"/>
            </a:pPr>
            <a:r>
              <a:rPr lang="en-US" sz="2400" dirty="0" smtClean="0">
                <a:latin typeface="Times New Roman" pitchFamily="18" charset="0"/>
                <a:cs typeface="Times New Roman" pitchFamily="18" charset="0"/>
              </a:rPr>
              <a:t>Set activation of the input unit.</a:t>
            </a:r>
          </a:p>
          <a:p>
            <a:pPr marL="539496" indent="-457200">
              <a:buFont typeface="+mj-lt"/>
              <a:buAutoNum type="arabicPeriod"/>
            </a:pPr>
            <a:r>
              <a:rPr lang="en-US" sz="2400" dirty="0" smtClean="0">
                <a:latin typeface="Times New Roman" pitchFamily="18" charset="0"/>
                <a:cs typeface="Times New Roman" pitchFamily="18" charset="0"/>
              </a:rPr>
              <a:t>Obtain the response of the output unit.</a:t>
            </a:r>
          </a:p>
          <a:p>
            <a:pPr marL="539496" indent="-457200">
              <a:buFont typeface="+mj-lt"/>
              <a:buAutoNum type="arabicPeriod"/>
            </a:pPr>
            <a:endParaRPr lang="en-US" sz="2400" dirty="0" smtClean="0">
              <a:latin typeface="Times New Roman" pitchFamily="18" charset="0"/>
              <a:cs typeface="Times New Roman" pitchFamily="18" charset="0"/>
            </a:endParaRPr>
          </a:p>
          <a:p>
            <a:pPr marL="539496" indent="-457200">
              <a:buFont typeface="+mj-lt"/>
              <a:buAutoNum type="arabicPeriod"/>
            </a:pPr>
            <a:endParaRPr lang="en-US" sz="2400" dirty="0" smtClean="0">
              <a:latin typeface="Times New Roman" pitchFamily="18" charset="0"/>
              <a:cs typeface="Times New Roman" pitchFamily="18" charset="0"/>
            </a:endParaRPr>
          </a:p>
          <a:p>
            <a:pPr marL="539496" indent="-457200">
              <a:buFont typeface="+mj-lt"/>
              <a:buAutoNum type="arabicPeriod"/>
            </a:pPr>
            <a:endParaRPr lang="en-US" sz="2400" dirty="0" smtClean="0">
              <a:latin typeface="Times New Roman" pitchFamily="18" charset="0"/>
              <a:cs typeface="Times New Roman" pitchFamily="18" charset="0"/>
            </a:endParaRPr>
          </a:p>
          <a:p>
            <a:pPr marL="539496" indent="-457200">
              <a:buFont typeface="+mj-lt"/>
              <a:buAutoNum type="arabicPeriod"/>
            </a:pPr>
            <a:endParaRPr lang="en-US" sz="2400" dirty="0" smtClean="0">
              <a:latin typeface="Times New Roman" pitchFamily="18" charset="0"/>
              <a:cs typeface="Times New Roman" pitchFamily="18" charset="0"/>
            </a:endParaRPr>
          </a:p>
          <a:p>
            <a:pPr marL="539496" indent="-457200">
              <a:buNone/>
            </a:pPr>
            <a:r>
              <a:rPr lang="en-US" sz="2400" dirty="0" smtClean="0">
                <a:latin typeface="Times New Roman" pitchFamily="18" charset="0"/>
                <a:cs typeface="Times New Roman" pitchFamily="18" charset="0"/>
              </a:rPr>
              <a:t>     The testing algorithm test the performance of the network.</a:t>
            </a:r>
            <a:endParaRPr lang="en-US" sz="2400" dirty="0">
              <a:latin typeface="Times New Roman" pitchFamily="18" charset="0"/>
              <a:cs typeface="Times New Roman" pitchFamily="18" charset="0"/>
            </a:endParaRPr>
          </a:p>
        </p:txBody>
      </p:sp>
      <p:graphicFrame>
        <p:nvGraphicFramePr>
          <p:cNvPr id="49154" name="Object 2"/>
          <p:cNvGraphicFramePr>
            <a:graphicFrameLocks noChangeAspect="1"/>
          </p:cNvGraphicFramePr>
          <p:nvPr/>
        </p:nvGraphicFramePr>
        <p:xfrm>
          <a:off x="1371600" y="3810000"/>
          <a:ext cx="2362200" cy="838200"/>
        </p:xfrm>
        <a:graphic>
          <a:graphicData uri="http://schemas.openxmlformats.org/presentationml/2006/ole">
            <p:oleObj spid="_x0000_s49154" name="Equation" r:id="rId3" imgW="1091880" imgH="431640" progId="Equation.3">
              <p:embed/>
            </p:oleObj>
          </a:graphicData>
        </a:graphic>
      </p:graphicFrame>
      <p:graphicFrame>
        <p:nvGraphicFramePr>
          <p:cNvPr id="49155" name="Object 3"/>
          <p:cNvGraphicFramePr>
            <a:graphicFrameLocks noChangeAspect="1"/>
          </p:cNvGraphicFramePr>
          <p:nvPr/>
        </p:nvGraphicFramePr>
        <p:xfrm>
          <a:off x="3962400" y="3886200"/>
          <a:ext cx="4572000" cy="1600200"/>
        </p:xfrm>
        <a:graphic>
          <a:graphicData uri="http://schemas.openxmlformats.org/presentationml/2006/ole">
            <p:oleObj spid="_x0000_s49155" name="Equation" r:id="rId4" imgW="2019240" imgH="939600" progId="Equation.3">
              <p:embed/>
            </p:oleObj>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28888" cy="487362"/>
          </a:xfrm>
        </p:spPr>
        <p:txBody>
          <a:bodyPr>
            <a:noAutofit/>
          </a:bodyPr>
          <a:lstStyle/>
          <a:p>
            <a:r>
              <a:rPr lang="en-US" sz="3600" dirty="0" smtClean="0">
                <a:latin typeface="Times New Roman" pitchFamily="18" charset="0"/>
                <a:cs typeface="Times New Roman" pitchFamily="18" charset="0"/>
              </a:rPr>
              <a:t>Adaptive Linear Neuron (Adaline)</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609600" y="990600"/>
            <a:ext cx="8382000" cy="5638800"/>
          </a:xfrm>
        </p:spPr>
        <p:txBody>
          <a:bodyPr>
            <a:normAutofit/>
          </a:bodyPr>
          <a:lstStyle/>
          <a:p>
            <a:pPr marL="539496" indent="-457200" algn="just">
              <a:buFont typeface="+mj-lt"/>
              <a:buAutoNum type="arabicPeriod"/>
            </a:pPr>
            <a:r>
              <a:rPr lang="en-US" sz="2400" dirty="0" smtClean="0">
                <a:latin typeface="Times New Roman" pitchFamily="18" charset="0"/>
                <a:cs typeface="Times New Roman" pitchFamily="18" charset="0"/>
              </a:rPr>
              <a:t>The units with linear activation function are called linear units.</a:t>
            </a:r>
          </a:p>
          <a:p>
            <a:pPr marL="539496" indent="-457200" algn="just">
              <a:buFont typeface="+mj-lt"/>
              <a:buAutoNum type="arabicPeriod"/>
            </a:pPr>
            <a:r>
              <a:rPr lang="en-US" sz="2400" dirty="0" smtClean="0">
                <a:latin typeface="Times New Roman" pitchFamily="18" charset="0"/>
                <a:cs typeface="Times New Roman" pitchFamily="18" charset="0"/>
              </a:rPr>
              <a:t>A network with a single linear unit is called an Adaline (Adaptive linear neuron).</a:t>
            </a:r>
          </a:p>
          <a:p>
            <a:pPr marL="539496" indent="-457200" algn="just">
              <a:buFont typeface="+mj-lt"/>
              <a:buAutoNum type="arabicPeriod"/>
            </a:pPr>
            <a:r>
              <a:rPr lang="en-US" sz="2400" dirty="0" smtClean="0">
                <a:latin typeface="Times New Roman" pitchFamily="18" charset="0"/>
                <a:cs typeface="Times New Roman" pitchFamily="18" charset="0"/>
              </a:rPr>
              <a:t>In an Adaline, the input – output relationship is linear.</a:t>
            </a:r>
          </a:p>
          <a:p>
            <a:pPr marL="539496" indent="-457200" algn="just">
              <a:buFont typeface="+mj-lt"/>
              <a:buAutoNum type="arabicPeriod"/>
            </a:pPr>
            <a:r>
              <a:rPr lang="en-US" sz="2400" dirty="0" smtClean="0">
                <a:latin typeface="Times New Roman" pitchFamily="18" charset="0"/>
                <a:cs typeface="Times New Roman" pitchFamily="18" charset="0"/>
              </a:rPr>
              <a:t>Adaline uses bipolar activation function for its input signals and its target output.</a:t>
            </a:r>
          </a:p>
          <a:p>
            <a:pPr marL="539496" indent="-457200" algn="just">
              <a:buFont typeface="+mj-lt"/>
              <a:buAutoNum type="arabicPeriod"/>
            </a:pPr>
            <a:r>
              <a:rPr lang="en-US" sz="2400" dirty="0" smtClean="0">
                <a:latin typeface="Times New Roman" pitchFamily="18" charset="0"/>
                <a:cs typeface="Times New Roman" pitchFamily="18" charset="0"/>
              </a:rPr>
              <a:t>The weights between the input and the output are adjustable.</a:t>
            </a:r>
          </a:p>
          <a:p>
            <a:pPr marL="539496" indent="-457200" algn="just">
              <a:buFont typeface="+mj-lt"/>
              <a:buAutoNum type="arabicPeriod"/>
            </a:pPr>
            <a:r>
              <a:rPr lang="en-US" sz="2400" dirty="0" smtClean="0">
                <a:latin typeface="Times New Roman" pitchFamily="18" charset="0"/>
                <a:cs typeface="Times New Roman" pitchFamily="18" charset="0"/>
              </a:rPr>
              <a:t>The bias in Adaline acts like an adjustable weight, whose connection is from a unit with activation being always 1.</a:t>
            </a:r>
          </a:p>
          <a:p>
            <a:pPr marL="539496" indent="-457200" algn="just">
              <a:buFont typeface="+mj-lt"/>
              <a:buAutoNum type="arabicPeriod"/>
            </a:pPr>
            <a:r>
              <a:rPr lang="en-US" sz="2400" dirty="0" smtClean="0">
                <a:latin typeface="Times New Roman" pitchFamily="18" charset="0"/>
                <a:cs typeface="Times New Roman" pitchFamily="18" charset="0"/>
              </a:rPr>
              <a:t>Adaline is a net which has only one output unit.</a:t>
            </a:r>
          </a:p>
          <a:p>
            <a:pPr marL="539496" indent="-457200" algn="just">
              <a:buFont typeface="+mj-lt"/>
              <a:buAutoNum type="arabicPeriod"/>
            </a:pPr>
            <a:r>
              <a:rPr lang="en-US" sz="2400" dirty="0" smtClean="0">
                <a:latin typeface="Times New Roman" pitchFamily="18" charset="0"/>
                <a:cs typeface="Times New Roman" pitchFamily="18" charset="0"/>
              </a:rPr>
              <a:t>The Adaline network may be trained using the delta rule (</a:t>
            </a:r>
            <a:r>
              <a:rPr lang="en-US" sz="2400" i="1" dirty="0" smtClean="0">
                <a:latin typeface="Times New Roman" pitchFamily="18" charset="0"/>
                <a:cs typeface="Times New Roman" pitchFamily="18" charset="0"/>
              </a:rPr>
              <a:t>least mean square or </a:t>
            </a:r>
            <a:r>
              <a:rPr lang="en-US" sz="2400" i="1" dirty="0" err="1" smtClean="0">
                <a:latin typeface="Times New Roman" pitchFamily="18" charset="0"/>
                <a:cs typeface="Times New Roman" pitchFamily="18" charset="0"/>
              </a:rPr>
              <a:t>widrow</a:t>
            </a:r>
            <a:r>
              <a:rPr lang="en-US" sz="2400" i="1" dirty="0" smtClean="0">
                <a:latin typeface="Times New Roman" pitchFamily="18" charset="0"/>
                <a:cs typeface="Times New Roman" pitchFamily="18" charset="0"/>
              </a:rPr>
              <a:t> – Hoff rule</a:t>
            </a:r>
            <a:r>
              <a:rPr lang="en-US" sz="2400" dirty="0" smtClean="0">
                <a:latin typeface="Times New Roman" pitchFamily="18" charset="0"/>
                <a:cs typeface="Times New Roman" pitchFamily="18" charset="0"/>
              </a:rPr>
              <a:t>).</a:t>
            </a: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98080" cy="685800"/>
          </a:xfrm>
        </p:spPr>
        <p:txBody>
          <a:bodyPr>
            <a:normAutofit/>
          </a:bodyPr>
          <a:lstStyle/>
          <a:p>
            <a:r>
              <a:rPr lang="en-US" sz="3600" dirty="0" smtClean="0">
                <a:latin typeface="Times New Roman" pitchFamily="18" charset="0"/>
                <a:cs typeface="Times New Roman" pitchFamily="18" charset="0"/>
              </a:rPr>
              <a:t>Delta Rule for Single Output Unit</a:t>
            </a:r>
            <a:endParaRPr lang="en-US" sz="3600" dirty="0"/>
          </a:p>
        </p:txBody>
      </p:sp>
      <p:sp>
        <p:nvSpPr>
          <p:cNvPr id="3" name="Content Placeholder 2"/>
          <p:cNvSpPr>
            <a:spLocks noGrp="1"/>
          </p:cNvSpPr>
          <p:nvPr>
            <p:ph idx="1"/>
          </p:nvPr>
        </p:nvSpPr>
        <p:spPr>
          <a:xfrm>
            <a:off x="609600" y="914400"/>
            <a:ext cx="8382000" cy="5715000"/>
          </a:xfrm>
        </p:spPr>
        <p:txBody>
          <a:bodyPr>
            <a:normAutofit/>
          </a:bodyPr>
          <a:lstStyle/>
          <a:p>
            <a:pPr algn="just"/>
            <a:r>
              <a:rPr lang="en-US" sz="2400" dirty="0" smtClean="0">
                <a:latin typeface="Times New Roman" pitchFamily="18" charset="0"/>
                <a:cs typeface="Times New Roman" pitchFamily="18" charset="0"/>
              </a:rPr>
              <a:t>The </a:t>
            </a:r>
            <a:r>
              <a:rPr lang="en-US" sz="2400" dirty="0" err="1" smtClean="0">
                <a:latin typeface="Times New Roman" pitchFamily="18" charset="0"/>
                <a:cs typeface="Times New Roman" pitchFamily="18" charset="0"/>
              </a:rPr>
              <a:t>Widrow</a:t>
            </a:r>
            <a:r>
              <a:rPr lang="en-US" sz="2400" dirty="0" smtClean="0">
                <a:latin typeface="Times New Roman" pitchFamily="18" charset="0"/>
                <a:cs typeface="Times New Roman" pitchFamily="18" charset="0"/>
              </a:rPr>
              <a:t> – Hoff rule is very similar to perceptron learning. </a:t>
            </a:r>
          </a:p>
          <a:p>
            <a:pPr algn="just"/>
            <a:r>
              <a:rPr lang="en-US" sz="2400" dirty="0" smtClean="0">
                <a:latin typeface="Times New Roman" pitchFamily="18" charset="0"/>
                <a:cs typeface="Times New Roman" pitchFamily="18" charset="0"/>
              </a:rPr>
              <a:t>The delta rule is derived from the gradient – descent method.</a:t>
            </a:r>
          </a:p>
          <a:p>
            <a:pPr algn="just"/>
            <a:r>
              <a:rPr lang="en-US" sz="2400" dirty="0" smtClean="0">
                <a:latin typeface="Times New Roman" pitchFamily="18" charset="0"/>
                <a:cs typeface="Times New Roman" pitchFamily="18" charset="0"/>
              </a:rPr>
              <a:t>The delta rule updates the weights between the connection so as to minimize the difference between the net input unit and the target value.</a:t>
            </a:r>
          </a:p>
          <a:p>
            <a:pPr algn="just"/>
            <a:r>
              <a:rPr lang="en-US" sz="2400" dirty="0" smtClean="0">
                <a:latin typeface="Times New Roman" pitchFamily="18" charset="0"/>
                <a:cs typeface="Times New Roman" pitchFamily="18" charset="0"/>
              </a:rPr>
              <a:t>The main aim is to minimize the error over all training pattern.</a:t>
            </a:r>
          </a:p>
          <a:p>
            <a:pPr algn="just"/>
            <a:r>
              <a:rPr lang="en-US" sz="2400" dirty="0" smtClean="0">
                <a:latin typeface="Times New Roman" pitchFamily="18" charset="0"/>
                <a:cs typeface="Times New Roman" pitchFamily="18" charset="0"/>
              </a:rPr>
              <a:t>The delta rule for adjusting the weight of </a:t>
            </a:r>
            <a:r>
              <a:rPr lang="en-US" sz="2400" dirty="0" err="1" smtClean="0">
                <a:latin typeface="Times New Roman" pitchFamily="18" charset="0"/>
                <a:cs typeface="Times New Roman" pitchFamily="18" charset="0"/>
              </a:rPr>
              <a:t>i</a:t>
            </a:r>
            <a:r>
              <a:rPr lang="en-US" sz="2400" baseline="30000" dirty="0" err="1" smtClean="0">
                <a:latin typeface="Times New Roman" pitchFamily="18" charset="0"/>
                <a:cs typeface="Times New Roman" pitchFamily="18" charset="0"/>
              </a:rPr>
              <a:t>th</a:t>
            </a:r>
            <a:r>
              <a:rPr lang="en-US" sz="2400" dirty="0" smtClean="0">
                <a:latin typeface="Times New Roman" pitchFamily="18" charset="0"/>
                <a:cs typeface="Times New Roman" pitchFamily="18" charset="0"/>
              </a:rPr>
              <a:t> pattern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1 to </a:t>
            </a:r>
            <a:r>
              <a:rPr lang="en-US" sz="2400" i="1" dirty="0"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is: </a:t>
            </a:r>
            <a:r>
              <a:rPr lang="el-GR" sz="2400" dirty="0" smtClean="0">
                <a:latin typeface="Times New Roman" pitchFamily="18" charset="0"/>
                <a:cs typeface="Times New Roman" pitchFamily="18" charset="0"/>
              </a:rPr>
              <a:t>Δ</a:t>
            </a:r>
            <a:r>
              <a:rPr lang="en-US" sz="2400" i="1" dirty="0" err="1" smtClean="0">
                <a:latin typeface="Times New Roman" pitchFamily="18" charset="0"/>
                <a:cs typeface="Times New Roman" pitchFamily="18" charset="0"/>
              </a:rPr>
              <a:t>w</a:t>
            </a:r>
            <a:r>
              <a:rPr lang="en-US" sz="2400" i="1" baseline="-250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a:t>
            </a:r>
            <a:r>
              <a:rPr lang="el-GR" sz="2400" i="1" dirty="0" smtClean="0">
                <a:latin typeface="Times New Roman"/>
                <a:cs typeface="Times New Roman"/>
              </a:rPr>
              <a:t>α</a:t>
            </a:r>
            <a:r>
              <a:rPr lang="en-US" sz="2400" dirty="0" smtClean="0">
                <a:latin typeface="Times New Roman"/>
                <a:cs typeface="Times New Roman"/>
              </a:rPr>
              <a:t>(</a:t>
            </a:r>
            <a:r>
              <a:rPr lang="en-US" sz="2400" i="1" dirty="0" smtClean="0">
                <a:latin typeface="Times New Roman"/>
                <a:cs typeface="Times New Roman"/>
              </a:rPr>
              <a:t>t</a:t>
            </a:r>
            <a:r>
              <a:rPr lang="en-US" sz="2400" dirty="0" smtClean="0">
                <a:latin typeface="Times New Roman"/>
                <a:cs typeface="Times New Roman"/>
              </a:rPr>
              <a:t> - </a:t>
            </a:r>
            <a:r>
              <a:rPr lang="en-US" sz="2400" i="1" dirty="0" smtClean="0">
                <a:latin typeface="Times New Roman"/>
                <a:cs typeface="Times New Roman"/>
              </a:rPr>
              <a:t>y</a:t>
            </a:r>
            <a:r>
              <a:rPr lang="en-US" sz="2400" i="1" baseline="-25000" dirty="0" smtClean="0">
                <a:latin typeface="Times New Roman"/>
                <a:cs typeface="Times New Roman"/>
              </a:rPr>
              <a:t>in</a:t>
            </a:r>
            <a:r>
              <a:rPr lang="en-US" sz="2400" dirty="0" smtClean="0">
                <a:latin typeface="Times New Roman"/>
                <a:cs typeface="Times New Roman"/>
              </a:rPr>
              <a:t>)</a:t>
            </a:r>
            <a:r>
              <a:rPr lang="en-US" sz="2400" i="1" dirty="0" smtClean="0">
                <a:latin typeface="Times New Roman"/>
                <a:cs typeface="Times New Roman"/>
              </a:rPr>
              <a:t>x</a:t>
            </a:r>
            <a:r>
              <a:rPr lang="en-US" sz="2400" i="1" baseline="-25000" dirty="0" smtClean="0">
                <a:latin typeface="Times New Roman"/>
                <a:cs typeface="Times New Roman"/>
              </a:rPr>
              <a:t>i</a:t>
            </a:r>
            <a:r>
              <a:rPr lang="en-US" sz="2400" baseline="-25000" dirty="0" smtClean="0">
                <a:latin typeface="Times New Roman"/>
                <a:cs typeface="Times New Roman"/>
              </a:rPr>
              <a:t> </a:t>
            </a:r>
            <a:r>
              <a:rPr lang="en-US" sz="2400" dirty="0" smtClean="0">
                <a:latin typeface="Times New Roman"/>
                <a:cs typeface="Times New Roman"/>
              </a:rPr>
              <a:t> where </a:t>
            </a:r>
            <a:r>
              <a:rPr lang="el-GR" sz="2400" dirty="0" smtClean="0">
                <a:latin typeface="Times New Roman" pitchFamily="18" charset="0"/>
                <a:cs typeface="Times New Roman" pitchFamily="18" charset="0"/>
              </a:rPr>
              <a:t>Δ</a:t>
            </a:r>
            <a:r>
              <a:rPr lang="en-US" sz="2400" i="1" dirty="0" err="1" smtClean="0">
                <a:latin typeface="Times New Roman" pitchFamily="18" charset="0"/>
                <a:cs typeface="Times New Roman" pitchFamily="18" charset="0"/>
              </a:rPr>
              <a:t>w</a:t>
            </a:r>
            <a:r>
              <a:rPr lang="en-US" sz="2400" i="1" baseline="-25000" dirty="0" err="1" smtClean="0">
                <a:latin typeface="Times New Roman" pitchFamily="18" charset="0"/>
                <a:cs typeface="Times New Roman" pitchFamily="18" charset="0"/>
              </a:rPr>
              <a:t>i</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is the weight change; </a:t>
            </a:r>
            <a:r>
              <a:rPr lang="el-GR" sz="2400" i="1" dirty="0" smtClean="0">
                <a:latin typeface="Times New Roman"/>
                <a:cs typeface="Times New Roman"/>
              </a:rPr>
              <a:t>α</a:t>
            </a:r>
            <a:r>
              <a:rPr lang="en-US" sz="2400" i="1" dirty="0" smtClean="0">
                <a:latin typeface="Times New Roman"/>
                <a:cs typeface="Times New Roman"/>
              </a:rPr>
              <a:t> </a:t>
            </a:r>
            <a:r>
              <a:rPr lang="en-US" sz="2400" dirty="0" smtClean="0">
                <a:latin typeface="Times New Roman"/>
                <a:cs typeface="Times New Roman"/>
              </a:rPr>
              <a:t>the learning rate; </a:t>
            </a:r>
            <a:r>
              <a:rPr lang="en-US" sz="2400" i="1" dirty="0" smtClean="0">
                <a:latin typeface="Times New Roman"/>
                <a:cs typeface="Times New Roman"/>
              </a:rPr>
              <a:t>y</a:t>
            </a:r>
            <a:r>
              <a:rPr lang="en-US" sz="2400" i="1" baseline="-25000" dirty="0" smtClean="0">
                <a:latin typeface="Times New Roman"/>
                <a:cs typeface="Times New Roman"/>
              </a:rPr>
              <a:t>in</a:t>
            </a:r>
            <a:r>
              <a:rPr lang="en-US" sz="2400" i="1" dirty="0" smtClean="0">
                <a:latin typeface="Times New Roman"/>
                <a:cs typeface="Times New Roman"/>
              </a:rPr>
              <a:t> </a:t>
            </a:r>
            <a:r>
              <a:rPr lang="en-US" sz="2400" dirty="0" smtClean="0">
                <a:latin typeface="Times New Roman"/>
                <a:cs typeface="Times New Roman"/>
              </a:rPr>
              <a:t>the net input to the output unit; t the target output.</a:t>
            </a:r>
            <a:endParaRPr lang="en-US" sz="2400" baseline="-250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delta rule in case of several output unit for adjusting the weight from </a:t>
            </a:r>
            <a:r>
              <a:rPr lang="en-US" sz="2400" i="1" dirty="0" err="1" smtClean="0">
                <a:latin typeface="Times New Roman" pitchFamily="18" charset="0"/>
                <a:cs typeface="Times New Roman" pitchFamily="18" charset="0"/>
              </a:rPr>
              <a:t>i</a:t>
            </a:r>
            <a:r>
              <a:rPr lang="en-US" sz="2400" i="1" baseline="30000" dirty="0" err="1" smtClean="0">
                <a:latin typeface="Times New Roman" pitchFamily="18" charset="0"/>
                <a:cs typeface="Times New Roman" pitchFamily="18" charset="0"/>
              </a:rPr>
              <a:t>th</a:t>
            </a:r>
            <a:r>
              <a:rPr lang="en-US" sz="2400" i="1" baseline="300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input unit to the </a:t>
            </a:r>
            <a:r>
              <a:rPr lang="en-US" sz="2400" i="1" dirty="0" err="1" smtClean="0">
                <a:latin typeface="Times New Roman" pitchFamily="18" charset="0"/>
                <a:cs typeface="Times New Roman" pitchFamily="18" charset="0"/>
              </a:rPr>
              <a:t>j</a:t>
            </a:r>
            <a:r>
              <a:rPr lang="en-US" sz="2400" i="1" baseline="30000" dirty="0" err="1" smtClean="0">
                <a:latin typeface="Times New Roman" pitchFamily="18" charset="0"/>
                <a:cs typeface="Times New Roman" pitchFamily="18" charset="0"/>
              </a:rPr>
              <a:t>th</a:t>
            </a:r>
            <a:r>
              <a:rPr lang="en-US" sz="2400" dirty="0" smtClean="0">
                <a:latin typeface="Times New Roman" pitchFamily="18" charset="0"/>
                <a:cs typeface="Times New Roman" pitchFamily="18" charset="0"/>
              </a:rPr>
              <a:t> output unit is: </a:t>
            </a:r>
            <a:r>
              <a:rPr lang="el-GR" sz="2400" dirty="0" smtClean="0">
                <a:latin typeface="Times New Roman" pitchFamily="18" charset="0"/>
                <a:cs typeface="Times New Roman" pitchFamily="18" charset="0"/>
              </a:rPr>
              <a:t>Δ</a:t>
            </a:r>
            <a:r>
              <a:rPr lang="en-US" sz="2400" i="1" dirty="0" err="1" smtClean="0">
                <a:latin typeface="Times New Roman" pitchFamily="18" charset="0"/>
                <a:cs typeface="Times New Roman" pitchFamily="18" charset="0"/>
              </a:rPr>
              <a:t>w</a:t>
            </a:r>
            <a:r>
              <a:rPr lang="en-US" sz="2400" i="1"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 = </a:t>
            </a:r>
            <a:r>
              <a:rPr lang="el-GR" sz="2400" i="1" dirty="0" smtClean="0">
                <a:latin typeface="Times New Roman"/>
                <a:cs typeface="Times New Roman"/>
              </a:rPr>
              <a:t>α</a:t>
            </a:r>
            <a:r>
              <a:rPr lang="en-US" sz="2400" dirty="0" smtClean="0">
                <a:latin typeface="Times New Roman"/>
                <a:cs typeface="Times New Roman"/>
              </a:rPr>
              <a:t>(</a:t>
            </a:r>
            <a:r>
              <a:rPr lang="en-US" sz="2400" i="1" dirty="0" err="1" smtClean="0">
                <a:latin typeface="Times New Roman"/>
                <a:cs typeface="Times New Roman"/>
              </a:rPr>
              <a:t>t</a:t>
            </a:r>
            <a:r>
              <a:rPr lang="en-US" sz="2400" i="1" baseline="-25000" dirty="0" err="1" smtClean="0">
                <a:latin typeface="Times New Roman"/>
                <a:cs typeface="Times New Roman"/>
              </a:rPr>
              <a:t>j</a:t>
            </a:r>
            <a:r>
              <a:rPr lang="en-US" sz="2400" dirty="0" smtClean="0">
                <a:latin typeface="Times New Roman"/>
                <a:cs typeface="Times New Roman"/>
              </a:rPr>
              <a:t> - </a:t>
            </a:r>
            <a:r>
              <a:rPr lang="en-US" sz="2400" i="1" dirty="0" err="1" smtClean="0">
                <a:latin typeface="Times New Roman"/>
                <a:cs typeface="Times New Roman"/>
              </a:rPr>
              <a:t>y</a:t>
            </a:r>
            <a:r>
              <a:rPr lang="en-US" sz="2400" i="1" baseline="-25000" dirty="0" err="1" smtClean="0">
                <a:latin typeface="Times New Roman"/>
                <a:cs typeface="Times New Roman"/>
              </a:rPr>
              <a:t>inj</a:t>
            </a:r>
            <a:r>
              <a:rPr lang="en-US" sz="2400" dirty="0" smtClean="0">
                <a:latin typeface="Times New Roman"/>
                <a:cs typeface="Times New Roman"/>
              </a:rPr>
              <a:t>)</a:t>
            </a:r>
            <a:r>
              <a:rPr lang="en-US" sz="2400" i="1" dirty="0" smtClean="0">
                <a:latin typeface="Times New Roman"/>
                <a:cs typeface="Times New Roman"/>
              </a:rPr>
              <a:t>x</a:t>
            </a:r>
            <a:r>
              <a:rPr lang="en-US" sz="2400" i="1" baseline="-25000" dirty="0" smtClean="0">
                <a:latin typeface="Times New Roman"/>
                <a:cs typeface="Times New Roman"/>
              </a:rPr>
              <a:t>i</a:t>
            </a:r>
            <a:endParaRPr lang="en-US" sz="2400" i="1" baseline="30000" dirty="0" smtClean="0">
              <a:latin typeface="Times New Roman"/>
              <a:cs typeface="Times New Roman"/>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498080" cy="487362"/>
          </a:xfrm>
        </p:spPr>
        <p:txBody>
          <a:bodyPr>
            <a:noAutofit/>
          </a:bodyPr>
          <a:lstStyle/>
          <a:p>
            <a:r>
              <a:rPr lang="en-US" sz="3600" dirty="0" smtClean="0">
                <a:latin typeface="Times New Roman" pitchFamily="18" charset="0"/>
                <a:cs typeface="Times New Roman" pitchFamily="18" charset="0"/>
              </a:rPr>
              <a:t>Training Algorithm</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609600" y="609600"/>
            <a:ext cx="8324088" cy="6096000"/>
          </a:xfrm>
        </p:spPr>
        <p:txBody>
          <a:bodyPr>
            <a:normAutofit/>
          </a:bodyPr>
          <a:lstStyle/>
          <a:p>
            <a:pPr marL="539496" indent="-457200" algn="just">
              <a:buFont typeface="+mj-lt"/>
              <a:buAutoNum type="arabicPeriod"/>
            </a:pPr>
            <a:r>
              <a:rPr lang="en-US" sz="2400" dirty="0" smtClean="0">
                <a:latin typeface="Times New Roman" pitchFamily="18" charset="0"/>
                <a:cs typeface="Times New Roman" pitchFamily="18" charset="0"/>
              </a:rPr>
              <a:t>Weights and bias are set to some random value but not zero. Set the learning rate parameter </a:t>
            </a:r>
            <a:r>
              <a:rPr lang="el-GR" sz="2400" dirty="0" smtClean="0">
                <a:latin typeface="Times New Roman"/>
                <a:cs typeface="Times New Roman"/>
              </a:rPr>
              <a:t>α</a:t>
            </a:r>
            <a:r>
              <a:rPr lang="en-US" sz="2400" dirty="0" smtClean="0">
                <a:latin typeface="Times New Roman"/>
                <a:cs typeface="Times New Roman"/>
              </a:rPr>
              <a:t> (range between 0.1 and 1.0).</a:t>
            </a:r>
          </a:p>
          <a:p>
            <a:pPr marL="539496" indent="-457200" algn="just">
              <a:buFont typeface="+mj-lt"/>
              <a:buAutoNum type="arabicPeriod"/>
            </a:pPr>
            <a:r>
              <a:rPr lang="en-US" sz="2400" dirty="0" smtClean="0">
                <a:latin typeface="Times New Roman"/>
                <a:cs typeface="Times New Roman"/>
              </a:rPr>
              <a:t>Perform step 3 – 7 when stopping condition is false.</a:t>
            </a:r>
          </a:p>
          <a:p>
            <a:pPr marL="539496" indent="-457200" algn="just">
              <a:buFont typeface="+mj-lt"/>
              <a:buAutoNum type="arabicPeriod"/>
            </a:pPr>
            <a:r>
              <a:rPr lang="en-US" sz="2400" dirty="0" smtClean="0">
                <a:latin typeface="Times New Roman"/>
                <a:cs typeface="Times New Roman"/>
              </a:rPr>
              <a:t>Perform step 4 – 6 for each bipolar training pair </a:t>
            </a:r>
            <a:r>
              <a:rPr lang="en-US" sz="2400" i="1" dirty="0" smtClean="0">
                <a:latin typeface="Times New Roman"/>
                <a:cs typeface="Times New Roman"/>
              </a:rPr>
              <a:t>s:t</a:t>
            </a:r>
            <a:r>
              <a:rPr lang="en-US" sz="2400" dirty="0" smtClean="0">
                <a:latin typeface="Times New Roman"/>
                <a:cs typeface="Times New Roman"/>
              </a:rPr>
              <a:t>.</a:t>
            </a:r>
          </a:p>
          <a:p>
            <a:pPr marL="539496" indent="-457200" algn="just">
              <a:buFont typeface="+mj-lt"/>
              <a:buAutoNum type="arabicPeriod"/>
            </a:pPr>
            <a:r>
              <a:rPr lang="en-US" sz="2400" dirty="0" smtClean="0">
                <a:latin typeface="Times New Roman"/>
                <a:cs typeface="Times New Roman"/>
              </a:rPr>
              <a:t>Set activation for input units </a:t>
            </a:r>
            <a:r>
              <a:rPr lang="en-US" sz="2400" i="1" dirty="0" err="1" smtClean="0">
                <a:latin typeface="Times New Roman"/>
                <a:cs typeface="Times New Roman"/>
              </a:rPr>
              <a:t>i</a:t>
            </a:r>
            <a:r>
              <a:rPr lang="en-US" sz="2400" dirty="0" smtClean="0">
                <a:latin typeface="Times New Roman"/>
                <a:cs typeface="Times New Roman"/>
              </a:rPr>
              <a:t> = 1 to </a:t>
            </a:r>
            <a:r>
              <a:rPr lang="en-US" sz="2400" i="1" dirty="0" smtClean="0">
                <a:latin typeface="Times New Roman"/>
                <a:cs typeface="Times New Roman"/>
              </a:rPr>
              <a:t>n.</a:t>
            </a:r>
            <a:endParaRPr lang="en-US" sz="2400" dirty="0" smtClean="0">
              <a:latin typeface="Times New Roman"/>
              <a:cs typeface="Times New Roman"/>
            </a:endParaRPr>
          </a:p>
          <a:p>
            <a:pPr marL="539496" indent="-457200" algn="just">
              <a:buNone/>
            </a:pPr>
            <a:r>
              <a:rPr lang="en-US" sz="2400" dirty="0" smtClean="0">
                <a:latin typeface="Times New Roman"/>
                <a:cs typeface="Times New Roman"/>
              </a:rPr>
              <a:t>                                   </a:t>
            </a:r>
            <a:r>
              <a:rPr lang="en-US" sz="2400" i="1" dirty="0" smtClean="0">
                <a:latin typeface="Times New Roman"/>
                <a:cs typeface="Times New Roman"/>
              </a:rPr>
              <a:t>x</a:t>
            </a:r>
            <a:r>
              <a:rPr lang="en-US" sz="2400" i="1" baseline="-25000" dirty="0" smtClean="0">
                <a:latin typeface="Times New Roman"/>
                <a:cs typeface="Times New Roman"/>
              </a:rPr>
              <a:t>i</a:t>
            </a:r>
            <a:r>
              <a:rPr lang="en-US" sz="2400" dirty="0" smtClean="0">
                <a:latin typeface="Times New Roman"/>
                <a:cs typeface="Times New Roman"/>
              </a:rPr>
              <a:t> = </a:t>
            </a:r>
            <a:r>
              <a:rPr lang="en-US" sz="2400" i="1" dirty="0" err="1" smtClean="0">
                <a:latin typeface="Times New Roman"/>
                <a:cs typeface="Times New Roman"/>
              </a:rPr>
              <a:t>s</a:t>
            </a:r>
            <a:r>
              <a:rPr lang="en-US" sz="2400" i="1" baseline="-25000" dirty="0" err="1" smtClean="0">
                <a:latin typeface="Times New Roman"/>
                <a:cs typeface="Times New Roman"/>
              </a:rPr>
              <a:t>i</a:t>
            </a:r>
            <a:endParaRPr lang="en-US" sz="2400" i="1" baseline="-25000" dirty="0" smtClean="0">
              <a:latin typeface="Times New Roman"/>
              <a:cs typeface="Times New Roman"/>
            </a:endParaRPr>
          </a:p>
          <a:p>
            <a:pPr marL="539496" indent="-457200" algn="just">
              <a:buFont typeface="+mj-lt"/>
              <a:buAutoNum type="arabicPeriod" startAt="5"/>
            </a:pPr>
            <a:r>
              <a:rPr lang="en-US" sz="2400" dirty="0" smtClean="0">
                <a:latin typeface="Times New Roman"/>
                <a:cs typeface="Times New Roman"/>
              </a:rPr>
              <a:t>Calculate the net input to the output unit.</a:t>
            </a:r>
          </a:p>
          <a:p>
            <a:pPr marL="539496" indent="-457200" algn="just">
              <a:buFont typeface="+mj-lt"/>
              <a:buAutoNum type="arabicPeriod" startAt="5"/>
            </a:pPr>
            <a:endParaRPr lang="en-US" sz="2400" dirty="0" smtClean="0">
              <a:latin typeface="Times New Roman"/>
              <a:cs typeface="Times New Roman"/>
            </a:endParaRPr>
          </a:p>
          <a:p>
            <a:pPr marL="539496" indent="-457200" algn="just">
              <a:buFont typeface="+mj-lt"/>
              <a:buAutoNum type="arabicPeriod" startAt="5"/>
            </a:pPr>
            <a:r>
              <a:rPr lang="en-US" sz="2400" dirty="0" smtClean="0">
                <a:latin typeface="Times New Roman"/>
                <a:cs typeface="Times New Roman"/>
              </a:rPr>
              <a:t>Update the weights and bias for </a:t>
            </a:r>
            <a:r>
              <a:rPr lang="en-US" sz="2400" dirty="0" err="1" smtClean="0">
                <a:latin typeface="Times New Roman"/>
                <a:cs typeface="Times New Roman"/>
              </a:rPr>
              <a:t>i</a:t>
            </a:r>
            <a:r>
              <a:rPr lang="en-US" sz="2400" dirty="0" smtClean="0">
                <a:latin typeface="Times New Roman"/>
                <a:cs typeface="Times New Roman"/>
              </a:rPr>
              <a:t> = to n:</a:t>
            </a:r>
          </a:p>
          <a:p>
            <a:pPr marL="539496" indent="-457200" algn="just">
              <a:buNone/>
            </a:pPr>
            <a:r>
              <a:rPr lang="en-US" sz="2400" dirty="0" smtClean="0">
                <a:latin typeface="Times New Roman"/>
                <a:cs typeface="Times New Roman"/>
              </a:rPr>
              <a:t>                                     </a:t>
            </a:r>
            <a:r>
              <a:rPr lang="en-US" sz="2400" i="1" dirty="0" err="1" smtClean="0">
                <a:latin typeface="Times New Roman"/>
                <a:cs typeface="Times New Roman"/>
              </a:rPr>
              <a:t>w</a:t>
            </a:r>
            <a:r>
              <a:rPr lang="en-US" sz="2400" i="1" baseline="-25000" dirty="0" err="1" smtClean="0">
                <a:latin typeface="Times New Roman"/>
                <a:cs typeface="Times New Roman"/>
              </a:rPr>
              <a:t>i</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a:t>
            </a:r>
            <a:r>
              <a:rPr lang="en-US" sz="2400" i="1" dirty="0" smtClean="0">
                <a:latin typeface="Times New Roman"/>
                <a:cs typeface="Times New Roman"/>
              </a:rPr>
              <a:t> </a:t>
            </a:r>
            <a:r>
              <a:rPr lang="en-US" sz="2400" i="1" dirty="0" err="1" smtClean="0">
                <a:latin typeface="Times New Roman"/>
                <a:cs typeface="Times New Roman"/>
              </a:rPr>
              <a:t>w</a:t>
            </a:r>
            <a:r>
              <a:rPr lang="en-US" sz="2400" i="1" baseline="-25000" dirty="0" err="1" smtClean="0">
                <a:latin typeface="Times New Roman"/>
                <a:cs typeface="Times New Roman"/>
              </a:rPr>
              <a:t>i</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 + </a:t>
            </a:r>
            <a:r>
              <a:rPr lang="el-GR" sz="2400" i="1" dirty="0" smtClean="0">
                <a:latin typeface="Times New Roman"/>
                <a:cs typeface="Times New Roman"/>
              </a:rPr>
              <a:t>α</a:t>
            </a:r>
            <a:r>
              <a:rPr lang="en-US" sz="2400" dirty="0" smtClean="0">
                <a:latin typeface="Times New Roman"/>
                <a:cs typeface="Times New Roman"/>
              </a:rPr>
              <a:t>(</a:t>
            </a:r>
            <a:r>
              <a:rPr lang="en-US" sz="2400" i="1" dirty="0" smtClean="0">
                <a:latin typeface="Times New Roman"/>
                <a:cs typeface="Times New Roman"/>
              </a:rPr>
              <a:t>t - yin</a:t>
            </a:r>
            <a:r>
              <a:rPr lang="en-US" sz="2400" dirty="0" smtClean="0">
                <a:latin typeface="Times New Roman"/>
                <a:cs typeface="Times New Roman"/>
              </a:rPr>
              <a:t>)</a:t>
            </a:r>
            <a:r>
              <a:rPr lang="en-US" sz="2400" i="1" dirty="0" smtClean="0">
                <a:latin typeface="Times New Roman"/>
                <a:cs typeface="Times New Roman"/>
              </a:rPr>
              <a:t>x</a:t>
            </a:r>
            <a:r>
              <a:rPr lang="en-US" sz="2400" i="1" baseline="-25000" dirty="0" smtClean="0">
                <a:latin typeface="Times New Roman"/>
                <a:cs typeface="Times New Roman"/>
              </a:rPr>
              <a:t>i </a:t>
            </a:r>
            <a:r>
              <a:rPr lang="en-US" sz="2400" i="1" dirty="0" smtClean="0">
                <a:latin typeface="Times New Roman"/>
                <a:cs typeface="Times New Roman"/>
              </a:rPr>
              <a:t> </a:t>
            </a:r>
          </a:p>
          <a:p>
            <a:pPr marL="539496" indent="-457200" algn="just">
              <a:buNone/>
            </a:pPr>
            <a:r>
              <a:rPr lang="en-US" sz="2400" i="1" dirty="0" smtClean="0">
                <a:latin typeface="Times New Roman"/>
                <a:cs typeface="Times New Roman"/>
              </a:rPr>
              <a:t>                                           b</a:t>
            </a:r>
            <a:r>
              <a:rPr lang="en-US" sz="2400" dirty="0" smtClean="0">
                <a:latin typeface="Times New Roman"/>
                <a:cs typeface="Times New Roman"/>
              </a:rPr>
              <a:t>(</a:t>
            </a:r>
            <a:r>
              <a:rPr lang="en-US" sz="2400" i="1" dirty="0" smtClean="0">
                <a:latin typeface="Times New Roman"/>
                <a:cs typeface="Times New Roman"/>
              </a:rPr>
              <a:t>new</a:t>
            </a:r>
            <a:r>
              <a:rPr lang="en-US" sz="2400" dirty="0" smtClean="0">
                <a:latin typeface="Times New Roman"/>
                <a:cs typeface="Times New Roman"/>
              </a:rPr>
              <a:t>) = </a:t>
            </a:r>
            <a:r>
              <a:rPr lang="en-US" sz="2400" i="1" dirty="0" smtClean="0">
                <a:latin typeface="Times New Roman"/>
                <a:cs typeface="Times New Roman"/>
              </a:rPr>
              <a:t>b</a:t>
            </a:r>
            <a:r>
              <a:rPr lang="en-US" sz="2400" dirty="0" smtClean="0">
                <a:latin typeface="Times New Roman"/>
                <a:cs typeface="Times New Roman"/>
              </a:rPr>
              <a:t>(</a:t>
            </a:r>
            <a:r>
              <a:rPr lang="en-US" sz="2400" i="1" dirty="0" smtClean="0">
                <a:latin typeface="Times New Roman"/>
                <a:cs typeface="Times New Roman"/>
              </a:rPr>
              <a:t>old</a:t>
            </a:r>
            <a:r>
              <a:rPr lang="en-US" sz="2400" dirty="0" smtClean="0">
                <a:latin typeface="Times New Roman"/>
                <a:cs typeface="Times New Roman"/>
              </a:rPr>
              <a:t>) + </a:t>
            </a:r>
            <a:r>
              <a:rPr lang="el-GR" sz="2400" i="1" dirty="0" smtClean="0">
                <a:latin typeface="Times New Roman"/>
                <a:cs typeface="Times New Roman"/>
              </a:rPr>
              <a:t>α</a:t>
            </a:r>
            <a:r>
              <a:rPr lang="en-US" sz="2400" dirty="0" smtClean="0">
                <a:latin typeface="Times New Roman"/>
                <a:cs typeface="Times New Roman"/>
              </a:rPr>
              <a:t>(</a:t>
            </a:r>
            <a:r>
              <a:rPr lang="en-US" sz="2400" i="1" dirty="0" smtClean="0">
                <a:latin typeface="Times New Roman"/>
                <a:cs typeface="Times New Roman"/>
              </a:rPr>
              <a:t>t - y</a:t>
            </a:r>
            <a:r>
              <a:rPr lang="en-US" sz="2400" i="1" baseline="-25000" dirty="0" smtClean="0">
                <a:latin typeface="Times New Roman"/>
                <a:cs typeface="Times New Roman"/>
              </a:rPr>
              <a:t>in</a:t>
            </a:r>
            <a:r>
              <a:rPr lang="en-US" sz="2400" dirty="0" smtClean="0">
                <a:latin typeface="Times New Roman"/>
                <a:cs typeface="Times New Roman"/>
              </a:rPr>
              <a:t>)  </a:t>
            </a:r>
          </a:p>
          <a:p>
            <a:pPr marL="539496" indent="-457200" algn="just">
              <a:buFont typeface="+mj-lt"/>
              <a:buAutoNum type="arabicPeriod" startAt="7"/>
            </a:pPr>
            <a:r>
              <a:rPr lang="en-US" sz="2400" dirty="0" smtClean="0">
                <a:latin typeface="Times New Roman"/>
                <a:cs typeface="Times New Roman"/>
              </a:rPr>
              <a:t>If the highest weight change that occurred during training is smaller than a specified tolerance then stop the training process else continue.                       </a:t>
            </a:r>
          </a:p>
          <a:p>
            <a:pPr algn="just"/>
            <a:endParaRPr lang="en-US" sz="2400" dirty="0">
              <a:latin typeface="Times New Roman" pitchFamily="18" charset="0"/>
              <a:cs typeface="Times New Roman" pitchFamily="18" charset="0"/>
            </a:endParaRPr>
          </a:p>
        </p:txBody>
      </p:sp>
      <p:graphicFrame>
        <p:nvGraphicFramePr>
          <p:cNvPr id="54276" name="Object 4"/>
          <p:cNvGraphicFramePr>
            <a:graphicFrameLocks noChangeAspect="1"/>
          </p:cNvGraphicFramePr>
          <p:nvPr/>
        </p:nvGraphicFramePr>
        <p:xfrm>
          <a:off x="3657600" y="3429000"/>
          <a:ext cx="2362200" cy="838200"/>
        </p:xfrm>
        <a:graphic>
          <a:graphicData uri="http://schemas.openxmlformats.org/presentationml/2006/ole">
            <p:oleObj spid="_x0000_s54276" name="Equation" r:id="rId3" imgW="1091880" imgH="431640" progId="Equation.3">
              <p:embed/>
            </p:oleObj>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552688" cy="715962"/>
          </a:xfrm>
        </p:spPr>
        <p:txBody>
          <a:bodyPr>
            <a:normAutofit/>
          </a:bodyPr>
          <a:lstStyle/>
          <a:p>
            <a:r>
              <a:rPr lang="en-US" sz="3600" dirty="0" smtClean="0">
                <a:latin typeface="Times New Roman" pitchFamily="18" charset="0"/>
                <a:cs typeface="Times New Roman" pitchFamily="18" charset="0"/>
              </a:rPr>
              <a:t>Testing Algorithm</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476488" cy="5562600"/>
          </a:xfrm>
        </p:spPr>
        <p:txBody>
          <a:bodyPr>
            <a:normAutofit/>
          </a:bodyPr>
          <a:lstStyle/>
          <a:p>
            <a:pPr marL="539496" indent="-457200" algn="just">
              <a:buFont typeface="+mj-lt"/>
              <a:buAutoNum type="arabicPeriod"/>
            </a:pPr>
            <a:r>
              <a:rPr lang="en-US" sz="2400" dirty="0" smtClean="0">
                <a:latin typeface="Times New Roman" pitchFamily="18" charset="0"/>
                <a:cs typeface="Times New Roman" pitchFamily="18" charset="0"/>
              </a:rPr>
              <a:t>Initialize the weights. (The weights are obtained from the training algorithm).</a:t>
            </a:r>
          </a:p>
          <a:p>
            <a:pPr marL="539496" indent="-457200" algn="just">
              <a:buFont typeface="+mj-lt"/>
              <a:buAutoNum type="arabicPeriod"/>
            </a:pPr>
            <a:r>
              <a:rPr lang="en-US" sz="2400" dirty="0" smtClean="0">
                <a:latin typeface="Times New Roman" pitchFamily="18" charset="0"/>
                <a:cs typeface="Times New Roman" pitchFamily="18" charset="0"/>
              </a:rPr>
              <a:t>Perform steps 3 – 5 for each bipolar input vector </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a:t>
            </a:r>
          </a:p>
          <a:p>
            <a:pPr marL="539496" indent="-457200" algn="just">
              <a:buFont typeface="+mj-lt"/>
              <a:buAutoNum type="arabicPeriod"/>
            </a:pPr>
            <a:r>
              <a:rPr lang="en-US" sz="2400" dirty="0" smtClean="0">
                <a:latin typeface="Times New Roman" pitchFamily="18" charset="0"/>
                <a:cs typeface="Times New Roman" pitchFamily="18" charset="0"/>
              </a:rPr>
              <a:t>Set the activation of the input units to </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a:t>
            </a:r>
          </a:p>
          <a:p>
            <a:pPr marL="539496" indent="-457200" algn="just">
              <a:buFont typeface="+mj-lt"/>
              <a:buAutoNum type="arabicPeriod"/>
            </a:pPr>
            <a:r>
              <a:rPr lang="en-US" sz="2400" dirty="0" smtClean="0">
                <a:latin typeface="Times New Roman" pitchFamily="18" charset="0"/>
                <a:cs typeface="Times New Roman" pitchFamily="18" charset="0"/>
              </a:rPr>
              <a:t>Calculate the net input to the output unit:</a:t>
            </a: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r>
              <a:rPr lang="en-US" sz="2400" dirty="0" smtClean="0">
                <a:latin typeface="Times New Roman" pitchFamily="18" charset="0"/>
                <a:cs typeface="Times New Roman" pitchFamily="18" charset="0"/>
              </a:rPr>
              <a:t>Apply the activation function over the net input </a:t>
            </a:r>
            <a:r>
              <a:rPr lang="en-US" sz="2400" dirty="0" err="1" smtClean="0">
                <a:latin typeface="Times New Roman" pitchFamily="18" charset="0"/>
                <a:cs typeface="Times New Roman" pitchFamily="18" charset="0"/>
              </a:rPr>
              <a:t>calcutaed</a:t>
            </a:r>
            <a:r>
              <a:rPr lang="en-US" sz="2400" dirty="0" smtClean="0">
                <a:latin typeface="Times New Roman" pitchFamily="18" charset="0"/>
                <a:cs typeface="Times New Roman" pitchFamily="18" charset="0"/>
              </a:rPr>
              <a:t>:</a:t>
            </a: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None/>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a:latin typeface="Times New Roman" pitchFamily="18" charset="0"/>
              <a:cs typeface="Times New Roman" pitchFamily="18" charset="0"/>
            </a:endParaRPr>
          </a:p>
        </p:txBody>
      </p:sp>
      <p:graphicFrame>
        <p:nvGraphicFramePr>
          <p:cNvPr id="57346" name="Object 2"/>
          <p:cNvGraphicFramePr>
            <a:graphicFrameLocks noChangeAspect="1"/>
          </p:cNvGraphicFramePr>
          <p:nvPr/>
        </p:nvGraphicFramePr>
        <p:xfrm>
          <a:off x="3657600" y="3200400"/>
          <a:ext cx="2362200" cy="838200"/>
        </p:xfrm>
        <a:graphic>
          <a:graphicData uri="http://schemas.openxmlformats.org/presentationml/2006/ole">
            <p:oleObj spid="_x0000_s57346" name="Equation" r:id="rId3" imgW="1091880" imgH="431640" progId="Equation.3">
              <p:embed/>
            </p:oleObj>
          </a:graphicData>
        </a:graphic>
      </p:graphicFrame>
      <p:graphicFrame>
        <p:nvGraphicFramePr>
          <p:cNvPr id="5" name="Object 4"/>
          <p:cNvGraphicFramePr>
            <a:graphicFrameLocks noChangeAspect="1"/>
          </p:cNvGraphicFramePr>
          <p:nvPr/>
        </p:nvGraphicFramePr>
        <p:xfrm>
          <a:off x="3505200" y="4572000"/>
          <a:ext cx="2514600" cy="1295400"/>
        </p:xfrm>
        <a:graphic>
          <a:graphicData uri="http://schemas.openxmlformats.org/presentationml/2006/ole">
            <p:oleObj spid="_x0000_s57347" name="Equation" r:id="rId4" imgW="1104840" imgH="634680" progId="Equation.3">
              <p:embed/>
            </p:oleObj>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400288" cy="792162"/>
          </a:xfrm>
        </p:spPr>
        <p:txBody>
          <a:bodyPr>
            <a:normAutofit fontScale="90000"/>
          </a:bodyPr>
          <a:lstStyle/>
          <a:p>
            <a:r>
              <a:rPr lang="en-US" sz="3600" b="1" dirty="0" smtClean="0">
                <a:latin typeface="Times New Roman" pitchFamily="18" charset="0"/>
                <a:cs typeface="Times New Roman" pitchFamily="18" charset="0"/>
              </a:rPr>
              <a:t>Multiple Adaptive Linear Neurons (Madaline)</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476488" cy="5486400"/>
          </a:xfrm>
        </p:spPr>
        <p:txBody>
          <a:bodyPr>
            <a:normAutofit/>
          </a:bodyPr>
          <a:lstStyle/>
          <a:p>
            <a:pPr marL="539496" indent="-457200" algn="just">
              <a:buFont typeface="+mj-lt"/>
              <a:buAutoNum type="arabicPeriod"/>
            </a:pPr>
            <a:r>
              <a:rPr lang="en-US" sz="2400" dirty="0" smtClean="0">
                <a:latin typeface="Times New Roman" pitchFamily="18" charset="0"/>
                <a:cs typeface="Times New Roman" pitchFamily="18" charset="0"/>
              </a:rPr>
              <a:t>The multiple adaptive linear neuron (Madaline) model consists of many Adaline in parallel with a single output unit whose value is based on certain selection rules.</a:t>
            </a:r>
          </a:p>
          <a:p>
            <a:pPr marL="539496" indent="-457200" algn="just">
              <a:buFont typeface="+mj-lt"/>
              <a:buAutoNum type="arabicPeriod"/>
            </a:pPr>
            <a:r>
              <a:rPr lang="en-US" sz="2400" dirty="0" smtClean="0">
                <a:latin typeface="Times New Roman" pitchFamily="18" charset="0"/>
                <a:cs typeface="Times New Roman" pitchFamily="18" charset="0"/>
              </a:rPr>
              <a:t>It may use majority vote rule. On using this rule, the output would have as answer either true or false and if AND rule is used, the output is true if and if both the input are true.</a:t>
            </a:r>
          </a:p>
          <a:p>
            <a:pPr marL="539496" indent="-457200" algn="just">
              <a:buFont typeface="+mj-lt"/>
              <a:buAutoNum type="arabicPeriod"/>
            </a:pPr>
            <a:r>
              <a:rPr lang="en-US" sz="2400" dirty="0" smtClean="0">
                <a:latin typeface="Times New Roman" pitchFamily="18" charset="0"/>
                <a:cs typeface="Times New Roman" pitchFamily="18" charset="0"/>
              </a:rPr>
              <a:t>The weights that are connected from the Adaline layer to Madaline layer are fixed, positive and possess equal value.</a:t>
            </a:r>
          </a:p>
          <a:p>
            <a:pPr marL="539496" indent="-457200" algn="just">
              <a:buFont typeface="+mj-lt"/>
              <a:buAutoNum type="arabicPeriod"/>
            </a:pPr>
            <a:r>
              <a:rPr lang="en-US" sz="2400" dirty="0" smtClean="0">
                <a:latin typeface="Times New Roman" pitchFamily="18" charset="0"/>
                <a:cs typeface="Times New Roman" pitchFamily="18" charset="0"/>
              </a:rPr>
              <a:t>The weights between the input layer and Adaline layer are adjusted during the training process. </a:t>
            </a:r>
          </a:p>
          <a:p>
            <a:pPr marL="539496" indent="-457200" algn="just">
              <a:buFont typeface="+mj-lt"/>
              <a:buAutoNum type="arabicPeriod"/>
            </a:pPr>
            <a:r>
              <a:rPr lang="en-US" sz="2400" dirty="0" smtClean="0">
                <a:latin typeface="Times New Roman" pitchFamily="18" charset="0"/>
                <a:cs typeface="Times New Roman" pitchFamily="18" charset="0"/>
              </a:rPr>
              <a:t>The Adaline and Madaline layer neurons have a bias of excitation “1” connected to them. The training process for a Madaline system is similar to that of an Adaline.</a:t>
            </a:r>
          </a:p>
          <a:p>
            <a:pPr marL="539496" indent="-457200" algn="just">
              <a:buFont typeface="+mj-lt"/>
              <a:buAutoNum type="arabicPeriod"/>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28888" cy="685800"/>
          </a:xfrm>
        </p:spPr>
        <p:txBody>
          <a:bodyPr>
            <a:noAutofit/>
          </a:bodyPr>
          <a:lstStyle/>
          <a:p>
            <a:pPr marL="514350" indent="-514350"/>
            <a:r>
              <a:rPr lang="en-US" sz="3200" b="1" dirty="0" smtClean="0">
                <a:latin typeface="Times New Roman" pitchFamily="18" charset="0"/>
                <a:cs typeface="Times New Roman" pitchFamily="18" charset="0"/>
              </a:rPr>
              <a:t>Training Algorithm of Madaline</a:t>
            </a:r>
            <a:endParaRPr lang="en-US" sz="3200" dirty="0"/>
          </a:p>
        </p:txBody>
      </p:sp>
      <p:sp>
        <p:nvSpPr>
          <p:cNvPr id="3" name="Content Placeholder 2"/>
          <p:cNvSpPr>
            <a:spLocks noGrp="1"/>
          </p:cNvSpPr>
          <p:nvPr>
            <p:ph idx="1"/>
          </p:nvPr>
        </p:nvSpPr>
        <p:spPr>
          <a:xfrm>
            <a:off x="381000" y="838200"/>
            <a:ext cx="8552688" cy="5791200"/>
          </a:xfrm>
        </p:spPr>
        <p:txBody>
          <a:bodyPr>
            <a:normAutofit/>
          </a:bodyPr>
          <a:lstStyle/>
          <a:p>
            <a:pPr marL="539496" indent="-457200" algn="just">
              <a:buNone/>
            </a:pPr>
            <a:r>
              <a:rPr lang="en-US" sz="2400" dirty="0" smtClean="0">
                <a:latin typeface="Times New Roman" pitchFamily="18" charset="0"/>
                <a:cs typeface="Times New Roman" pitchFamily="18" charset="0"/>
              </a:rPr>
              <a:t>      The weights between the hidden layer and the input layer are adjusted, and the weights for output units are fixed. The weights v</a:t>
            </a:r>
            <a:r>
              <a:rPr lang="en-US" sz="2400" baseline="-25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v</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v</a:t>
            </a:r>
            <a:r>
              <a:rPr lang="en-US" sz="2400" baseline="-25000" dirty="0" smtClean="0">
                <a:latin typeface="Times New Roman" pitchFamily="18" charset="0"/>
                <a:cs typeface="Times New Roman" pitchFamily="18" charset="0"/>
              </a:rPr>
              <a:t>3</a:t>
            </a: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v</a:t>
            </a:r>
            <a:r>
              <a:rPr lang="en-US" sz="2400" baseline="-25000" dirty="0" err="1" smtClean="0">
                <a:latin typeface="Times New Roman" pitchFamily="18" charset="0"/>
                <a:cs typeface="Times New Roman" pitchFamily="18" charset="0"/>
              </a:rPr>
              <a:t>m</a:t>
            </a:r>
            <a:r>
              <a:rPr lang="en-US" sz="2400" dirty="0" smtClean="0">
                <a:latin typeface="Times New Roman" pitchFamily="18" charset="0"/>
                <a:cs typeface="Times New Roman" pitchFamily="18" charset="0"/>
              </a:rPr>
              <a:t> and the bias b</a:t>
            </a:r>
            <a:r>
              <a:rPr lang="en-US" sz="2400" baseline="-25000" dirty="0" smtClean="0">
                <a:latin typeface="Times New Roman" pitchFamily="18" charset="0"/>
                <a:cs typeface="Times New Roman" pitchFamily="18" charset="0"/>
              </a:rPr>
              <a:t>0</a:t>
            </a:r>
            <a:r>
              <a:rPr lang="en-US" sz="2400" dirty="0" smtClean="0">
                <a:latin typeface="Times New Roman" pitchFamily="18" charset="0"/>
                <a:cs typeface="Times New Roman" pitchFamily="18" charset="0"/>
              </a:rPr>
              <a:t> that enter into output unit Y are determined so that the response of the unit Y is 1. The weights entering Y unit may be taken as v</a:t>
            </a:r>
            <a:r>
              <a:rPr lang="en-US" sz="2400" baseline="-25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v</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v</a:t>
            </a:r>
            <a:r>
              <a:rPr lang="en-US" sz="2400" baseline="-25000" dirty="0" smtClean="0">
                <a:latin typeface="Times New Roman" pitchFamily="18" charset="0"/>
                <a:cs typeface="Times New Roman" pitchFamily="18" charset="0"/>
              </a:rPr>
              <a:t>3</a:t>
            </a: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v</a:t>
            </a:r>
            <a:r>
              <a:rPr lang="en-US" sz="2400" baseline="-25000" dirty="0" err="1" smtClean="0">
                <a:latin typeface="Times New Roman" pitchFamily="18" charset="0"/>
                <a:cs typeface="Times New Roman" pitchFamily="18" charset="0"/>
              </a:rPr>
              <a:t>m</a:t>
            </a:r>
            <a:r>
              <a:rPr lang="en-US" sz="2400" baseline="-25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 ½</a:t>
            </a:r>
          </a:p>
          <a:p>
            <a:pPr marL="539496" indent="-457200" algn="just">
              <a:buNone/>
            </a:pPr>
            <a:r>
              <a:rPr lang="en-US" sz="2400" dirty="0" smtClean="0">
                <a:latin typeface="Times New Roman" pitchFamily="18" charset="0"/>
                <a:cs typeface="Times New Roman" pitchFamily="18" charset="0"/>
              </a:rPr>
              <a:t>       and the bias can be taken as b</a:t>
            </a:r>
            <a:r>
              <a:rPr lang="en-US" sz="2400" baseline="-25000" dirty="0" smtClean="0">
                <a:latin typeface="Times New Roman" pitchFamily="18" charset="0"/>
                <a:cs typeface="Times New Roman" pitchFamily="18" charset="0"/>
              </a:rPr>
              <a:t>0</a:t>
            </a:r>
            <a:r>
              <a:rPr lang="en-US" sz="2400" dirty="0" smtClean="0">
                <a:latin typeface="Times New Roman" pitchFamily="18" charset="0"/>
                <a:cs typeface="Times New Roman" pitchFamily="18" charset="0"/>
              </a:rPr>
              <a:t> = ½</a:t>
            </a:r>
          </a:p>
          <a:p>
            <a:pPr marL="539496" indent="-457200" algn="just">
              <a:buNone/>
            </a:pPr>
            <a:r>
              <a:rPr lang="en-US" sz="2400" dirty="0" smtClean="0">
                <a:latin typeface="Times New Roman" pitchFamily="18" charset="0"/>
                <a:cs typeface="Times New Roman" pitchFamily="18" charset="0"/>
              </a:rPr>
              <a:t>         The activation for the Adaline (hidden) and Madaline (output) units is given by:</a:t>
            </a:r>
          </a:p>
          <a:p>
            <a:pPr marL="539496" indent="-457200" algn="just">
              <a:buNone/>
            </a:pPr>
            <a:r>
              <a:rPr lang="en-US" sz="2400" dirty="0" smtClean="0">
                <a:latin typeface="Times New Roman" pitchFamily="18" charset="0"/>
                <a:cs typeface="Times New Roman" pitchFamily="18" charset="0"/>
              </a:rPr>
              <a:t>                         </a:t>
            </a:r>
          </a:p>
          <a:p>
            <a:pPr marL="539496" indent="-457200" algn="just">
              <a:buNone/>
            </a:pPr>
            <a:endParaRPr lang="en-US" sz="24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2895600" y="4419600"/>
          <a:ext cx="3733800" cy="1600200"/>
        </p:xfrm>
        <a:graphic>
          <a:graphicData uri="http://schemas.openxmlformats.org/presentationml/2006/ole">
            <p:oleObj spid="_x0000_s104450" name="Equation" r:id="rId3" imgW="1244520" imgH="457200" progId="Equation.3">
              <p:embed/>
            </p:oleObj>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52688" cy="762000"/>
          </a:xfrm>
        </p:spPr>
        <p:txBody>
          <a:bodyPr>
            <a:normAutofit/>
          </a:bodyPr>
          <a:lstStyle/>
          <a:p>
            <a:r>
              <a:rPr lang="en-US" sz="3600" b="1" dirty="0" smtClean="0">
                <a:latin typeface="Times New Roman" pitchFamily="18" charset="0"/>
                <a:cs typeface="Times New Roman" pitchFamily="18" charset="0"/>
              </a:rPr>
              <a:t>Training Algorithm of Madaline</a:t>
            </a:r>
            <a:endParaRPr lang="en-US" sz="3600" dirty="0"/>
          </a:p>
        </p:txBody>
      </p:sp>
      <p:sp>
        <p:nvSpPr>
          <p:cNvPr id="3" name="Content Placeholder 2"/>
          <p:cNvSpPr>
            <a:spLocks noGrp="1"/>
          </p:cNvSpPr>
          <p:nvPr>
            <p:ph idx="1"/>
          </p:nvPr>
        </p:nvSpPr>
        <p:spPr>
          <a:xfrm>
            <a:off x="457200" y="1066800"/>
            <a:ext cx="8476488" cy="5486400"/>
          </a:xfrm>
        </p:spPr>
        <p:txBody>
          <a:bodyPr>
            <a:normAutofit/>
          </a:bodyPr>
          <a:lstStyle/>
          <a:p>
            <a:pPr marL="539496" indent="-457200" algn="just">
              <a:buFont typeface="+mj-lt"/>
              <a:buAutoNum type="arabicPeriod"/>
            </a:pPr>
            <a:r>
              <a:rPr lang="en-US" sz="2400" dirty="0" smtClean="0">
                <a:latin typeface="Times New Roman" pitchFamily="18" charset="0"/>
                <a:cs typeface="Times New Roman" pitchFamily="18" charset="0"/>
              </a:rPr>
              <a:t>Initialize the weights. The weights entering the output unit are set as above. Set initial small random values for Adaline weights. Also set initial learning rate </a:t>
            </a:r>
            <a:r>
              <a:rPr lang="el-GR" sz="2400" dirty="0" smtClean="0">
                <a:latin typeface="Times New Roman"/>
                <a:cs typeface="Times New Roman"/>
              </a:rPr>
              <a:t>α</a:t>
            </a:r>
            <a:r>
              <a:rPr lang="en-US" sz="2400" dirty="0" smtClean="0">
                <a:latin typeface="Times New Roman"/>
                <a:cs typeface="Times New Roman"/>
              </a:rPr>
              <a:t>.</a:t>
            </a:r>
          </a:p>
          <a:p>
            <a:pPr marL="539496" indent="-457200" algn="just">
              <a:buFont typeface="+mj-lt"/>
              <a:buAutoNum type="arabicPeriod"/>
            </a:pPr>
            <a:r>
              <a:rPr lang="en-US" sz="2400" dirty="0" smtClean="0">
                <a:latin typeface="Times New Roman"/>
                <a:cs typeface="Times New Roman"/>
              </a:rPr>
              <a:t>When stopping condition is false, perform steps 3 -4.</a:t>
            </a:r>
          </a:p>
          <a:p>
            <a:pPr marL="539496" indent="-457200" algn="just">
              <a:buFont typeface="+mj-lt"/>
              <a:buAutoNum type="arabicPeriod"/>
            </a:pPr>
            <a:r>
              <a:rPr lang="en-US" sz="2400" dirty="0" smtClean="0">
                <a:latin typeface="Times New Roman" pitchFamily="18" charset="0"/>
                <a:cs typeface="Times New Roman" pitchFamily="18" charset="0"/>
              </a:rPr>
              <a:t> For each bipolar training pair </a:t>
            </a:r>
            <a:r>
              <a:rPr lang="en-US" sz="2400" i="1" dirty="0" smtClean="0">
                <a:latin typeface="Times New Roman" pitchFamily="18" charset="0"/>
                <a:cs typeface="Times New Roman" pitchFamily="18" charset="0"/>
              </a:rPr>
              <a:t>s:t</a:t>
            </a:r>
            <a:r>
              <a:rPr lang="en-US" sz="2400" dirty="0" smtClean="0">
                <a:latin typeface="Times New Roman" pitchFamily="18" charset="0"/>
                <a:cs typeface="Times New Roman" pitchFamily="18" charset="0"/>
              </a:rPr>
              <a:t>, perform 4 – 8.</a:t>
            </a:r>
          </a:p>
          <a:p>
            <a:pPr marL="539496" indent="-457200" algn="just">
              <a:buFont typeface="+mj-lt"/>
              <a:buAutoNum type="arabicPeriod"/>
            </a:pPr>
            <a:r>
              <a:rPr lang="en-US" sz="2400" dirty="0" smtClean="0">
                <a:latin typeface="Times New Roman" pitchFamily="18" charset="0"/>
                <a:cs typeface="Times New Roman" pitchFamily="18" charset="0"/>
              </a:rPr>
              <a:t>Activate input layer units. For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1 to n,       </a:t>
            </a:r>
            <a:r>
              <a:rPr lang="en-US" sz="2400" i="1" dirty="0" smtClean="0">
                <a:latin typeface="Times New Roman" pitchFamily="18" charset="0"/>
                <a:cs typeface="Times New Roman" pitchFamily="18" charset="0"/>
              </a:rPr>
              <a:t>x</a:t>
            </a:r>
            <a:r>
              <a:rPr lang="en-US" sz="2400" i="1" baseline="-25000" dirty="0"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s</a:t>
            </a:r>
            <a:r>
              <a:rPr lang="en-US" sz="2400" i="1" baseline="-25000" dirty="0" err="1" smtClean="0">
                <a:latin typeface="Times New Roman" pitchFamily="18" charset="0"/>
                <a:cs typeface="Times New Roman" pitchFamily="18" charset="0"/>
              </a:rPr>
              <a:t>i</a:t>
            </a:r>
            <a:r>
              <a:rPr lang="en-US" sz="2400" i="1" baseline="-250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 </a:t>
            </a:r>
          </a:p>
          <a:p>
            <a:pPr marL="539496" indent="-457200" algn="just">
              <a:buFont typeface="+mj-lt"/>
              <a:buAutoNum type="arabicPeriod"/>
            </a:pPr>
            <a:r>
              <a:rPr lang="en-US" sz="2400" dirty="0" smtClean="0">
                <a:latin typeface="Times New Roman" pitchFamily="18" charset="0"/>
                <a:cs typeface="Times New Roman" pitchFamily="18" charset="0"/>
              </a:rPr>
              <a:t>Calculate net input to each hidden Adaline unit:</a:t>
            </a:r>
          </a:p>
          <a:p>
            <a:pPr marL="539496" indent="-457200" algn="just">
              <a:buNone/>
            </a:pPr>
            <a:r>
              <a:rPr lang="en-US" sz="2400" dirty="0" smtClean="0">
                <a:latin typeface="Times New Roman" pitchFamily="18" charset="0"/>
                <a:cs typeface="Times New Roman" pitchFamily="18" charset="0"/>
              </a:rPr>
              <a:t>            </a:t>
            </a:r>
            <a:endParaRPr lang="en-US" sz="2400" baseline="-25000" dirty="0" smtClean="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1143000" y="4343400"/>
          <a:ext cx="7086600" cy="1371600"/>
        </p:xfrm>
        <a:graphic>
          <a:graphicData uri="http://schemas.openxmlformats.org/presentationml/2006/ole">
            <p:oleObj spid="_x0000_s105474" name="Equation" r:id="rId3" imgW="2070000" imgH="431640" progId="Equation.3">
              <p:embed/>
            </p:oleObj>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52688" cy="639762"/>
          </a:xfrm>
        </p:spPr>
        <p:txBody>
          <a:bodyPr>
            <a:normAutofit fontScale="90000"/>
          </a:bodyPr>
          <a:lstStyle/>
          <a:p>
            <a:r>
              <a:rPr lang="en-US" sz="3600" b="1" dirty="0" smtClean="0">
                <a:latin typeface="Times New Roman" pitchFamily="18" charset="0"/>
                <a:cs typeface="Times New Roman" pitchFamily="18" charset="0"/>
              </a:rPr>
              <a:t>Training Algorithm of Madaline</a:t>
            </a:r>
            <a:endParaRPr lang="en-US" sz="3600" dirty="0"/>
          </a:p>
        </p:txBody>
      </p:sp>
      <p:sp>
        <p:nvSpPr>
          <p:cNvPr id="3" name="Content Placeholder 2"/>
          <p:cNvSpPr>
            <a:spLocks noGrp="1"/>
          </p:cNvSpPr>
          <p:nvPr>
            <p:ph idx="1"/>
          </p:nvPr>
        </p:nvSpPr>
        <p:spPr>
          <a:xfrm>
            <a:off x="533400" y="838200"/>
            <a:ext cx="8400288" cy="5638800"/>
          </a:xfrm>
        </p:spPr>
        <p:txBody>
          <a:bodyPr>
            <a:normAutofit/>
          </a:bodyPr>
          <a:lstStyle/>
          <a:p>
            <a:pPr marL="539496" indent="-457200">
              <a:buFont typeface="+mj-lt"/>
              <a:buAutoNum type="arabicPeriod" startAt="6"/>
            </a:pPr>
            <a:r>
              <a:rPr lang="en-US" sz="2400" dirty="0" smtClean="0">
                <a:latin typeface="Times New Roman" pitchFamily="18" charset="0"/>
                <a:cs typeface="Times New Roman" pitchFamily="18" charset="0"/>
              </a:rPr>
              <a:t>Calculate the output if each hidden unit:</a:t>
            </a:r>
          </a:p>
          <a:p>
            <a:pPr marL="539496" indent="-457200">
              <a:buNone/>
            </a:pPr>
            <a:r>
              <a:rPr lang="en-US" sz="2400"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z</a:t>
            </a:r>
            <a:r>
              <a:rPr lang="en-US" sz="2400" i="1" baseline="-25000" dirty="0" err="1" smtClean="0">
                <a:latin typeface="Times New Roman" pitchFamily="18" charset="0"/>
                <a:cs typeface="Times New Roman" pitchFamily="18" charset="0"/>
              </a:rPr>
              <a:t>j</a:t>
            </a:r>
            <a:r>
              <a:rPr lang="en-US" sz="2400" dirty="0" smtClean="0">
                <a:latin typeface="Times New Roman" pitchFamily="18" charset="0"/>
                <a:cs typeface="Times New Roman" pitchFamily="18" charset="0"/>
              </a:rPr>
              <a:t> = </a:t>
            </a:r>
            <a:r>
              <a:rPr lang="en-US" sz="2400" i="1" dirty="0" smtClean="0">
                <a:latin typeface="Times New Roman" pitchFamily="18" charset="0"/>
                <a:cs typeface="Times New Roman" pitchFamily="18" charset="0"/>
              </a:rPr>
              <a:t>f</a:t>
            </a:r>
            <a:r>
              <a:rPr lang="en-US" sz="2400" dirty="0" smtClean="0">
                <a:latin typeface="Times New Roman" pitchFamily="18" charset="0"/>
                <a:cs typeface="Times New Roman" pitchFamily="18" charset="0"/>
              </a:rPr>
              <a:t>(</a:t>
            </a:r>
            <a:r>
              <a:rPr lang="en-US" sz="2400" i="1" dirty="0" err="1" smtClean="0">
                <a:latin typeface="Times New Roman" pitchFamily="18" charset="0"/>
                <a:cs typeface="Times New Roman" pitchFamily="18" charset="0"/>
              </a:rPr>
              <a:t>z</a:t>
            </a:r>
            <a:r>
              <a:rPr lang="en-US" sz="2400" i="1" baseline="-25000" dirty="0" err="1" smtClean="0">
                <a:latin typeface="Times New Roman" pitchFamily="18" charset="0"/>
                <a:cs typeface="Times New Roman" pitchFamily="18" charset="0"/>
              </a:rPr>
              <a:t>inj</a:t>
            </a:r>
            <a:r>
              <a:rPr lang="en-US" sz="2400" dirty="0" smtClean="0">
                <a:latin typeface="Times New Roman" pitchFamily="18" charset="0"/>
                <a:cs typeface="Times New Roman" pitchFamily="18" charset="0"/>
              </a:rPr>
              <a:t>)</a:t>
            </a:r>
          </a:p>
          <a:p>
            <a:pPr marL="539496" indent="-457200">
              <a:buFont typeface="+mj-lt"/>
              <a:buAutoNum type="arabicPeriod" startAt="7"/>
            </a:pPr>
            <a:r>
              <a:rPr lang="en-US" sz="2400" dirty="0" smtClean="0">
                <a:latin typeface="Times New Roman" pitchFamily="18" charset="0"/>
                <a:cs typeface="Times New Roman" pitchFamily="18" charset="0"/>
              </a:rPr>
              <a:t>Find the output of the net:</a:t>
            </a:r>
          </a:p>
          <a:p>
            <a:pPr marL="539496" indent="-457200">
              <a:buNone/>
            </a:pPr>
            <a:r>
              <a:rPr lang="en-US" sz="2400" dirty="0" smtClean="0">
                <a:latin typeface="Times New Roman" pitchFamily="18" charset="0"/>
                <a:cs typeface="Times New Roman" pitchFamily="18" charset="0"/>
              </a:rPr>
              <a:t>                                        </a:t>
            </a:r>
          </a:p>
          <a:p>
            <a:pPr marL="539496" indent="-457200">
              <a:buNone/>
            </a:pPr>
            <a:r>
              <a:rPr lang="en-US" sz="2400" dirty="0" smtClean="0">
                <a:latin typeface="Times New Roman" pitchFamily="18" charset="0"/>
                <a:cs typeface="Times New Roman" pitchFamily="18" charset="0"/>
              </a:rPr>
              <a:t>           </a:t>
            </a:r>
          </a:p>
          <a:p>
            <a:pPr marL="539496" indent="-457200">
              <a:buNone/>
            </a:pPr>
            <a:r>
              <a:rPr lang="en-US" sz="2400" dirty="0" smtClean="0">
                <a:latin typeface="Times New Roman" pitchFamily="18" charset="0"/>
                <a:cs typeface="Times New Roman" pitchFamily="18" charset="0"/>
              </a:rPr>
              <a:t>                       </a:t>
            </a:r>
          </a:p>
          <a:p>
            <a:pPr marL="539496" indent="-457200">
              <a:buNone/>
            </a:pP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y</a:t>
            </a:r>
            <a:r>
              <a:rPr lang="en-US" sz="2400" dirty="0" smtClean="0">
                <a:latin typeface="Times New Roman" pitchFamily="18" charset="0"/>
                <a:cs typeface="Times New Roman" pitchFamily="18" charset="0"/>
              </a:rPr>
              <a:t> = </a:t>
            </a:r>
            <a:r>
              <a:rPr lang="en-US" sz="2400" i="1" dirty="0" smtClean="0">
                <a:latin typeface="Times New Roman" pitchFamily="18" charset="0"/>
                <a:cs typeface="Times New Roman" pitchFamily="18" charset="0"/>
              </a:rPr>
              <a:t>f </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y</a:t>
            </a:r>
            <a:r>
              <a:rPr lang="en-US" sz="2400" i="1" baseline="-25000" dirty="0" smtClean="0">
                <a:latin typeface="Times New Roman" pitchFamily="18" charset="0"/>
                <a:cs typeface="Times New Roman" pitchFamily="18" charset="0"/>
              </a:rPr>
              <a:t>in</a:t>
            </a:r>
            <a:r>
              <a:rPr lang="en-US" sz="2400" dirty="0" smtClean="0">
                <a:latin typeface="Times New Roman" pitchFamily="18" charset="0"/>
                <a:cs typeface="Times New Roman" pitchFamily="18" charset="0"/>
              </a:rPr>
              <a:t>)</a:t>
            </a:r>
          </a:p>
          <a:p>
            <a:pPr marL="539496" indent="-457200" algn="just">
              <a:buFont typeface="+mj-lt"/>
              <a:buAutoNum type="arabicPeriod" startAt="8"/>
            </a:pPr>
            <a:r>
              <a:rPr lang="en-US" sz="2400" dirty="0" smtClean="0">
                <a:latin typeface="Times New Roman" pitchFamily="18" charset="0"/>
                <a:cs typeface="Times New Roman" pitchFamily="18" charset="0"/>
              </a:rPr>
              <a:t>Calculate the error and update the weights.</a:t>
            </a:r>
          </a:p>
          <a:p>
            <a:pPr marL="870966" lvl="1" indent="-514350" algn="just">
              <a:buFont typeface="+mj-lt"/>
              <a:buAutoNum type="romanLcPeriod"/>
            </a:pPr>
            <a:r>
              <a:rPr lang="en-US" sz="2000" dirty="0" smtClean="0">
                <a:latin typeface="Times New Roman" pitchFamily="18" charset="0"/>
                <a:cs typeface="Times New Roman" pitchFamily="18" charset="0"/>
              </a:rPr>
              <a:t>If t = y, no weight updation is required.</a:t>
            </a:r>
          </a:p>
          <a:p>
            <a:pPr marL="870966" lvl="1" indent="-514350" algn="just">
              <a:buFont typeface="+mj-lt"/>
              <a:buAutoNum type="romanLcPeriod"/>
            </a:pPr>
            <a:r>
              <a:rPr lang="en-US" sz="2000" dirty="0" smtClean="0">
                <a:latin typeface="Times New Roman" pitchFamily="18" charset="0"/>
                <a:cs typeface="Times New Roman" pitchFamily="18" charset="0"/>
              </a:rPr>
              <a:t>If t </a:t>
            </a:r>
            <a:r>
              <a:rPr lang="en-US" sz="2000" dirty="0" smtClean="0">
                <a:latin typeface="Times New Roman"/>
                <a:cs typeface="Times New Roman"/>
              </a:rPr>
              <a:t>≠ y and t = +1, update weights on </a:t>
            </a:r>
            <a:r>
              <a:rPr lang="en-US" sz="2000" i="1" dirty="0" err="1" smtClean="0">
                <a:latin typeface="Times New Roman"/>
                <a:cs typeface="Times New Roman"/>
              </a:rPr>
              <a:t>z</a:t>
            </a:r>
            <a:r>
              <a:rPr lang="en-US" sz="2000" i="1" baseline="-25000" dirty="0" err="1" smtClean="0">
                <a:latin typeface="Times New Roman"/>
                <a:cs typeface="Times New Roman"/>
              </a:rPr>
              <a:t>j</a:t>
            </a:r>
            <a:r>
              <a:rPr lang="en-US" sz="2000" dirty="0" smtClean="0">
                <a:latin typeface="Times New Roman"/>
                <a:cs typeface="Times New Roman"/>
              </a:rPr>
              <a:t>, where net input is closest to 0:</a:t>
            </a:r>
          </a:p>
          <a:p>
            <a:pPr marL="870966" lvl="1" indent="-514350" algn="just">
              <a:buNone/>
            </a:pPr>
            <a:r>
              <a:rPr lang="en-US" sz="2000" dirty="0" smtClean="0">
                <a:latin typeface="Times New Roman"/>
                <a:cs typeface="Times New Roman"/>
              </a:rPr>
              <a:t>                     </a:t>
            </a:r>
            <a:r>
              <a:rPr lang="en-US" sz="2000" i="1" dirty="0" err="1" smtClean="0">
                <a:latin typeface="Times New Roman"/>
                <a:cs typeface="Times New Roman"/>
              </a:rPr>
              <a:t>b</a:t>
            </a:r>
            <a:r>
              <a:rPr lang="en-US" sz="2000" i="1" baseline="-25000" dirty="0" err="1" smtClean="0">
                <a:latin typeface="Times New Roman"/>
                <a:cs typeface="Times New Roman"/>
              </a:rPr>
              <a:t>j</a:t>
            </a:r>
            <a:r>
              <a:rPr lang="en-US" sz="2000" dirty="0" smtClean="0">
                <a:latin typeface="Times New Roman"/>
                <a:cs typeface="Times New Roman"/>
              </a:rPr>
              <a:t> (new) = </a:t>
            </a:r>
            <a:r>
              <a:rPr lang="en-US" sz="2000" i="1" dirty="0" err="1" smtClean="0">
                <a:latin typeface="Times New Roman"/>
                <a:cs typeface="Times New Roman"/>
              </a:rPr>
              <a:t>b</a:t>
            </a:r>
            <a:r>
              <a:rPr lang="en-US" sz="2000" i="1" baseline="-25000" dirty="0" err="1" smtClean="0">
                <a:latin typeface="Times New Roman"/>
                <a:cs typeface="Times New Roman"/>
              </a:rPr>
              <a:t>j</a:t>
            </a:r>
            <a:r>
              <a:rPr lang="en-US" sz="2000" dirty="0" smtClean="0">
                <a:latin typeface="Times New Roman"/>
                <a:cs typeface="Times New Roman"/>
              </a:rPr>
              <a:t> (old) + </a:t>
            </a:r>
            <a:r>
              <a:rPr lang="el-GR" sz="2000" dirty="0" smtClean="0">
                <a:latin typeface="Times New Roman"/>
                <a:cs typeface="Times New Roman"/>
              </a:rPr>
              <a:t>α</a:t>
            </a:r>
            <a:r>
              <a:rPr lang="en-US" sz="2000" dirty="0" smtClean="0">
                <a:latin typeface="Times New Roman"/>
                <a:cs typeface="Times New Roman"/>
              </a:rPr>
              <a:t> (1 – </a:t>
            </a:r>
            <a:r>
              <a:rPr lang="en-US" sz="2000" i="1" dirty="0" err="1" smtClean="0">
                <a:latin typeface="Times New Roman"/>
                <a:cs typeface="Times New Roman"/>
              </a:rPr>
              <a:t>z</a:t>
            </a:r>
            <a:r>
              <a:rPr lang="en-US" sz="2000" i="1" baseline="-25000" dirty="0" err="1" smtClean="0">
                <a:latin typeface="Times New Roman"/>
                <a:cs typeface="Times New Roman"/>
              </a:rPr>
              <a:t>inj</a:t>
            </a:r>
            <a:r>
              <a:rPr lang="en-US" sz="2000" dirty="0" smtClean="0">
                <a:latin typeface="Times New Roman"/>
                <a:cs typeface="Times New Roman"/>
              </a:rPr>
              <a:t>)</a:t>
            </a:r>
          </a:p>
          <a:p>
            <a:pPr marL="870966" lvl="1" indent="-514350" algn="just">
              <a:buNone/>
            </a:pPr>
            <a:r>
              <a:rPr lang="en-US" sz="2000" dirty="0" smtClean="0">
                <a:latin typeface="Times New Roman"/>
                <a:cs typeface="Times New Roman"/>
              </a:rPr>
              <a:t>                      </a:t>
            </a:r>
            <a:r>
              <a:rPr lang="en-US" sz="2000" i="1" dirty="0" err="1" smtClean="0">
                <a:latin typeface="Times New Roman"/>
                <a:cs typeface="Times New Roman"/>
              </a:rPr>
              <a:t>w</a:t>
            </a:r>
            <a:r>
              <a:rPr lang="en-US" sz="2000" i="1" baseline="-25000" dirty="0" err="1" smtClean="0">
                <a:latin typeface="Times New Roman"/>
                <a:cs typeface="Times New Roman"/>
              </a:rPr>
              <a:t>ij</a:t>
            </a:r>
            <a:r>
              <a:rPr lang="en-US" sz="2000" dirty="0" smtClean="0">
                <a:latin typeface="Times New Roman"/>
                <a:cs typeface="Times New Roman"/>
              </a:rPr>
              <a:t> (new) = </a:t>
            </a:r>
            <a:r>
              <a:rPr lang="en-US" sz="2000" i="1" dirty="0" err="1" smtClean="0">
                <a:latin typeface="Times New Roman"/>
                <a:cs typeface="Times New Roman"/>
              </a:rPr>
              <a:t>w</a:t>
            </a:r>
            <a:r>
              <a:rPr lang="en-US" sz="2000" i="1" baseline="-25000" dirty="0" err="1" smtClean="0">
                <a:latin typeface="Times New Roman"/>
                <a:cs typeface="Times New Roman"/>
              </a:rPr>
              <a:t>ij</a:t>
            </a:r>
            <a:r>
              <a:rPr lang="en-US" sz="2000" dirty="0" smtClean="0">
                <a:latin typeface="Times New Roman"/>
                <a:cs typeface="Times New Roman"/>
              </a:rPr>
              <a:t> (old) + </a:t>
            </a:r>
            <a:r>
              <a:rPr lang="el-GR" sz="2000" dirty="0" smtClean="0">
                <a:latin typeface="Times New Roman"/>
                <a:cs typeface="Times New Roman"/>
              </a:rPr>
              <a:t>α</a:t>
            </a:r>
            <a:r>
              <a:rPr lang="en-US" sz="2000" dirty="0" smtClean="0">
                <a:latin typeface="Times New Roman"/>
                <a:cs typeface="Times New Roman"/>
              </a:rPr>
              <a:t> (1 – </a:t>
            </a:r>
            <a:r>
              <a:rPr lang="en-US" sz="2000" i="1" dirty="0" err="1" smtClean="0">
                <a:latin typeface="Times New Roman"/>
                <a:cs typeface="Times New Roman"/>
              </a:rPr>
              <a:t>z</a:t>
            </a:r>
            <a:r>
              <a:rPr lang="en-US" sz="2000" i="1" baseline="-25000" dirty="0" err="1" smtClean="0">
                <a:latin typeface="Times New Roman"/>
                <a:cs typeface="Times New Roman"/>
              </a:rPr>
              <a:t>inj</a:t>
            </a:r>
            <a:r>
              <a:rPr lang="en-US" sz="2000" dirty="0" smtClean="0">
                <a:latin typeface="Times New Roman"/>
                <a:cs typeface="Times New Roman"/>
              </a:rPr>
              <a:t>) </a:t>
            </a:r>
            <a:r>
              <a:rPr lang="en-US" sz="2000" i="1" dirty="0" smtClean="0">
                <a:latin typeface="Times New Roman"/>
                <a:cs typeface="Times New Roman"/>
              </a:rPr>
              <a:t>x</a:t>
            </a:r>
            <a:r>
              <a:rPr lang="en-US" sz="2000" i="1" baseline="-25000" dirty="0" smtClean="0">
                <a:latin typeface="Times New Roman"/>
                <a:cs typeface="Times New Roman"/>
              </a:rPr>
              <a:t>i</a:t>
            </a:r>
            <a:endParaRPr lang="en-US" sz="2000" i="1" baseline="-250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3276600" y="2133600"/>
          <a:ext cx="2438400" cy="990600"/>
        </p:xfrm>
        <a:graphic>
          <a:graphicData uri="http://schemas.openxmlformats.org/presentationml/2006/ole">
            <p:oleObj spid="_x0000_s106498" name="Equation" r:id="rId3" imgW="1193760" imgH="444240" progId="Equation.3">
              <p:embed/>
            </p:oleObj>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28888" cy="685800"/>
          </a:xfrm>
        </p:spPr>
        <p:txBody>
          <a:bodyPr>
            <a:normAutofit/>
          </a:bodyPr>
          <a:lstStyle/>
          <a:p>
            <a:r>
              <a:rPr lang="en-US" sz="3600" b="1" dirty="0" smtClean="0">
                <a:latin typeface="Times New Roman" pitchFamily="18" charset="0"/>
                <a:cs typeface="Times New Roman" pitchFamily="18" charset="0"/>
              </a:rPr>
              <a:t>Training Algorithm of Madaline</a:t>
            </a:r>
            <a:endParaRPr lang="en-US" sz="3600" dirty="0"/>
          </a:p>
        </p:txBody>
      </p:sp>
      <p:sp>
        <p:nvSpPr>
          <p:cNvPr id="3" name="Content Placeholder 2"/>
          <p:cNvSpPr>
            <a:spLocks noGrp="1"/>
          </p:cNvSpPr>
          <p:nvPr>
            <p:ph idx="1"/>
          </p:nvPr>
        </p:nvSpPr>
        <p:spPr>
          <a:xfrm>
            <a:off x="381000" y="990600"/>
            <a:ext cx="8552688" cy="5257800"/>
          </a:xfrm>
        </p:spPr>
        <p:txBody>
          <a:bodyPr>
            <a:normAutofit/>
          </a:bodyPr>
          <a:lstStyle/>
          <a:p>
            <a:pPr marL="928116" lvl="1" indent="-571500">
              <a:buFont typeface="+mj-lt"/>
              <a:buAutoNum type="romanLcPeriod" startAt="3"/>
            </a:pPr>
            <a:r>
              <a:rPr lang="en-US" sz="2000" dirty="0" smtClean="0">
                <a:latin typeface="Times New Roman" pitchFamily="18" charset="0"/>
                <a:cs typeface="Times New Roman" pitchFamily="18" charset="0"/>
              </a:rPr>
              <a:t>If t </a:t>
            </a:r>
            <a:r>
              <a:rPr lang="en-US" sz="2000" dirty="0" smtClean="0">
                <a:latin typeface="Times New Roman"/>
                <a:cs typeface="Times New Roman"/>
              </a:rPr>
              <a:t>≠ y and t = -1, update weights on </a:t>
            </a:r>
            <a:r>
              <a:rPr lang="en-US" sz="2000" i="1" dirty="0" err="1" smtClean="0">
                <a:latin typeface="Times New Roman"/>
                <a:cs typeface="Times New Roman"/>
              </a:rPr>
              <a:t>z</a:t>
            </a:r>
            <a:r>
              <a:rPr lang="en-US" sz="2000" i="1" baseline="-25000" dirty="0" err="1" smtClean="0">
                <a:latin typeface="Times New Roman"/>
                <a:cs typeface="Times New Roman"/>
              </a:rPr>
              <a:t>k</a:t>
            </a:r>
            <a:r>
              <a:rPr lang="en-US" sz="2000" dirty="0" smtClean="0">
                <a:latin typeface="Times New Roman"/>
                <a:cs typeface="Times New Roman"/>
              </a:rPr>
              <a:t>, where net input is positive:</a:t>
            </a:r>
          </a:p>
          <a:p>
            <a:pPr marL="870966" lvl="1" indent="-514350" algn="just">
              <a:buNone/>
            </a:pPr>
            <a:r>
              <a:rPr lang="en-US" sz="2000" dirty="0" smtClean="0">
                <a:latin typeface="Times New Roman"/>
                <a:cs typeface="Times New Roman"/>
              </a:rPr>
              <a:t>                         </a:t>
            </a:r>
            <a:r>
              <a:rPr lang="en-US" sz="2000" dirty="0" smtClean="0">
                <a:latin typeface="Times New Roman" pitchFamily="18" charset="0"/>
                <a:cs typeface="Times New Roman" pitchFamily="18" charset="0"/>
              </a:rPr>
              <a:t> </a:t>
            </a:r>
            <a:r>
              <a:rPr lang="en-US" sz="2000" dirty="0" smtClean="0">
                <a:latin typeface="Times New Roman"/>
                <a:cs typeface="Times New Roman"/>
              </a:rPr>
              <a:t> </a:t>
            </a:r>
            <a:r>
              <a:rPr lang="en-US" sz="2000" i="1" dirty="0" err="1" smtClean="0">
                <a:latin typeface="Times New Roman"/>
                <a:cs typeface="Times New Roman"/>
              </a:rPr>
              <a:t>b</a:t>
            </a:r>
            <a:r>
              <a:rPr lang="en-US" sz="2000" i="1" baseline="-25000" dirty="0" err="1" smtClean="0">
                <a:latin typeface="Times New Roman"/>
                <a:cs typeface="Times New Roman"/>
              </a:rPr>
              <a:t>k</a:t>
            </a:r>
            <a:r>
              <a:rPr lang="en-US" sz="2000" dirty="0" smtClean="0">
                <a:latin typeface="Times New Roman"/>
                <a:cs typeface="Times New Roman"/>
              </a:rPr>
              <a:t> (new) = </a:t>
            </a:r>
            <a:r>
              <a:rPr lang="en-US" sz="2000" i="1" dirty="0" err="1" smtClean="0">
                <a:latin typeface="Times New Roman"/>
                <a:cs typeface="Times New Roman"/>
              </a:rPr>
              <a:t>b</a:t>
            </a:r>
            <a:r>
              <a:rPr lang="en-US" sz="2000" i="1" baseline="-25000" dirty="0" err="1" smtClean="0">
                <a:latin typeface="Times New Roman"/>
                <a:cs typeface="Times New Roman"/>
              </a:rPr>
              <a:t>k</a:t>
            </a:r>
            <a:r>
              <a:rPr lang="en-US" sz="2000" dirty="0" smtClean="0">
                <a:latin typeface="Times New Roman"/>
                <a:cs typeface="Times New Roman"/>
              </a:rPr>
              <a:t> (old) + </a:t>
            </a:r>
            <a:r>
              <a:rPr lang="el-GR" sz="2000" dirty="0" smtClean="0">
                <a:latin typeface="Times New Roman"/>
                <a:cs typeface="Times New Roman"/>
              </a:rPr>
              <a:t>α</a:t>
            </a:r>
            <a:r>
              <a:rPr lang="en-US" sz="2000" dirty="0" smtClean="0">
                <a:latin typeface="Times New Roman"/>
                <a:cs typeface="Times New Roman"/>
              </a:rPr>
              <a:t> (-1 – </a:t>
            </a:r>
            <a:r>
              <a:rPr lang="en-US" sz="2000" i="1" dirty="0" err="1" smtClean="0">
                <a:latin typeface="Times New Roman"/>
                <a:cs typeface="Times New Roman"/>
              </a:rPr>
              <a:t>z</a:t>
            </a:r>
            <a:r>
              <a:rPr lang="en-US" sz="2000" i="1" baseline="-25000" dirty="0" err="1" smtClean="0">
                <a:latin typeface="Times New Roman"/>
                <a:cs typeface="Times New Roman"/>
              </a:rPr>
              <a:t>ink</a:t>
            </a:r>
            <a:r>
              <a:rPr lang="en-US" sz="2000" dirty="0" smtClean="0">
                <a:latin typeface="Times New Roman"/>
                <a:cs typeface="Times New Roman"/>
              </a:rPr>
              <a:t>)</a:t>
            </a:r>
          </a:p>
          <a:p>
            <a:pPr marL="870966" lvl="1" indent="-514350" algn="just">
              <a:buNone/>
            </a:pPr>
            <a:r>
              <a:rPr lang="en-US" sz="2000" dirty="0" smtClean="0">
                <a:latin typeface="Times New Roman"/>
                <a:cs typeface="Times New Roman"/>
              </a:rPr>
              <a:t>                      </a:t>
            </a:r>
            <a:r>
              <a:rPr lang="en-US" sz="2000" i="1" dirty="0" err="1" smtClean="0">
                <a:latin typeface="Times New Roman"/>
                <a:cs typeface="Times New Roman"/>
              </a:rPr>
              <a:t>w</a:t>
            </a:r>
            <a:r>
              <a:rPr lang="en-US" sz="2000" i="1" baseline="-25000" dirty="0" err="1" smtClean="0">
                <a:latin typeface="Times New Roman"/>
                <a:cs typeface="Times New Roman"/>
              </a:rPr>
              <a:t>ik</a:t>
            </a:r>
            <a:r>
              <a:rPr lang="en-US" sz="2000" dirty="0" smtClean="0">
                <a:latin typeface="Times New Roman"/>
                <a:cs typeface="Times New Roman"/>
              </a:rPr>
              <a:t> (new) = </a:t>
            </a:r>
            <a:r>
              <a:rPr lang="en-US" sz="2000" i="1" dirty="0" err="1" smtClean="0">
                <a:latin typeface="Times New Roman"/>
                <a:cs typeface="Times New Roman"/>
              </a:rPr>
              <a:t>w</a:t>
            </a:r>
            <a:r>
              <a:rPr lang="en-US" sz="2000" i="1" baseline="-25000" dirty="0" err="1" smtClean="0">
                <a:latin typeface="Times New Roman"/>
                <a:cs typeface="Times New Roman"/>
              </a:rPr>
              <a:t>ik</a:t>
            </a:r>
            <a:r>
              <a:rPr lang="en-US" sz="2000" dirty="0" smtClean="0">
                <a:latin typeface="Times New Roman"/>
                <a:cs typeface="Times New Roman"/>
              </a:rPr>
              <a:t> (old) + </a:t>
            </a:r>
            <a:r>
              <a:rPr lang="el-GR" sz="2000" dirty="0" smtClean="0">
                <a:latin typeface="Times New Roman"/>
                <a:cs typeface="Times New Roman"/>
              </a:rPr>
              <a:t>α</a:t>
            </a:r>
            <a:r>
              <a:rPr lang="en-US" sz="2000" dirty="0" smtClean="0">
                <a:latin typeface="Times New Roman"/>
                <a:cs typeface="Times New Roman"/>
              </a:rPr>
              <a:t> (-1 – </a:t>
            </a:r>
            <a:r>
              <a:rPr lang="en-US" sz="2000" i="1" dirty="0" err="1" smtClean="0">
                <a:latin typeface="Times New Roman"/>
                <a:cs typeface="Times New Roman"/>
              </a:rPr>
              <a:t>z</a:t>
            </a:r>
            <a:r>
              <a:rPr lang="en-US" sz="2000" i="1" baseline="-25000" dirty="0" err="1" smtClean="0">
                <a:latin typeface="Times New Roman"/>
                <a:cs typeface="Times New Roman"/>
              </a:rPr>
              <a:t>ink</a:t>
            </a:r>
            <a:r>
              <a:rPr lang="en-US" sz="2000" dirty="0" smtClean="0">
                <a:latin typeface="Times New Roman"/>
                <a:cs typeface="Times New Roman"/>
              </a:rPr>
              <a:t>) </a:t>
            </a:r>
            <a:r>
              <a:rPr lang="en-US" sz="2000" i="1" dirty="0" smtClean="0">
                <a:latin typeface="Times New Roman"/>
                <a:cs typeface="Times New Roman"/>
              </a:rPr>
              <a:t>x</a:t>
            </a:r>
            <a:r>
              <a:rPr lang="en-US" sz="2000" i="1" baseline="-25000" dirty="0" smtClean="0">
                <a:latin typeface="Times New Roman"/>
                <a:cs typeface="Times New Roman"/>
              </a:rPr>
              <a:t>i</a:t>
            </a:r>
          </a:p>
          <a:p>
            <a:pPr marL="596646" indent="-514350" algn="just">
              <a:buNone/>
            </a:pPr>
            <a:endParaRPr lang="en-US" sz="2400" dirty="0" smtClean="0">
              <a:latin typeface="Times New Roman" pitchFamily="18" charset="0"/>
              <a:cs typeface="Times New Roman" pitchFamily="18" charset="0"/>
            </a:endParaRPr>
          </a:p>
          <a:p>
            <a:pPr marL="596646" indent="-514350" algn="just">
              <a:buFont typeface="+mj-lt"/>
              <a:buAutoNum type="arabicPeriod" startAt="9"/>
            </a:pPr>
            <a:r>
              <a:rPr lang="en-US" sz="2400" dirty="0" smtClean="0">
                <a:latin typeface="Times New Roman" pitchFamily="18" charset="0"/>
                <a:cs typeface="Times New Roman" pitchFamily="18" charset="0"/>
              </a:rPr>
              <a:t>Test for the stopping condition. (if there is no weight change or the weight reaches a satisfactory level, or if a specified maximum number of iteration of weight updation have been performed then stop, or else continue).</a:t>
            </a:r>
          </a:p>
          <a:p>
            <a:pPr marL="596646" indent="-514350" algn="just">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498080" cy="609600"/>
          </a:xfrm>
        </p:spPr>
        <p:txBody>
          <a:bodyPr>
            <a:normAutofit fontScale="90000"/>
          </a:bodyPr>
          <a:lstStyle/>
          <a:p>
            <a:r>
              <a:rPr lang="en-US" sz="3600" dirty="0" smtClean="0">
                <a:latin typeface="Times New Roman" pitchFamily="18" charset="0"/>
                <a:cs typeface="Times New Roman" pitchFamily="18" charset="0"/>
              </a:rPr>
              <a:t>Radial Basis Function network</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990600"/>
            <a:ext cx="8400288" cy="5562600"/>
          </a:xfrm>
        </p:spPr>
        <p:txBody>
          <a:bodyPr>
            <a:normAutofit/>
          </a:bodyPr>
          <a:lstStyle/>
          <a:p>
            <a:pPr algn="just"/>
            <a:r>
              <a:rPr lang="en-US" sz="2400" dirty="0" smtClean="0">
                <a:latin typeface="Times New Roman" pitchFamily="18" charset="0"/>
                <a:cs typeface="Times New Roman" pitchFamily="18" charset="0"/>
              </a:rPr>
              <a:t>The radial basis function (RBF) is a classification and functional approximation neural network developed by M.J.D. Powell.</a:t>
            </a:r>
          </a:p>
          <a:p>
            <a:pPr algn="just"/>
            <a:r>
              <a:rPr lang="en-US" sz="2400" dirty="0" smtClean="0">
                <a:latin typeface="Times New Roman" pitchFamily="18" charset="0"/>
                <a:cs typeface="Times New Roman" pitchFamily="18" charset="0"/>
              </a:rPr>
              <a:t>The network uses the most common nonlinearities such as </a:t>
            </a:r>
            <a:r>
              <a:rPr lang="en-US" sz="2400" dirty="0" err="1" smtClean="0">
                <a:latin typeface="Times New Roman" pitchFamily="18" charset="0"/>
                <a:cs typeface="Times New Roman" pitchFamily="18" charset="0"/>
              </a:rPr>
              <a:t>sigmoidal</a:t>
            </a:r>
            <a:r>
              <a:rPr lang="en-US" sz="2400" dirty="0" smtClean="0">
                <a:latin typeface="Times New Roman" pitchFamily="18" charset="0"/>
                <a:cs typeface="Times New Roman" pitchFamily="18" charset="0"/>
              </a:rPr>
              <a:t> and Gaussian kernel function. The Gaussian function is generally defined as </a:t>
            </a:r>
          </a:p>
          <a:p>
            <a:pPr algn="just"/>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3962400" y="2971800"/>
          <a:ext cx="1752600" cy="533400"/>
        </p:xfrm>
        <a:graphic>
          <a:graphicData uri="http://schemas.openxmlformats.org/presentationml/2006/ole">
            <p:oleObj spid="_x0000_s139265" name="Equation" r:id="rId3" imgW="799920" imgH="330120" progId="Equation.3">
              <p:embed/>
            </p:oleObj>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76488" cy="792162"/>
          </a:xfrm>
        </p:spPr>
        <p:txBody>
          <a:bodyPr>
            <a:normAutofit/>
          </a:bodyPr>
          <a:lstStyle/>
          <a:p>
            <a:r>
              <a:rPr lang="en-US" sz="3600" dirty="0" smtClean="0">
                <a:latin typeface="Times New Roman" pitchFamily="18" charset="0"/>
                <a:cs typeface="Times New Roman" pitchFamily="18" charset="0"/>
              </a:rPr>
              <a:t>Training Algorithm</a:t>
            </a:r>
            <a:endParaRPr lang="en-US" sz="3600" dirty="0"/>
          </a:p>
        </p:txBody>
      </p:sp>
      <p:sp>
        <p:nvSpPr>
          <p:cNvPr id="3" name="Content Placeholder 2"/>
          <p:cNvSpPr>
            <a:spLocks noGrp="1"/>
          </p:cNvSpPr>
          <p:nvPr>
            <p:ph idx="1"/>
          </p:nvPr>
        </p:nvSpPr>
        <p:spPr>
          <a:xfrm>
            <a:off x="609600" y="838200"/>
            <a:ext cx="8324088" cy="5638800"/>
          </a:xfrm>
        </p:spPr>
        <p:txBody>
          <a:bodyPr>
            <a:normAutofit/>
          </a:bodyPr>
          <a:lstStyle/>
          <a:p>
            <a:pPr marL="539496" indent="-457200" algn="just">
              <a:buFont typeface="+mj-lt"/>
              <a:buAutoNum type="arabicPeriod"/>
            </a:pPr>
            <a:r>
              <a:rPr lang="en-US" sz="2400" dirty="0" smtClean="0">
                <a:latin typeface="Times New Roman" pitchFamily="18" charset="0"/>
                <a:cs typeface="Times New Roman" pitchFamily="18" charset="0"/>
              </a:rPr>
              <a:t>Set the weight to small random value.</a:t>
            </a:r>
          </a:p>
          <a:p>
            <a:pPr marL="539496" indent="-457200" algn="just">
              <a:buFont typeface="+mj-lt"/>
              <a:buAutoNum type="arabicPeriod"/>
            </a:pPr>
            <a:r>
              <a:rPr lang="en-US" sz="2400" dirty="0" smtClean="0">
                <a:latin typeface="Times New Roman" pitchFamily="18" charset="0"/>
                <a:cs typeface="Times New Roman" pitchFamily="18" charset="0"/>
              </a:rPr>
              <a:t>Perform step 3-9 when the stop condition is false.</a:t>
            </a:r>
          </a:p>
          <a:p>
            <a:pPr marL="539496" indent="-457200" algn="just">
              <a:buFont typeface="+mj-lt"/>
              <a:buAutoNum type="arabicPeriod"/>
            </a:pPr>
            <a:r>
              <a:rPr lang="en-US" sz="2400" dirty="0" smtClean="0">
                <a:latin typeface="Times New Roman" pitchFamily="18" charset="0"/>
                <a:cs typeface="Times New Roman" pitchFamily="18" charset="0"/>
              </a:rPr>
              <a:t>Perform step 3 – 8 for each input.</a:t>
            </a:r>
          </a:p>
          <a:p>
            <a:pPr marL="539496" indent="-457200" algn="just">
              <a:buFont typeface="+mj-lt"/>
              <a:buAutoNum type="arabicPeriod"/>
            </a:pPr>
            <a:r>
              <a:rPr lang="en-US" sz="2400" dirty="0" smtClean="0">
                <a:latin typeface="Times New Roman" pitchFamily="18" charset="0"/>
                <a:cs typeface="Times New Roman" pitchFamily="18" charset="0"/>
              </a:rPr>
              <a:t>Each input unit (</a:t>
            </a:r>
            <a:r>
              <a:rPr lang="en-US" sz="2400" i="1" dirty="0" smtClean="0">
                <a:latin typeface="Times New Roman" pitchFamily="18" charset="0"/>
                <a:cs typeface="Times New Roman" pitchFamily="18" charset="0"/>
              </a:rPr>
              <a:t>x</a:t>
            </a:r>
            <a:r>
              <a:rPr lang="en-US" sz="2400" baseline="-25000" dirty="0"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for all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1 to n receive input signals and transmits to the next hidden layer unit).</a:t>
            </a:r>
          </a:p>
          <a:p>
            <a:pPr marL="539496" indent="-457200" algn="just">
              <a:buFont typeface="+mj-lt"/>
              <a:buAutoNum type="arabicPeriod"/>
            </a:pPr>
            <a:r>
              <a:rPr lang="en-US" sz="2400" dirty="0" smtClean="0">
                <a:latin typeface="Times New Roman" pitchFamily="18" charset="0"/>
                <a:cs typeface="Times New Roman" pitchFamily="18" charset="0"/>
              </a:rPr>
              <a:t>Calculate the radial bias function.</a:t>
            </a:r>
          </a:p>
          <a:p>
            <a:pPr marL="539496" indent="-457200" algn="just">
              <a:buFont typeface="+mj-lt"/>
              <a:buAutoNum type="arabicPeriod"/>
            </a:pPr>
            <a:r>
              <a:rPr lang="en-US" sz="2400" dirty="0" smtClean="0">
                <a:latin typeface="Times New Roman" pitchFamily="18" charset="0"/>
                <a:cs typeface="Times New Roman" pitchFamily="18" charset="0"/>
              </a:rPr>
              <a:t>Select the centers for the radial basis function. The center are selected from the set of input vectors. It should be noted that a sufficient number of centers have to be selected to ensure adequate sampling of the input vector space.</a:t>
            </a:r>
          </a:p>
          <a:p>
            <a:pPr marL="539496" indent="-457200" algn="just">
              <a:buFont typeface="+mj-lt"/>
              <a:buAutoNum type="arabicPeriod"/>
            </a:pPr>
            <a:r>
              <a:rPr lang="en-US" sz="2400" dirty="0" smtClean="0">
                <a:latin typeface="Times New Roman" pitchFamily="18" charset="0"/>
                <a:cs typeface="Times New Roman" pitchFamily="18" charset="0"/>
              </a:rPr>
              <a:t>Calculate the output from the hidden layer unit:</a:t>
            </a:r>
          </a:p>
          <a:p>
            <a:pPr marL="539496" indent="-457200" algn="just">
              <a:buNone/>
            </a:pPr>
            <a:r>
              <a:rPr lang="en-US" sz="2400" dirty="0" smtClean="0">
                <a:latin typeface="Times New Roman" pitchFamily="18" charset="0"/>
                <a:cs typeface="Times New Roman" pitchFamily="18" charset="0"/>
              </a:rPr>
              <a:t>    </a:t>
            </a:r>
          </a:p>
          <a:p>
            <a:pPr marL="539496" indent="-457200" algn="just">
              <a:buFont typeface="+mj-lt"/>
              <a:buAutoNum type="arabicPeriod"/>
            </a:pPr>
            <a:endParaRPr lang="en-US" sz="2400" dirty="0" smtClean="0">
              <a:latin typeface="Times New Roman" pitchFamily="18" charset="0"/>
              <a:cs typeface="Times New Roman" pitchFamily="18" charset="0"/>
            </a:endParaRPr>
          </a:p>
          <a:p>
            <a:pPr marL="539496" indent="-457200" algn="just">
              <a:buFont typeface="+mj-lt"/>
              <a:buAutoNum type="arabicPeriod"/>
            </a:pPr>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2819400" y="5410200"/>
          <a:ext cx="4648200" cy="1447800"/>
        </p:xfrm>
        <a:graphic>
          <a:graphicData uri="http://schemas.openxmlformats.org/presentationml/2006/ole">
            <p:oleObj spid="_x0000_s159746" name="Equation" r:id="rId3" imgW="1955520" imgH="749160" progId="Equation.3">
              <p:embed/>
            </p:oleObj>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8171688" cy="639762"/>
          </a:xfrm>
        </p:spPr>
        <p:txBody>
          <a:bodyPr>
            <a:normAutofit fontScale="90000"/>
          </a:bodyPr>
          <a:lstStyle/>
          <a:p>
            <a:r>
              <a:rPr lang="en-US" sz="3600" dirty="0" smtClean="0">
                <a:latin typeface="Times New Roman" pitchFamily="18" charset="0"/>
                <a:cs typeface="Times New Roman" pitchFamily="18" charset="0"/>
              </a:rPr>
              <a:t>Training Algorithm</a:t>
            </a:r>
            <a:endParaRPr lang="en-US" sz="3600" dirty="0"/>
          </a:p>
        </p:txBody>
      </p:sp>
      <p:sp>
        <p:nvSpPr>
          <p:cNvPr id="3" name="Content Placeholder 2"/>
          <p:cNvSpPr>
            <a:spLocks noGrp="1"/>
          </p:cNvSpPr>
          <p:nvPr>
            <p:ph idx="1"/>
          </p:nvPr>
        </p:nvSpPr>
        <p:spPr>
          <a:xfrm>
            <a:off x="533400" y="838200"/>
            <a:ext cx="8400288" cy="5791200"/>
          </a:xfrm>
        </p:spPr>
        <p:txBody>
          <a:bodyPr>
            <a:normAutofit/>
          </a:bodyPr>
          <a:lstStyle/>
          <a:p>
            <a:pPr algn="just"/>
            <a:r>
              <a:rPr lang="en-US" sz="2400" dirty="0" smtClean="0">
                <a:latin typeface="Times New Roman" pitchFamily="18" charset="0"/>
                <a:cs typeface="Times New Roman" pitchFamily="18" charset="0"/>
              </a:rPr>
              <a:t>Where     is the centers of the RBF unit for input variables; </a:t>
            </a:r>
            <a:r>
              <a:rPr lang="el-GR" sz="2400" dirty="0" smtClean="0">
                <a:latin typeface="Times New Roman"/>
                <a:cs typeface="Times New Roman"/>
              </a:rPr>
              <a:t>σ</a:t>
            </a:r>
            <a:r>
              <a:rPr lang="en-US" sz="2400" dirty="0" err="1" smtClean="0">
                <a:latin typeface="Times New Roman"/>
                <a:cs typeface="Times New Roman"/>
              </a:rPr>
              <a:t>i</a:t>
            </a:r>
            <a:r>
              <a:rPr lang="en-US" sz="2400" dirty="0" smtClean="0">
                <a:latin typeface="Times New Roman"/>
                <a:cs typeface="Times New Roman"/>
              </a:rPr>
              <a:t> the width of </a:t>
            </a:r>
            <a:r>
              <a:rPr lang="en-US" sz="2400" dirty="0" err="1" smtClean="0">
                <a:latin typeface="Times New Roman"/>
                <a:cs typeface="Times New Roman"/>
              </a:rPr>
              <a:t>i</a:t>
            </a:r>
            <a:r>
              <a:rPr lang="en-US" sz="2400" baseline="30000" dirty="0" err="1" smtClean="0">
                <a:latin typeface="Times New Roman"/>
                <a:cs typeface="Times New Roman"/>
              </a:rPr>
              <a:t>th</a:t>
            </a:r>
            <a:r>
              <a:rPr lang="en-US" sz="2400" dirty="0" smtClean="0">
                <a:latin typeface="Times New Roman"/>
                <a:cs typeface="Times New Roman"/>
              </a:rPr>
              <a:t> RBF units; </a:t>
            </a:r>
            <a:r>
              <a:rPr lang="en-US" sz="2400" dirty="0" err="1" smtClean="0">
                <a:latin typeface="Times New Roman"/>
                <a:cs typeface="Times New Roman"/>
              </a:rPr>
              <a:t>x</a:t>
            </a:r>
            <a:r>
              <a:rPr lang="en-US" sz="2400" baseline="-25000" dirty="0" err="1" smtClean="0">
                <a:latin typeface="Times New Roman"/>
                <a:cs typeface="Times New Roman"/>
              </a:rPr>
              <a:t>ji</a:t>
            </a:r>
            <a:r>
              <a:rPr lang="en-US" sz="2400" dirty="0" smtClean="0">
                <a:latin typeface="Times New Roman"/>
                <a:cs typeface="Times New Roman"/>
              </a:rPr>
              <a:t> the </a:t>
            </a:r>
            <a:r>
              <a:rPr lang="en-US" sz="2400" dirty="0" err="1" smtClean="0">
                <a:latin typeface="Times New Roman"/>
                <a:cs typeface="Times New Roman"/>
              </a:rPr>
              <a:t>j</a:t>
            </a:r>
            <a:r>
              <a:rPr lang="en-US" sz="2400" baseline="30000" dirty="0" err="1" smtClean="0">
                <a:latin typeface="Times New Roman"/>
                <a:cs typeface="Times New Roman"/>
              </a:rPr>
              <a:t>th</a:t>
            </a:r>
            <a:r>
              <a:rPr lang="en-US" sz="2400" dirty="0" smtClean="0">
                <a:latin typeface="Times New Roman"/>
                <a:cs typeface="Times New Roman"/>
              </a:rPr>
              <a:t> variable of the input pattern.</a:t>
            </a:r>
          </a:p>
          <a:p>
            <a:pPr marL="539496" indent="-457200" algn="just">
              <a:buFont typeface="+mj-lt"/>
              <a:buAutoNum type="arabicPeriod" startAt="8"/>
            </a:pPr>
            <a:r>
              <a:rPr lang="en-US" sz="2400" dirty="0" smtClean="0">
                <a:latin typeface="Times New Roman"/>
                <a:cs typeface="Times New Roman"/>
              </a:rPr>
              <a:t>Calculate the output of the neural network:</a:t>
            </a:r>
          </a:p>
          <a:p>
            <a:pPr marL="539496" indent="-457200" algn="just">
              <a:buFont typeface="+mj-lt"/>
              <a:buAutoNum type="arabicPeriod" startAt="8"/>
            </a:pPr>
            <a:endParaRPr lang="en-US" sz="2400" dirty="0" smtClean="0">
              <a:latin typeface="Times New Roman"/>
              <a:cs typeface="Times New Roman"/>
            </a:endParaRPr>
          </a:p>
          <a:p>
            <a:pPr marL="539496" indent="-457200" algn="just">
              <a:buFont typeface="+mj-lt"/>
              <a:buAutoNum type="arabicPeriod" startAt="8"/>
            </a:pPr>
            <a:endParaRPr lang="en-US" sz="2400" dirty="0" smtClean="0">
              <a:latin typeface="Times New Roman"/>
              <a:cs typeface="Times New Roman"/>
            </a:endParaRPr>
          </a:p>
          <a:p>
            <a:pPr marL="539496" indent="-457200" algn="just">
              <a:buFont typeface="+mj-lt"/>
              <a:buAutoNum type="arabicPeriod" startAt="8"/>
            </a:pPr>
            <a:endParaRPr lang="en-US" sz="2400" dirty="0" smtClean="0">
              <a:latin typeface="Times New Roman"/>
              <a:cs typeface="Times New Roman"/>
            </a:endParaRPr>
          </a:p>
          <a:p>
            <a:pPr marL="539496" indent="-457200" algn="just">
              <a:buNone/>
            </a:pPr>
            <a:r>
              <a:rPr lang="en-US" sz="2400" dirty="0" smtClean="0">
                <a:latin typeface="Times New Roman"/>
                <a:cs typeface="Times New Roman"/>
              </a:rPr>
              <a:t>      where k is the number of hidden layer nodes (RBF function); </a:t>
            </a:r>
            <a:r>
              <a:rPr lang="en-US" sz="2400" i="1" dirty="0" err="1" smtClean="0">
                <a:latin typeface="Times New Roman"/>
                <a:cs typeface="Times New Roman"/>
              </a:rPr>
              <a:t>Y</a:t>
            </a:r>
            <a:r>
              <a:rPr lang="en-US" sz="2400" i="1" baseline="-25000" dirty="0" err="1" smtClean="0">
                <a:latin typeface="Times New Roman"/>
                <a:cs typeface="Times New Roman"/>
              </a:rPr>
              <a:t>net</a:t>
            </a:r>
            <a:r>
              <a:rPr lang="en-US" sz="2400" dirty="0" smtClean="0">
                <a:latin typeface="Times New Roman"/>
                <a:cs typeface="Times New Roman"/>
              </a:rPr>
              <a:t> the output value of </a:t>
            </a:r>
            <a:r>
              <a:rPr lang="en-US" sz="2400" dirty="0" err="1" smtClean="0">
                <a:latin typeface="Times New Roman"/>
                <a:cs typeface="Times New Roman"/>
              </a:rPr>
              <a:t>mth</a:t>
            </a:r>
            <a:r>
              <a:rPr lang="en-US" sz="2400" dirty="0" smtClean="0">
                <a:latin typeface="Times New Roman"/>
                <a:cs typeface="Times New Roman"/>
              </a:rPr>
              <a:t> node in output layer for the nth incoming pattern; </a:t>
            </a:r>
            <a:r>
              <a:rPr lang="en-US" sz="2400" dirty="0" err="1" smtClean="0">
                <a:latin typeface="Times New Roman"/>
                <a:cs typeface="Times New Roman"/>
              </a:rPr>
              <a:t>w</a:t>
            </a:r>
            <a:r>
              <a:rPr lang="en-US" sz="2400" i="1" baseline="-25000" dirty="0" err="1" smtClean="0">
                <a:latin typeface="Times New Roman"/>
                <a:cs typeface="Times New Roman"/>
              </a:rPr>
              <a:t>im</a:t>
            </a:r>
            <a:r>
              <a:rPr lang="en-US" sz="2400" dirty="0" smtClean="0">
                <a:latin typeface="Times New Roman"/>
                <a:cs typeface="Times New Roman"/>
              </a:rPr>
              <a:t> the weight between </a:t>
            </a:r>
            <a:r>
              <a:rPr lang="en-US" sz="2400" dirty="0" err="1" smtClean="0">
                <a:latin typeface="Times New Roman"/>
                <a:cs typeface="Times New Roman"/>
              </a:rPr>
              <a:t>ith</a:t>
            </a:r>
            <a:r>
              <a:rPr lang="en-US" sz="2400" dirty="0" smtClean="0">
                <a:latin typeface="Times New Roman"/>
                <a:cs typeface="Times New Roman"/>
              </a:rPr>
              <a:t> RBF unit and </a:t>
            </a:r>
            <a:r>
              <a:rPr lang="en-US" sz="2400" dirty="0" err="1" smtClean="0">
                <a:latin typeface="Times New Roman"/>
                <a:cs typeface="Times New Roman"/>
              </a:rPr>
              <a:t>mth</a:t>
            </a:r>
            <a:r>
              <a:rPr lang="en-US" sz="2400" dirty="0" smtClean="0">
                <a:latin typeface="Times New Roman"/>
                <a:cs typeface="Times New Roman"/>
              </a:rPr>
              <a:t> output node; w</a:t>
            </a:r>
            <a:r>
              <a:rPr lang="en-US" sz="2400" baseline="-25000" dirty="0" smtClean="0">
                <a:latin typeface="Times New Roman"/>
                <a:cs typeface="Times New Roman"/>
              </a:rPr>
              <a:t>0</a:t>
            </a:r>
            <a:r>
              <a:rPr lang="en-US" sz="2400" dirty="0" smtClean="0">
                <a:latin typeface="Times New Roman"/>
                <a:cs typeface="Times New Roman"/>
              </a:rPr>
              <a:t> the biasing term  at nth output node.</a:t>
            </a:r>
          </a:p>
          <a:p>
            <a:pPr marL="539496" indent="-457200" algn="just">
              <a:buFont typeface="+mj-lt"/>
              <a:buAutoNum type="arabicPeriod" startAt="9"/>
            </a:pPr>
            <a:r>
              <a:rPr lang="en-US" sz="2400" dirty="0" smtClean="0">
                <a:latin typeface="Times New Roman"/>
                <a:cs typeface="Times New Roman"/>
              </a:rPr>
              <a:t>Calculate the error and test for the stopping condition. The stopping condition may be number of epochs or to a certain extent weight change.</a:t>
            </a:r>
          </a:p>
          <a:p>
            <a:pPr marL="539496" indent="-457200" algn="just">
              <a:buNone/>
            </a:pPr>
            <a:r>
              <a:rPr lang="en-US" sz="2400" dirty="0" smtClean="0">
                <a:latin typeface="Times New Roman"/>
                <a:cs typeface="Times New Roman"/>
              </a:rPr>
              <a:t>                         </a:t>
            </a:r>
            <a:endParaRPr lang="en-US" sz="24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1828800" y="838200"/>
          <a:ext cx="457200" cy="381000"/>
        </p:xfrm>
        <a:graphic>
          <a:graphicData uri="http://schemas.openxmlformats.org/presentationml/2006/ole">
            <p:oleObj spid="_x0000_s160770" name="Equation" r:id="rId3" imgW="228600" imgH="279360" progId="Equation.3">
              <p:embed/>
            </p:oleObj>
          </a:graphicData>
        </a:graphic>
      </p:graphicFrame>
      <p:graphicFrame>
        <p:nvGraphicFramePr>
          <p:cNvPr id="5" name="Object 4"/>
          <p:cNvGraphicFramePr>
            <a:graphicFrameLocks noChangeAspect="1"/>
          </p:cNvGraphicFramePr>
          <p:nvPr/>
        </p:nvGraphicFramePr>
        <p:xfrm>
          <a:off x="2379663" y="2057400"/>
          <a:ext cx="3776662" cy="1143000"/>
        </p:xfrm>
        <a:graphic>
          <a:graphicData uri="http://schemas.openxmlformats.org/presentationml/2006/ole">
            <p:oleObj spid="_x0000_s160771" name="Equation" r:id="rId4" imgW="1612800" imgH="431640" progId="Equation.3">
              <p:embed/>
            </p:oleObj>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8324088" cy="715962"/>
          </a:xfrm>
        </p:spPr>
        <p:txBody>
          <a:bodyPr>
            <a:normAutofit/>
          </a:bodyPr>
          <a:lstStyle/>
          <a:p>
            <a:pPr algn="ctr"/>
            <a:r>
              <a:rPr lang="en-US" sz="3600" dirty="0" smtClean="0">
                <a:latin typeface="Times New Roman" pitchFamily="18" charset="0"/>
                <a:cs typeface="Times New Roman" pitchFamily="18" charset="0"/>
              </a:rPr>
              <a:t>Back-propagation Network</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838200"/>
            <a:ext cx="8552688" cy="5715000"/>
          </a:xfrm>
        </p:spPr>
        <p:txBody>
          <a:bodyPr>
            <a:normAutofit/>
          </a:bodyPr>
          <a:lstStyle/>
          <a:p>
            <a:pPr algn="just"/>
            <a:r>
              <a:rPr lang="en-US" sz="2400" dirty="0" smtClean="0">
                <a:latin typeface="Times New Roman" pitchFamily="18" charset="0"/>
                <a:cs typeface="Times New Roman" pitchFamily="18" charset="0"/>
              </a:rPr>
              <a:t>The back – propagation learning algorithm is one of the most important developments in neural network.</a:t>
            </a:r>
          </a:p>
          <a:p>
            <a:pPr algn="just"/>
            <a:r>
              <a:rPr lang="en-US" sz="2400" b="1" dirty="0" smtClean="0">
                <a:latin typeface="Times New Roman" pitchFamily="18" charset="0"/>
                <a:cs typeface="Times New Roman" pitchFamily="18" charset="0"/>
              </a:rPr>
              <a:t>Training algorithm:</a:t>
            </a:r>
            <a:r>
              <a:rPr lang="en-US" sz="2400" dirty="0" smtClean="0">
                <a:latin typeface="Times New Roman" pitchFamily="18" charset="0"/>
                <a:cs typeface="Times New Roman" pitchFamily="18" charset="0"/>
              </a:rPr>
              <a:t> </a:t>
            </a:r>
          </a:p>
          <a:p>
            <a:pPr marL="539496" indent="-457200" algn="just">
              <a:buFont typeface="+mj-lt"/>
              <a:buAutoNum type="arabicPeriod"/>
            </a:pPr>
            <a:r>
              <a:rPr lang="en-US" sz="2400" dirty="0" smtClean="0">
                <a:latin typeface="Times New Roman" pitchFamily="18" charset="0"/>
                <a:cs typeface="Times New Roman" pitchFamily="18" charset="0"/>
              </a:rPr>
              <a:t>Initialize the weights and learning rate.</a:t>
            </a:r>
          </a:p>
          <a:p>
            <a:pPr marL="539496" indent="-457200" algn="just">
              <a:buFont typeface="+mj-lt"/>
              <a:buAutoNum type="arabicPeriod"/>
            </a:pPr>
            <a:r>
              <a:rPr lang="en-US" sz="2400" dirty="0" smtClean="0">
                <a:latin typeface="Times New Roman" pitchFamily="18" charset="0"/>
                <a:cs typeface="Times New Roman" pitchFamily="18" charset="0"/>
              </a:rPr>
              <a:t>Perform step 3 – 10 when stopping condition is false.</a:t>
            </a:r>
          </a:p>
          <a:p>
            <a:pPr marL="539496" indent="-457200" algn="just">
              <a:buFont typeface="+mj-lt"/>
              <a:buAutoNum type="arabicPeriod"/>
            </a:pPr>
            <a:r>
              <a:rPr lang="en-US" sz="2400" dirty="0" smtClean="0">
                <a:latin typeface="Times New Roman" pitchFamily="18" charset="0"/>
                <a:cs typeface="Times New Roman" pitchFamily="18" charset="0"/>
              </a:rPr>
              <a:t>Perform step 4 – 9 for each training pair.</a:t>
            </a:r>
          </a:p>
          <a:p>
            <a:pPr marL="539496" indent="-457200" algn="just">
              <a:buFont typeface="+mj-lt"/>
              <a:buAutoNum type="arabicPeriod"/>
            </a:pPr>
            <a:r>
              <a:rPr lang="en-US" sz="2400" dirty="0" smtClean="0">
                <a:latin typeface="Times New Roman" pitchFamily="18" charset="0"/>
                <a:cs typeface="Times New Roman" pitchFamily="18" charset="0"/>
              </a:rPr>
              <a:t>Each input unit receive input signal xi and sends it to the hidden unit.</a:t>
            </a:r>
          </a:p>
          <a:p>
            <a:pPr marL="539496" indent="-457200" algn="just">
              <a:buFont typeface="+mj-lt"/>
              <a:buAutoNum type="arabicPeriod"/>
            </a:pPr>
            <a:r>
              <a:rPr lang="en-US" sz="2400" dirty="0" smtClean="0">
                <a:latin typeface="Times New Roman" pitchFamily="18" charset="0"/>
                <a:cs typeface="Times New Roman" pitchFamily="18" charset="0"/>
              </a:rPr>
              <a:t>Each hidden unit </a:t>
            </a:r>
            <a:r>
              <a:rPr lang="en-US" sz="2400" i="1" dirty="0" err="1" smtClean="0">
                <a:latin typeface="Times New Roman" pitchFamily="18" charset="0"/>
                <a:cs typeface="Times New Roman" pitchFamily="18" charset="0"/>
              </a:rPr>
              <a:t>z</a:t>
            </a:r>
            <a:r>
              <a:rPr lang="en-US" sz="2400" baseline="-25000" dirty="0" err="1" smtClean="0">
                <a:latin typeface="Times New Roman" pitchFamily="18" charset="0"/>
                <a:cs typeface="Times New Roman" pitchFamily="18" charset="0"/>
              </a:rPr>
              <a:t>j</a:t>
            </a:r>
            <a:r>
              <a:rPr lang="en-US" sz="2400" dirty="0" smtClean="0">
                <a:latin typeface="Times New Roman" pitchFamily="18" charset="0"/>
                <a:cs typeface="Times New Roman" pitchFamily="18" charset="0"/>
              </a:rPr>
              <a:t> sums its weighted input signals to calculate net input.</a:t>
            </a:r>
          </a:p>
          <a:p>
            <a:pPr marL="539496" indent="-457200" algn="just">
              <a:buNone/>
            </a:pP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3048000" y="4953000"/>
          <a:ext cx="4038600" cy="990600"/>
        </p:xfrm>
        <a:graphic>
          <a:graphicData uri="http://schemas.openxmlformats.org/presentationml/2006/ole">
            <p:oleObj spid="_x0000_s161794" name="Equation" r:id="rId3" imgW="1218960" imgH="431640" progId="Equation.3">
              <p:embed/>
            </p:oleObj>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8247888" cy="792162"/>
          </a:xfrm>
        </p:spPr>
        <p:txBody>
          <a:bodyPr>
            <a:normAutofit/>
          </a:bodyPr>
          <a:lstStyle/>
          <a:p>
            <a:r>
              <a:rPr lang="en-US" sz="3600" b="1" dirty="0" smtClean="0">
                <a:latin typeface="Times New Roman" pitchFamily="18" charset="0"/>
                <a:cs typeface="Times New Roman" pitchFamily="18" charset="0"/>
              </a:rPr>
              <a:t>Training algorithm</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609600" y="990600"/>
            <a:ext cx="8324088" cy="5638800"/>
          </a:xfrm>
        </p:spPr>
        <p:txBody>
          <a:bodyPr>
            <a:normAutofit/>
          </a:bodyPr>
          <a:lstStyle/>
          <a:p>
            <a:pPr marL="539496" indent="-457200" algn="just">
              <a:buNone/>
            </a:pPr>
            <a:r>
              <a:rPr lang="en-US" sz="2400" dirty="0" smtClean="0">
                <a:latin typeface="Times New Roman" pitchFamily="18" charset="0"/>
                <a:cs typeface="Times New Roman" pitchFamily="18" charset="0"/>
              </a:rPr>
              <a:t>    Calculate output of the hidden unit by applying its activation function over </a:t>
            </a:r>
            <a:r>
              <a:rPr lang="en-US" sz="2400" dirty="0" err="1" smtClean="0">
                <a:latin typeface="Times New Roman" pitchFamily="18" charset="0"/>
                <a:cs typeface="Times New Roman" pitchFamily="18" charset="0"/>
              </a:rPr>
              <a:t>z</a:t>
            </a:r>
            <a:r>
              <a:rPr lang="en-US" sz="2400" baseline="-25000" dirty="0" err="1" smtClean="0">
                <a:latin typeface="Times New Roman" pitchFamily="18" charset="0"/>
                <a:cs typeface="Times New Roman" pitchFamily="18" charset="0"/>
              </a:rPr>
              <a:t>inj</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z</a:t>
            </a:r>
            <a:r>
              <a:rPr lang="en-US" sz="2400" i="1" baseline="-25000" dirty="0" err="1" smtClean="0">
                <a:latin typeface="Times New Roman" pitchFamily="18" charset="0"/>
                <a:cs typeface="Times New Roman" pitchFamily="18" charset="0"/>
              </a:rPr>
              <a:t>j</a:t>
            </a:r>
            <a:r>
              <a:rPr lang="en-US" sz="2400" dirty="0" smtClean="0">
                <a:latin typeface="Times New Roman" pitchFamily="18" charset="0"/>
                <a:cs typeface="Times New Roman" pitchFamily="18" charset="0"/>
              </a:rPr>
              <a:t> = </a:t>
            </a:r>
            <a:r>
              <a:rPr lang="en-US" sz="2400" i="1" dirty="0" smtClean="0">
                <a:latin typeface="Times New Roman" pitchFamily="18" charset="0"/>
                <a:cs typeface="Times New Roman" pitchFamily="18" charset="0"/>
              </a:rPr>
              <a:t>f</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z</a:t>
            </a:r>
            <a:r>
              <a:rPr lang="en-US" sz="2400" baseline="-25000" dirty="0" err="1" smtClean="0">
                <a:latin typeface="Times New Roman" pitchFamily="18" charset="0"/>
                <a:cs typeface="Times New Roman" pitchFamily="18" charset="0"/>
              </a:rPr>
              <a:t>inj</a:t>
            </a:r>
            <a:r>
              <a:rPr lang="en-US" sz="2400" dirty="0" smtClean="0">
                <a:latin typeface="Times New Roman" pitchFamily="18" charset="0"/>
                <a:cs typeface="Times New Roman" pitchFamily="18" charset="0"/>
              </a:rPr>
              <a:t>) </a:t>
            </a:r>
          </a:p>
          <a:p>
            <a:pPr marL="539496" indent="-457200" algn="just">
              <a:buNone/>
            </a:pPr>
            <a:r>
              <a:rPr lang="en-US" sz="2400" dirty="0" smtClean="0">
                <a:latin typeface="Times New Roman" pitchFamily="18" charset="0"/>
                <a:cs typeface="Times New Roman" pitchFamily="18" charset="0"/>
              </a:rPr>
              <a:t>     Send the output signal from the hidden unit to the input of the output layer units.</a:t>
            </a:r>
          </a:p>
          <a:p>
            <a:pPr marL="539496" indent="-457200" algn="just">
              <a:buFont typeface="+mj-lt"/>
              <a:buAutoNum type="arabicPeriod" startAt="6"/>
            </a:pPr>
            <a:r>
              <a:rPr lang="en-US" sz="2400" dirty="0" smtClean="0">
                <a:latin typeface="Times New Roman" pitchFamily="18" charset="0"/>
                <a:cs typeface="Times New Roman" pitchFamily="18" charset="0"/>
              </a:rPr>
              <a:t>For each output unit </a:t>
            </a:r>
            <a:r>
              <a:rPr lang="en-US" sz="2400" dirty="0" err="1" smtClean="0">
                <a:latin typeface="Times New Roman" pitchFamily="18" charset="0"/>
                <a:cs typeface="Times New Roman" pitchFamily="18" charset="0"/>
              </a:rPr>
              <a:t>y</a:t>
            </a:r>
            <a:r>
              <a:rPr lang="en-US" sz="2400" baseline="-25000" dirty="0" err="1" smtClean="0">
                <a:latin typeface="Times New Roman" pitchFamily="18" charset="0"/>
                <a:cs typeface="Times New Roman" pitchFamily="18" charset="0"/>
              </a:rPr>
              <a:t>k</a:t>
            </a:r>
            <a:r>
              <a:rPr lang="en-US" sz="2400" dirty="0" smtClean="0">
                <a:latin typeface="Times New Roman" pitchFamily="18" charset="0"/>
                <a:cs typeface="Times New Roman" pitchFamily="18" charset="0"/>
              </a:rPr>
              <a:t> calculate the net input:</a:t>
            </a:r>
          </a:p>
          <a:p>
            <a:pPr marL="539496" indent="-457200" algn="just">
              <a:buFont typeface="+mj-lt"/>
              <a:buAutoNum type="arabicPeriod" startAt="6"/>
            </a:pPr>
            <a:endParaRPr lang="en-US" sz="2400" dirty="0" smtClean="0">
              <a:latin typeface="Times New Roman" pitchFamily="18" charset="0"/>
              <a:cs typeface="Times New Roman" pitchFamily="18" charset="0"/>
            </a:endParaRPr>
          </a:p>
          <a:p>
            <a:pPr marL="539496" indent="-457200" algn="just">
              <a:buFont typeface="+mj-lt"/>
              <a:buAutoNum type="arabicPeriod" startAt="6"/>
            </a:pPr>
            <a:endParaRPr lang="en-US" sz="2400" dirty="0" smtClean="0">
              <a:latin typeface="Times New Roman" pitchFamily="18" charset="0"/>
              <a:cs typeface="Times New Roman" pitchFamily="18" charset="0"/>
            </a:endParaRPr>
          </a:p>
          <a:p>
            <a:pPr marL="539496" indent="-457200" algn="just">
              <a:buFont typeface="+mj-lt"/>
              <a:buAutoNum type="arabicPeriod" startAt="6"/>
            </a:pPr>
            <a:endParaRPr lang="en-US" sz="2400" dirty="0" smtClean="0">
              <a:latin typeface="Times New Roman" pitchFamily="18" charset="0"/>
              <a:cs typeface="Times New Roman" pitchFamily="18" charset="0"/>
            </a:endParaRPr>
          </a:p>
          <a:p>
            <a:pPr marL="539496" indent="-457200" algn="just">
              <a:buNone/>
            </a:pPr>
            <a:r>
              <a:rPr lang="en-US" sz="2400" dirty="0" smtClean="0">
                <a:latin typeface="Times New Roman" pitchFamily="18" charset="0"/>
                <a:cs typeface="Times New Roman" pitchFamily="18" charset="0"/>
              </a:rPr>
              <a:t>     Activation function to compute output signal </a:t>
            </a:r>
          </a:p>
          <a:p>
            <a:pPr marL="539496" indent="-457200" algn="just">
              <a:buNone/>
            </a:pP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y</a:t>
            </a:r>
            <a:r>
              <a:rPr lang="en-US" sz="2400" baseline="-25000" dirty="0" err="1" smtClean="0">
                <a:latin typeface="Times New Roman" pitchFamily="18" charset="0"/>
                <a:cs typeface="Times New Roman" pitchFamily="18" charset="0"/>
              </a:rPr>
              <a:t>k</a:t>
            </a:r>
            <a:r>
              <a:rPr lang="en-US" sz="2400" dirty="0" smtClean="0">
                <a:latin typeface="Times New Roman" pitchFamily="18" charset="0"/>
                <a:cs typeface="Times New Roman" pitchFamily="18" charset="0"/>
              </a:rPr>
              <a:t> = </a:t>
            </a:r>
            <a:r>
              <a:rPr lang="en-US" sz="2400" i="1" dirty="0" smtClean="0">
                <a:latin typeface="Times New Roman" pitchFamily="18" charset="0"/>
                <a:cs typeface="Times New Roman" pitchFamily="18" charset="0"/>
              </a:rPr>
              <a:t>f</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y</a:t>
            </a:r>
            <a:r>
              <a:rPr lang="en-US" sz="2400" i="1" baseline="-25000" dirty="0" err="1" smtClean="0">
                <a:latin typeface="Times New Roman" pitchFamily="18" charset="0"/>
                <a:cs typeface="Times New Roman" pitchFamily="18" charset="0"/>
              </a:rPr>
              <a:t>ink</a:t>
            </a:r>
            <a:r>
              <a:rPr lang="en-US" sz="2400" dirty="0" smtClean="0">
                <a:latin typeface="Times New Roman" pitchFamily="18" charset="0"/>
                <a:cs typeface="Times New Roman" pitchFamily="18" charset="0"/>
              </a:rPr>
              <a:t>)</a:t>
            </a:r>
          </a:p>
          <a:p>
            <a:pPr marL="539496" indent="-457200" algn="just">
              <a:buNone/>
            </a:pPr>
            <a:r>
              <a:rPr lang="en-US" sz="2400" dirty="0" smtClean="0">
                <a:latin typeface="Times New Roman" pitchFamily="18" charset="0"/>
                <a:cs typeface="Times New Roman" pitchFamily="18" charset="0"/>
              </a:rPr>
              <a:t>Back – propagation of error (Phase - II)</a:t>
            </a:r>
          </a:p>
          <a:p>
            <a:pPr marL="539496" indent="-457200" algn="just">
              <a:buNone/>
            </a:pP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graphicFrame>
        <p:nvGraphicFramePr>
          <p:cNvPr id="162818" name="Object 2"/>
          <p:cNvGraphicFramePr>
            <a:graphicFrameLocks noChangeAspect="1"/>
          </p:cNvGraphicFramePr>
          <p:nvPr/>
        </p:nvGraphicFramePr>
        <p:xfrm>
          <a:off x="2239963" y="3176588"/>
          <a:ext cx="4541837" cy="887412"/>
        </p:xfrm>
        <a:graphic>
          <a:graphicData uri="http://schemas.openxmlformats.org/presentationml/2006/ole">
            <p:oleObj spid="_x0000_s162818" name="Equation" r:id="rId3" imgW="1409400" imgH="457200" progId="Equation.3">
              <p:embed/>
            </p:oleObj>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8171688" cy="609600"/>
          </a:xfrm>
        </p:spPr>
        <p:txBody>
          <a:bodyPr>
            <a:noAutofit/>
          </a:bodyPr>
          <a:lstStyle/>
          <a:p>
            <a:r>
              <a:rPr lang="en-US" sz="3600" b="1" dirty="0" smtClean="0">
                <a:latin typeface="Times New Roman" pitchFamily="18" charset="0"/>
                <a:cs typeface="Times New Roman" pitchFamily="18" charset="0"/>
              </a:rPr>
              <a:t>Training algorithm</a:t>
            </a:r>
            <a:endParaRPr lang="en-US" sz="3600" dirty="0"/>
          </a:p>
        </p:txBody>
      </p:sp>
      <p:sp>
        <p:nvSpPr>
          <p:cNvPr id="3" name="Content Placeholder 2"/>
          <p:cNvSpPr>
            <a:spLocks noGrp="1"/>
          </p:cNvSpPr>
          <p:nvPr>
            <p:ph idx="1"/>
          </p:nvPr>
        </p:nvSpPr>
        <p:spPr>
          <a:xfrm>
            <a:off x="533400" y="1066800"/>
            <a:ext cx="8400288" cy="5410200"/>
          </a:xfrm>
        </p:spPr>
        <p:txBody>
          <a:bodyPr>
            <a:normAutofit/>
          </a:bodyPr>
          <a:lstStyle/>
          <a:p>
            <a:pPr marL="539496" indent="-457200" algn="just">
              <a:buFont typeface="+mj-lt"/>
              <a:buAutoNum type="arabicPeriod" startAt="7"/>
            </a:pPr>
            <a:r>
              <a:rPr lang="en-US" sz="2400" dirty="0" smtClean="0">
                <a:latin typeface="Times New Roman" pitchFamily="18" charset="0"/>
                <a:cs typeface="Times New Roman" pitchFamily="18" charset="0"/>
              </a:rPr>
              <a:t>Compute error correction factor:   </a:t>
            </a:r>
          </a:p>
          <a:p>
            <a:pPr marL="539496" indent="-457200" algn="just">
              <a:buNone/>
            </a:pPr>
            <a:r>
              <a:rPr lang="en-US" sz="2400" dirty="0" smtClean="0">
                <a:latin typeface="Times New Roman" pitchFamily="18" charset="0"/>
                <a:cs typeface="Times New Roman" pitchFamily="18" charset="0"/>
              </a:rPr>
              <a:t>       Find weight &amp; bias correction term</a:t>
            </a:r>
          </a:p>
          <a:p>
            <a:pPr marL="539496" indent="-457200" algn="just">
              <a:buFont typeface="+mj-lt"/>
              <a:buAutoNum type="arabicPeriod" startAt="7"/>
            </a:pPr>
            <a:endParaRPr lang="en-US" sz="2400" dirty="0" smtClean="0">
              <a:latin typeface="Times New Roman" pitchFamily="18" charset="0"/>
              <a:cs typeface="Times New Roman" pitchFamily="18" charset="0"/>
            </a:endParaRPr>
          </a:p>
          <a:p>
            <a:pPr marL="539496" indent="-457200" algn="just">
              <a:buFont typeface="+mj-lt"/>
              <a:buAutoNum type="arabicPeriod" startAt="8"/>
            </a:pPr>
            <a:r>
              <a:rPr lang="en-US" sz="2400" dirty="0" smtClean="0">
                <a:latin typeface="Times New Roman" pitchFamily="18" charset="0"/>
                <a:cs typeface="Times New Roman" pitchFamily="18" charset="0"/>
              </a:rPr>
              <a:t>For each hidden unit sums its delta inputs from the output units: </a:t>
            </a:r>
          </a:p>
          <a:p>
            <a:pPr marL="539496" indent="-457200" algn="just">
              <a:buFont typeface="+mj-lt"/>
              <a:buAutoNum type="arabicPeriod" startAt="8"/>
            </a:pPr>
            <a:endParaRPr lang="en-US" sz="2400" dirty="0" smtClean="0">
              <a:latin typeface="Times New Roman" pitchFamily="18" charset="0"/>
              <a:cs typeface="Times New Roman" pitchFamily="18" charset="0"/>
            </a:endParaRPr>
          </a:p>
          <a:p>
            <a:pPr marL="539496" indent="-457200" algn="just">
              <a:buNone/>
            </a:pPr>
            <a:r>
              <a:rPr lang="en-US" sz="2400" dirty="0" smtClean="0">
                <a:latin typeface="Times New Roman" pitchFamily="18" charset="0"/>
                <a:cs typeface="Times New Roman" pitchFamily="18" charset="0"/>
              </a:rPr>
              <a:t>       Calculate the error term: </a:t>
            </a:r>
            <a:r>
              <a:rPr lang="el-GR" sz="2400" dirty="0" smtClean="0">
                <a:latin typeface="Times New Roman"/>
                <a:cs typeface="Times New Roman"/>
              </a:rPr>
              <a:t>δ</a:t>
            </a:r>
            <a:r>
              <a:rPr lang="en-US" sz="2400" dirty="0" smtClean="0">
                <a:latin typeface="Times New Roman"/>
                <a:cs typeface="Times New Roman"/>
              </a:rPr>
              <a:t>j = </a:t>
            </a:r>
            <a:r>
              <a:rPr lang="el-GR" sz="2400" dirty="0" smtClean="0">
                <a:latin typeface="Times New Roman"/>
                <a:cs typeface="Times New Roman"/>
              </a:rPr>
              <a:t>δ</a:t>
            </a:r>
            <a:r>
              <a:rPr lang="en-US" sz="2400" baseline="-25000" dirty="0" err="1" smtClean="0">
                <a:latin typeface="Times New Roman"/>
                <a:cs typeface="Times New Roman"/>
              </a:rPr>
              <a:t>inj</a:t>
            </a:r>
            <a:r>
              <a:rPr lang="en-US" sz="2400" dirty="0" smtClean="0">
                <a:latin typeface="Times New Roman"/>
                <a:cs typeface="Times New Roman"/>
              </a:rPr>
              <a:t> </a:t>
            </a:r>
            <a:r>
              <a:rPr lang="en-US" sz="2400" i="1" dirty="0" smtClean="0">
                <a:latin typeface="Times New Roman"/>
                <a:cs typeface="Times New Roman"/>
              </a:rPr>
              <a:t>f </a:t>
            </a:r>
            <a:r>
              <a:rPr lang="en-US" sz="2400" baseline="30000" dirty="0" smtClean="0">
                <a:latin typeface="Times New Roman"/>
                <a:cs typeface="Times New Roman"/>
              </a:rPr>
              <a:t>’</a:t>
            </a:r>
            <a:r>
              <a:rPr lang="en-US" sz="2400" dirty="0" smtClean="0">
                <a:latin typeface="Times New Roman"/>
                <a:cs typeface="Times New Roman"/>
              </a:rPr>
              <a:t>(</a:t>
            </a:r>
            <a:r>
              <a:rPr lang="en-US" sz="2400" dirty="0" err="1" smtClean="0">
                <a:latin typeface="Times New Roman"/>
                <a:cs typeface="Times New Roman"/>
              </a:rPr>
              <a:t>z</a:t>
            </a:r>
            <a:r>
              <a:rPr lang="en-US" sz="2400" baseline="-25000" dirty="0" err="1" smtClean="0">
                <a:latin typeface="Times New Roman"/>
                <a:cs typeface="Times New Roman"/>
              </a:rPr>
              <a:t>inj</a:t>
            </a:r>
            <a:r>
              <a:rPr lang="en-US" sz="2400" dirty="0" smtClean="0">
                <a:latin typeface="Times New Roman"/>
                <a:cs typeface="Times New Roman"/>
              </a:rPr>
              <a:t>)</a:t>
            </a:r>
          </a:p>
          <a:p>
            <a:pPr marL="539496" indent="-457200" algn="just">
              <a:buNone/>
            </a:pPr>
            <a:endParaRPr lang="en-US" sz="2400" dirty="0" smtClean="0">
              <a:latin typeface="Times New Roman"/>
              <a:cs typeface="Times New Roman"/>
            </a:endParaRPr>
          </a:p>
          <a:p>
            <a:pPr marL="539496" indent="-457200" algn="just">
              <a:buNone/>
            </a:pPr>
            <a:r>
              <a:rPr lang="en-US" sz="2400" dirty="0" smtClean="0">
                <a:latin typeface="Times New Roman"/>
                <a:cs typeface="Times New Roman"/>
              </a:rPr>
              <a:t>      Compute change in weights &amp; bias based:</a:t>
            </a:r>
          </a:p>
          <a:p>
            <a:pPr marL="539496" indent="-457200" algn="just">
              <a:buNone/>
            </a:pPr>
            <a:endParaRPr lang="en-US" sz="2400" dirty="0" smtClean="0">
              <a:latin typeface="Times New Roman"/>
              <a:cs typeface="Times New Roman"/>
            </a:endParaRPr>
          </a:p>
          <a:p>
            <a:pPr marL="539496" indent="-457200" algn="just">
              <a:buNone/>
            </a:pPr>
            <a:endParaRPr lang="en-US" sz="24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5334000" y="914400"/>
          <a:ext cx="2895600" cy="609600"/>
        </p:xfrm>
        <a:graphic>
          <a:graphicData uri="http://schemas.openxmlformats.org/presentationml/2006/ole">
            <p:oleObj spid="_x0000_s163842" name="Equation" r:id="rId3" imgW="1447560" imgH="330120" progId="Equation.3">
              <p:embed/>
            </p:oleObj>
          </a:graphicData>
        </a:graphic>
      </p:graphicFrame>
      <p:graphicFrame>
        <p:nvGraphicFramePr>
          <p:cNvPr id="5" name="Object 4"/>
          <p:cNvGraphicFramePr>
            <a:graphicFrameLocks noChangeAspect="1"/>
          </p:cNvGraphicFramePr>
          <p:nvPr/>
        </p:nvGraphicFramePr>
        <p:xfrm>
          <a:off x="5638800" y="1447800"/>
          <a:ext cx="3200400" cy="457200"/>
        </p:xfrm>
        <a:graphic>
          <a:graphicData uri="http://schemas.openxmlformats.org/presentationml/2006/ole">
            <p:oleObj spid="_x0000_s163843" name="Equation" r:id="rId4" imgW="2120760" imgH="279360" progId="Equation.3">
              <p:embed/>
            </p:oleObj>
          </a:graphicData>
        </a:graphic>
      </p:graphicFrame>
      <p:graphicFrame>
        <p:nvGraphicFramePr>
          <p:cNvPr id="6" name="Object 5"/>
          <p:cNvGraphicFramePr>
            <a:graphicFrameLocks noChangeAspect="1"/>
          </p:cNvGraphicFramePr>
          <p:nvPr/>
        </p:nvGraphicFramePr>
        <p:xfrm>
          <a:off x="2514600" y="2971800"/>
          <a:ext cx="1981200" cy="762000"/>
        </p:xfrm>
        <a:graphic>
          <a:graphicData uri="http://schemas.openxmlformats.org/presentationml/2006/ole">
            <p:oleObj spid="_x0000_s163844" name="Equation" r:id="rId5" imgW="1054080" imgH="431640" progId="Equation.3">
              <p:embed/>
            </p:oleObj>
          </a:graphicData>
        </a:graphic>
      </p:graphicFrame>
      <p:graphicFrame>
        <p:nvGraphicFramePr>
          <p:cNvPr id="7" name="Object 6"/>
          <p:cNvGraphicFramePr>
            <a:graphicFrameLocks noChangeAspect="1"/>
          </p:cNvGraphicFramePr>
          <p:nvPr/>
        </p:nvGraphicFramePr>
        <p:xfrm>
          <a:off x="2438400" y="5181600"/>
          <a:ext cx="6172200" cy="838200"/>
        </p:xfrm>
        <a:graphic>
          <a:graphicData uri="http://schemas.openxmlformats.org/presentationml/2006/ole">
            <p:oleObj spid="_x0000_s163845" name="Equation" r:id="rId6" imgW="1815840" imgH="279360" progId="Equation.3">
              <p:embed/>
            </p:oleObj>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705088" cy="762000"/>
          </a:xfrm>
        </p:spPr>
        <p:txBody>
          <a:bodyPr>
            <a:normAutofit/>
          </a:bodyPr>
          <a:lstStyle/>
          <a:p>
            <a:r>
              <a:rPr lang="en-US" sz="3600" b="1" dirty="0" smtClean="0">
                <a:latin typeface="Times New Roman" pitchFamily="18" charset="0"/>
                <a:cs typeface="Times New Roman" pitchFamily="18" charset="0"/>
              </a:rPr>
              <a:t>Training algorithm</a:t>
            </a:r>
            <a:endParaRPr lang="en-US" sz="3600" dirty="0"/>
          </a:p>
        </p:txBody>
      </p:sp>
      <p:sp>
        <p:nvSpPr>
          <p:cNvPr id="3" name="Content Placeholder 2"/>
          <p:cNvSpPr>
            <a:spLocks noGrp="1"/>
          </p:cNvSpPr>
          <p:nvPr>
            <p:ph idx="1"/>
          </p:nvPr>
        </p:nvSpPr>
        <p:spPr>
          <a:xfrm>
            <a:off x="457200" y="838200"/>
            <a:ext cx="8476488" cy="5638800"/>
          </a:xfrm>
        </p:spPr>
        <p:txBody>
          <a:bodyPr>
            <a:normAutofit/>
          </a:bodyPr>
          <a:lstStyle/>
          <a:p>
            <a:pPr marL="539496" indent="-457200">
              <a:buFont typeface="+mj-lt"/>
              <a:buAutoNum type="arabicPeriod" startAt="9"/>
            </a:pPr>
            <a:r>
              <a:rPr lang="en-US" sz="2400" dirty="0" smtClean="0">
                <a:latin typeface="Times New Roman" pitchFamily="18" charset="0"/>
                <a:cs typeface="Times New Roman" pitchFamily="18" charset="0"/>
              </a:rPr>
              <a:t>Weight and bias updation:   Each input unit update the weights:</a:t>
            </a:r>
          </a:p>
          <a:p>
            <a:pPr marL="539496" indent="-457200">
              <a:buNone/>
            </a:pP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jk</a:t>
            </a:r>
            <a:r>
              <a:rPr lang="en-US" sz="2400" dirty="0" smtClean="0">
                <a:latin typeface="Times New Roman" pitchFamily="18" charset="0"/>
                <a:cs typeface="Times New Roman" pitchFamily="18" charset="0"/>
              </a:rPr>
              <a:t> (new)   = </a:t>
            </a:r>
            <a:r>
              <a:rPr lang="en-US" sz="2400"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jk</a:t>
            </a:r>
            <a:r>
              <a:rPr lang="en-US" sz="2400" dirty="0" smtClean="0">
                <a:latin typeface="Times New Roman" pitchFamily="18" charset="0"/>
                <a:cs typeface="Times New Roman" pitchFamily="18" charset="0"/>
              </a:rPr>
              <a:t>(old) + </a:t>
            </a:r>
            <a:r>
              <a:rPr lang="el-GR" sz="2400" dirty="0" smtClean="0">
                <a:latin typeface="Times New Roman"/>
                <a:cs typeface="Times New Roman"/>
              </a:rPr>
              <a:t>Δ</a:t>
            </a:r>
            <a:r>
              <a:rPr lang="en-US" sz="2400" dirty="0" err="1" smtClean="0">
                <a:latin typeface="Times New Roman"/>
                <a:cs typeface="Times New Roman"/>
              </a:rPr>
              <a:t>w</a:t>
            </a:r>
            <a:r>
              <a:rPr lang="en-US" sz="2400" baseline="-25000" dirty="0" err="1" smtClean="0">
                <a:latin typeface="Times New Roman"/>
                <a:cs typeface="Times New Roman"/>
              </a:rPr>
              <a:t>jk</a:t>
            </a:r>
            <a:endParaRPr lang="en-US" sz="2400" baseline="-25000" dirty="0" smtClean="0">
              <a:latin typeface="Times New Roman"/>
              <a:cs typeface="Times New Roman"/>
            </a:endParaRPr>
          </a:p>
          <a:p>
            <a:pPr marL="539496" indent="-457200">
              <a:buNone/>
            </a:pPr>
            <a:r>
              <a:rPr lang="en-US" sz="2400" dirty="0" smtClean="0">
                <a:latin typeface="Times New Roman" pitchFamily="18" charset="0"/>
                <a:cs typeface="Times New Roman" pitchFamily="18" charset="0"/>
              </a:rPr>
              <a:t>         w</a:t>
            </a:r>
            <a:r>
              <a:rPr lang="en-US" sz="2400" baseline="-25000" dirty="0" smtClean="0">
                <a:latin typeface="Times New Roman" pitchFamily="18" charset="0"/>
                <a:cs typeface="Times New Roman" pitchFamily="18" charset="0"/>
              </a:rPr>
              <a:t>0k</a:t>
            </a:r>
            <a:r>
              <a:rPr lang="en-US" sz="2400" dirty="0" smtClean="0">
                <a:latin typeface="Times New Roman" pitchFamily="18" charset="0"/>
                <a:cs typeface="Times New Roman" pitchFamily="18" charset="0"/>
              </a:rPr>
              <a:t> (new)  = w</a:t>
            </a:r>
            <a:r>
              <a:rPr lang="en-US" sz="2400" baseline="-25000" dirty="0" smtClean="0">
                <a:latin typeface="Times New Roman" pitchFamily="18" charset="0"/>
                <a:cs typeface="Times New Roman" pitchFamily="18" charset="0"/>
              </a:rPr>
              <a:t>0k</a:t>
            </a:r>
            <a:r>
              <a:rPr lang="en-US" sz="2400" dirty="0" smtClean="0">
                <a:latin typeface="Times New Roman" pitchFamily="18" charset="0"/>
                <a:cs typeface="Times New Roman" pitchFamily="18" charset="0"/>
              </a:rPr>
              <a:t>(old) + </a:t>
            </a:r>
            <a:r>
              <a:rPr lang="el-GR" sz="2400" dirty="0" smtClean="0">
                <a:latin typeface="Times New Roman"/>
                <a:cs typeface="Times New Roman"/>
              </a:rPr>
              <a:t>Δ</a:t>
            </a:r>
            <a:r>
              <a:rPr lang="en-US" sz="2400" dirty="0" smtClean="0">
                <a:latin typeface="Times New Roman"/>
                <a:cs typeface="Times New Roman"/>
              </a:rPr>
              <a:t>w</a:t>
            </a:r>
            <a:r>
              <a:rPr lang="en-US" sz="2400" baseline="-25000" dirty="0" smtClean="0">
                <a:latin typeface="Times New Roman"/>
                <a:cs typeface="Times New Roman"/>
              </a:rPr>
              <a:t>0k</a:t>
            </a:r>
          </a:p>
          <a:p>
            <a:pPr marL="539496" indent="-457200">
              <a:buNone/>
            </a:pPr>
            <a:r>
              <a:rPr lang="en-US" sz="2400" dirty="0" smtClean="0">
                <a:latin typeface="Times New Roman" pitchFamily="18" charset="0"/>
                <a:cs typeface="Times New Roman" pitchFamily="18" charset="0"/>
              </a:rPr>
              <a:t>       Each hidden unit updates its bias and weights:</a:t>
            </a:r>
          </a:p>
          <a:p>
            <a:pPr marL="539496" indent="-457200">
              <a:buNone/>
            </a:pP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a:t>
            </a:r>
            <a:r>
              <a:rPr lang="en-US" sz="2400"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 (new)   = </a:t>
            </a:r>
            <a:r>
              <a:rPr lang="en-US" sz="2400" dirty="0" err="1" smtClean="0">
                <a:latin typeface="Times New Roman" pitchFamily="18" charset="0"/>
                <a:cs typeface="Times New Roman" pitchFamily="18" charset="0"/>
              </a:rPr>
              <a:t>v</a:t>
            </a:r>
            <a:r>
              <a:rPr lang="en-US" sz="2400"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(old) + </a:t>
            </a:r>
            <a:r>
              <a:rPr lang="el-GR" sz="2400" dirty="0" smtClean="0">
                <a:latin typeface="Times New Roman"/>
                <a:cs typeface="Times New Roman"/>
              </a:rPr>
              <a:t>Δ</a:t>
            </a:r>
            <a:r>
              <a:rPr lang="en-US" sz="2400" dirty="0" err="1" smtClean="0">
                <a:latin typeface="Times New Roman"/>
                <a:cs typeface="Times New Roman"/>
              </a:rPr>
              <a:t>v</a:t>
            </a:r>
            <a:r>
              <a:rPr lang="en-US" sz="2400" baseline="-25000" dirty="0" err="1" smtClean="0">
                <a:latin typeface="Times New Roman"/>
                <a:cs typeface="Times New Roman"/>
              </a:rPr>
              <a:t>ij</a:t>
            </a:r>
            <a:endParaRPr lang="en-US" sz="2400" baseline="-25000" dirty="0" smtClean="0">
              <a:latin typeface="Times New Roman"/>
              <a:cs typeface="Times New Roman"/>
            </a:endParaRPr>
          </a:p>
          <a:p>
            <a:pPr marL="539496" indent="-457200">
              <a:buNone/>
            </a:pPr>
            <a:r>
              <a:rPr lang="en-US" sz="2400" dirty="0" smtClean="0">
                <a:latin typeface="Times New Roman" pitchFamily="18" charset="0"/>
                <a:cs typeface="Times New Roman" pitchFamily="18" charset="0"/>
              </a:rPr>
              <a:t>         v</a:t>
            </a:r>
            <a:r>
              <a:rPr lang="en-US" sz="2400" i="1" baseline="-25000" dirty="0" smtClean="0">
                <a:latin typeface="Times New Roman" pitchFamily="18" charset="0"/>
                <a:cs typeface="Times New Roman" pitchFamily="18" charset="0"/>
              </a:rPr>
              <a:t>0j</a:t>
            </a:r>
            <a:r>
              <a:rPr lang="en-US" sz="2400" dirty="0" smtClean="0">
                <a:latin typeface="Times New Roman" pitchFamily="18" charset="0"/>
                <a:cs typeface="Times New Roman" pitchFamily="18" charset="0"/>
              </a:rPr>
              <a:t> (new)  = v</a:t>
            </a:r>
            <a:r>
              <a:rPr lang="en-US" sz="2400" baseline="-25000" dirty="0" smtClean="0">
                <a:latin typeface="Times New Roman" pitchFamily="18" charset="0"/>
                <a:cs typeface="Times New Roman" pitchFamily="18" charset="0"/>
              </a:rPr>
              <a:t>0</a:t>
            </a:r>
            <a:r>
              <a:rPr lang="en-US" sz="2400" i="1" baseline="-25000" dirty="0" smtClean="0">
                <a:latin typeface="Times New Roman" pitchFamily="18" charset="0"/>
                <a:cs typeface="Times New Roman" pitchFamily="18" charset="0"/>
              </a:rPr>
              <a:t>j</a:t>
            </a:r>
            <a:r>
              <a:rPr lang="en-US" sz="2400" dirty="0" smtClean="0">
                <a:latin typeface="Times New Roman" pitchFamily="18" charset="0"/>
                <a:cs typeface="Times New Roman" pitchFamily="18" charset="0"/>
              </a:rPr>
              <a:t>(old) + </a:t>
            </a:r>
            <a:r>
              <a:rPr lang="el-GR" sz="2400" dirty="0" smtClean="0">
                <a:latin typeface="Times New Roman"/>
                <a:cs typeface="Times New Roman"/>
              </a:rPr>
              <a:t>Δ</a:t>
            </a:r>
            <a:r>
              <a:rPr lang="en-US" sz="2400" dirty="0" smtClean="0">
                <a:latin typeface="Times New Roman"/>
                <a:cs typeface="Times New Roman"/>
              </a:rPr>
              <a:t>v</a:t>
            </a:r>
            <a:r>
              <a:rPr lang="en-US" sz="2400" i="1" baseline="-25000" dirty="0" smtClean="0">
                <a:latin typeface="Times New Roman"/>
                <a:cs typeface="Times New Roman"/>
              </a:rPr>
              <a:t>0j</a:t>
            </a:r>
          </a:p>
          <a:p>
            <a:pPr marL="539496" indent="-457200">
              <a:buNone/>
            </a:pPr>
            <a:endParaRPr lang="en-US" sz="2400" i="1" baseline="-25000" dirty="0" smtClean="0">
              <a:latin typeface="Times New Roman"/>
              <a:cs typeface="Times New Roman"/>
            </a:endParaRPr>
          </a:p>
          <a:p>
            <a:pPr marL="539496" indent="-457200">
              <a:buNone/>
            </a:pPr>
            <a:r>
              <a:rPr lang="en-US" sz="2400" i="1" baseline="-25000" dirty="0" smtClean="0">
                <a:latin typeface="Times New Roman"/>
                <a:cs typeface="Times New Roman"/>
              </a:rPr>
              <a:t> </a:t>
            </a:r>
          </a:p>
          <a:p>
            <a:pPr marL="539496" indent="-457200">
              <a:buFont typeface="+mj-lt"/>
              <a:buAutoNum type="arabicPeriod" startAt="10"/>
            </a:pPr>
            <a:r>
              <a:rPr lang="en-US" sz="2400" dirty="0" smtClean="0">
                <a:latin typeface="Times New Roman" pitchFamily="18" charset="0"/>
                <a:cs typeface="Times New Roman" pitchFamily="18" charset="0"/>
              </a:rPr>
              <a:t>Check for the stop condition. </a:t>
            </a:r>
            <a:endParaRPr lang="en-US" sz="2400" dirty="0">
              <a:latin typeface="Times New Roman" pitchFamily="18" charset="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476488" cy="563562"/>
          </a:xfrm>
        </p:spPr>
        <p:txBody>
          <a:bodyPr>
            <a:noAutofit/>
          </a:bodyPr>
          <a:lstStyle/>
          <a:p>
            <a:r>
              <a:rPr lang="en-US" sz="3600" dirty="0" smtClean="0">
                <a:latin typeface="Times New Roman" pitchFamily="18" charset="0"/>
                <a:cs typeface="Times New Roman" pitchFamily="18" charset="0"/>
              </a:rPr>
              <a:t>Associative memory Network</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762000"/>
            <a:ext cx="8534400" cy="5867400"/>
          </a:xfrm>
        </p:spPr>
        <p:txBody>
          <a:bodyPr>
            <a:normAutofit/>
          </a:bodyPr>
          <a:lstStyle/>
          <a:p>
            <a:pPr algn="just"/>
            <a:r>
              <a:rPr lang="en-US" sz="2400" dirty="0" smtClean="0">
                <a:latin typeface="Times New Roman" pitchFamily="18" charset="0"/>
                <a:cs typeface="Times New Roman" pitchFamily="18" charset="0"/>
              </a:rPr>
              <a:t>An associative memory network can store a set of pattern as memories.</a:t>
            </a:r>
          </a:p>
          <a:p>
            <a:pPr algn="just"/>
            <a:r>
              <a:rPr lang="en-US" sz="2400" dirty="0" smtClean="0">
                <a:latin typeface="Times New Roman" pitchFamily="18" charset="0"/>
                <a:cs typeface="Times New Roman" pitchFamily="18" charset="0"/>
              </a:rPr>
              <a:t>When the associative memory is being presented with a key pattern, it responds by producing one of the stored pattern which closely resembles or relates to the key pattern.</a:t>
            </a:r>
          </a:p>
          <a:p>
            <a:pPr algn="just"/>
            <a:r>
              <a:rPr lang="en-US" sz="2400" b="1" dirty="0" smtClean="0">
                <a:latin typeface="Times New Roman" pitchFamily="18" charset="0"/>
                <a:cs typeface="Times New Roman" pitchFamily="18" charset="0"/>
              </a:rPr>
              <a:t>Training Algorithms for pattern association: </a:t>
            </a:r>
            <a:r>
              <a:rPr lang="en-US" sz="2400" dirty="0" smtClean="0">
                <a:latin typeface="Times New Roman" pitchFamily="18" charset="0"/>
                <a:cs typeface="Times New Roman" pitchFamily="18" charset="0"/>
              </a:rPr>
              <a:t>There are two algorithm developed for training of pattern association nets.</a:t>
            </a:r>
          </a:p>
          <a:p>
            <a:pPr algn="just">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Hebb</a:t>
            </a:r>
            <a:r>
              <a:rPr lang="en-US" sz="2400" b="1" dirty="0" smtClean="0">
                <a:latin typeface="Times New Roman" pitchFamily="18" charset="0"/>
                <a:cs typeface="Times New Roman" pitchFamily="18" charset="0"/>
              </a:rPr>
              <a:t> Rule </a:t>
            </a:r>
          </a:p>
          <a:p>
            <a:pPr algn="just">
              <a:buNone/>
            </a:pPr>
            <a:r>
              <a:rPr lang="en-US" sz="2400" b="1" dirty="0" smtClean="0">
                <a:latin typeface="Times New Roman" pitchFamily="18" charset="0"/>
                <a:cs typeface="Times New Roman" pitchFamily="18" charset="0"/>
              </a:rPr>
              <a:t>    0: </a:t>
            </a:r>
            <a:r>
              <a:rPr lang="en-US" sz="2400" dirty="0" smtClean="0">
                <a:latin typeface="Times New Roman" pitchFamily="18" charset="0"/>
                <a:cs typeface="Times New Roman" pitchFamily="18" charset="0"/>
              </a:rPr>
              <a:t>Set all the initial weights to zero, </a:t>
            </a:r>
            <a:r>
              <a:rPr lang="en-US" sz="2400"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 = 0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to n, j = 1 to m)</a:t>
            </a:r>
          </a:p>
          <a:p>
            <a:pPr algn="just">
              <a:buNone/>
            </a:pPr>
            <a:r>
              <a:rPr lang="en-US" sz="2400" b="1" dirty="0" smtClean="0">
                <a:latin typeface="Times New Roman" pitchFamily="18" charset="0"/>
                <a:cs typeface="Times New Roman" pitchFamily="18" charset="0"/>
              </a:rPr>
              <a:t>    1: </a:t>
            </a:r>
            <a:r>
              <a:rPr lang="en-US" sz="2400" dirty="0" smtClean="0">
                <a:latin typeface="Times New Roman" pitchFamily="18" charset="0"/>
                <a:cs typeface="Times New Roman" pitchFamily="18" charset="0"/>
              </a:rPr>
              <a:t>For each training target input output vectors pairs s:t, perform    2-4.</a:t>
            </a:r>
          </a:p>
          <a:p>
            <a:pPr algn="just">
              <a:buNone/>
            </a:pPr>
            <a:r>
              <a:rPr lang="en-US" sz="2400" b="1" dirty="0" smtClean="0">
                <a:latin typeface="Times New Roman" pitchFamily="18" charset="0"/>
                <a:cs typeface="Times New Roman" pitchFamily="18" charset="0"/>
              </a:rPr>
              <a:t>    2: </a:t>
            </a:r>
            <a:r>
              <a:rPr lang="en-US" sz="2400" dirty="0" smtClean="0">
                <a:latin typeface="Times New Roman" pitchFamily="18" charset="0"/>
                <a:cs typeface="Times New Roman" pitchFamily="18" charset="0"/>
              </a:rPr>
              <a:t>Activate the input layer units to current input,  x</a:t>
            </a:r>
            <a:r>
              <a:rPr lang="en-US" sz="2400" baseline="-25000" dirty="0"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s</a:t>
            </a:r>
            <a:r>
              <a:rPr lang="en-US" sz="2400" baseline="-25000" dirty="0" err="1" smtClean="0">
                <a:latin typeface="Times New Roman" pitchFamily="18" charset="0"/>
                <a:cs typeface="Times New Roman" pitchFamily="18" charset="0"/>
              </a:rPr>
              <a:t>i</a:t>
            </a:r>
            <a:endParaRPr lang="en-US" sz="2400" baseline="-25000" dirty="0" smtClean="0">
              <a:latin typeface="Times New Roman" pitchFamily="18" charset="0"/>
              <a:cs typeface="Times New Roman" pitchFamily="18" charset="0"/>
            </a:endParaRPr>
          </a:p>
          <a:p>
            <a:pPr algn="just">
              <a:buNone/>
            </a:pPr>
            <a:r>
              <a:rPr lang="en-US" sz="2400" b="1" baseline="-250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   3: </a:t>
            </a:r>
            <a:r>
              <a:rPr lang="en-US" sz="2400" dirty="0" smtClean="0">
                <a:latin typeface="Times New Roman" pitchFamily="18" charset="0"/>
                <a:cs typeface="Times New Roman" pitchFamily="18" charset="0"/>
              </a:rPr>
              <a:t>Activate the output layer units to current target output </a:t>
            </a:r>
            <a:r>
              <a:rPr lang="en-US" sz="2400" dirty="0" err="1" smtClean="0">
                <a:latin typeface="Times New Roman" pitchFamily="18" charset="0"/>
                <a:cs typeface="Times New Roman" pitchFamily="18" charset="0"/>
              </a:rPr>
              <a:t>y</a:t>
            </a:r>
            <a:r>
              <a:rPr lang="en-US" sz="2400" baseline="-25000" dirty="0" err="1" smtClean="0">
                <a:latin typeface="Times New Roman" pitchFamily="18" charset="0"/>
                <a:cs typeface="Times New Roman" pitchFamily="18" charset="0"/>
              </a:rPr>
              <a:t>j</a:t>
            </a: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t</a:t>
            </a:r>
            <a:r>
              <a:rPr lang="en-US" sz="2400" baseline="-25000" dirty="0" err="1" smtClean="0">
                <a:latin typeface="Times New Roman" pitchFamily="18" charset="0"/>
                <a:cs typeface="Times New Roman" pitchFamily="18" charset="0"/>
              </a:rPr>
              <a:t>j</a:t>
            </a:r>
            <a:endParaRPr lang="en-US" sz="2400" baseline="-25000" dirty="0" smtClean="0">
              <a:latin typeface="Times New Roman" pitchFamily="18" charset="0"/>
              <a:cs typeface="Times New Roman" pitchFamily="18" charset="0"/>
            </a:endParaRPr>
          </a:p>
          <a:p>
            <a:pPr algn="just">
              <a:buNone/>
            </a:pPr>
            <a:r>
              <a:rPr lang="en-US" sz="2400" b="1" baseline="-250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4: </a:t>
            </a:r>
            <a:r>
              <a:rPr lang="en-US" sz="2400" dirty="0" smtClean="0">
                <a:latin typeface="Times New Roman" pitchFamily="18" charset="0"/>
                <a:cs typeface="Times New Roman" pitchFamily="18" charset="0"/>
              </a:rPr>
              <a:t>Start the weight adjustment </a:t>
            </a:r>
            <a:r>
              <a:rPr lang="en-US" sz="2400"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(new) = </a:t>
            </a:r>
            <a:r>
              <a:rPr lang="en-US" sz="2400"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(old) + </a:t>
            </a:r>
            <a:r>
              <a:rPr lang="en-US" sz="2400" dirty="0" err="1" smtClean="0">
                <a:latin typeface="Times New Roman" pitchFamily="18" charset="0"/>
                <a:cs typeface="Times New Roman" pitchFamily="18" charset="0"/>
              </a:rPr>
              <a:t>x</a:t>
            </a:r>
            <a:r>
              <a:rPr lang="en-US" sz="2400" baseline="-25000" dirty="0" err="1" smtClean="0">
                <a:latin typeface="Times New Roman" pitchFamily="18" charset="0"/>
                <a:cs typeface="Times New Roman" pitchFamily="18" charset="0"/>
              </a:rPr>
              <a:t>i</a:t>
            </a:r>
            <a:r>
              <a:rPr lang="en-US" sz="2400" dirty="0" err="1" smtClean="0">
                <a:latin typeface="Times New Roman" pitchFamily="18" charset="0"/>
                <a:cs typeface="Times New Roman" pitchFamily="18" charset="0"/>
              </a:rPr>
              <a:t>y</a:t>
            </a:r>
            <a:r>
              <a:rPr lang="en-US" sz="2400" baseline="-25000" dirty="0" err="1" smtClean="0">
                <a:latin typeface="Times New Roman" pitchFamily="18" charset="0"/>
                <a:cs typeface="Times New Roman" pitchFamily="18" charset="0"/>
              </a:rPr>
              <a:t>j</a:t>
            </a:r>
            <a:r>
              <a:rPr lang="en-US" sz="2400" b="1" dirty="0" smtClean="0">
                <a:latin typeface="Times New Roman" pitchFamily="18" charset="0"/>
                <a:cs typeface="Times New Roman" pitchFamily="18" charset="0"/>
              </a:rPr>
              <a:t> </a:t>
            </a:r>
            <a:endParaRPr lang="en-US" sz="2400" b="1" baseline="-25000"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705088" cy="639762"/>
          </a:xfrm>
        </p:spPr>
        <p:txBody>
          <a:bodyPr>
            <a:noAutofit/>
          </a:bodyPr>
          <a:lstStyle/>
          <a:p>
            <a:r>
              <a:rPr lang="en-US" sz="3600" b="1" dirty="0" smtClean="0">
                <a:latin typeface="Times New Roman" pitchFamily="18" charset="0"/>
                <a:cs typeface="Times New Roman" pitchFamily="18" charset="0"/>
              </a:rPr>
              <a:t>Training Algorithms for pattern association</a:t>
            </a:r>
            <a:endParaRPr lang="en-US" sz="3600" dirty="0"/>
          </a:p>
        </p:txBody>
      </p:sp>
      <p:sp>
        <p:nvSpPr>
          <p:cNvPr id="3" name="Content Placeholder 2"/>
          <p:cNvSpPr>
            <a:spLocks noGrp="1"/>
          </p:cNvSpPr>
          <p:nvPr>
            <p:ph idx="1"/>
          </p:nvPr>
        </p:nvSpPr>
        <p:spPr>
          <a:xfrm>
            <a:off x="457200" y="914400"/>
            <a:ext cx="8476488" cy="5715000"/>
          </a:xfrm>
        </p:spPr>
        <p:txBody>
          <a:bodyPr>
            <a:normAutofit/>
          </a:bodyPr>
          <a:lstStyle/>
          <a:p>
            <a:pPr algn="just"/>
            <a:r>
              <a:rPr lang="en-US" sz="2400" b="1" dirty="0" smtClean="0">
                <a:latin typeface="Times New Roman" pitchFamily="18" charset="0"/>
                <a:cs typeface="Times New Roman" pitchFamily="18" charset="0"/>
              </a:rPr>
              <a:t>Outer Product Rule: </a:t>
            </a:r>
            <a:r>
              <a:rPr lang="en-US" sz="2400" dirty="0" smtClean="0">
                <a:latin typeface="Times New Roman" pitchFamily="18" charset="0"/>
                <a:cs typeface="Times New Roman" pitchFamily="18" charset="0"/>
              </a:rPr>
              <a:t>outer product rule is an alternative method for finding weights of an association net.</a:t>
            </a:r>
          </a:p>
          <a:p>
            <a:pPr algn="just">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Input </a:t>
            </a:r>
            <a:r>
              <a:rPr lang="en-US" sz="2400" dirty="0" smtClean="0">
                <a:latin typeface="Times New Roman"/>
                <a:cs typeface="Times New Roman"/>
              </a:rPr>
              <a:t>→ s = (s</a:t>
            </a:r>
            <a:r>
              <a:rPr lang="en-US" sz="2400" baseline="-25000" dirty="0" smtClean="0">
                <a:latin typeface="Times New Roman"/>
                <a:cs typeface="Times New Roman"/>
              </a:rPr>
              <a:t>1</a:t>
            </a:r>
            <a:r>
              <a:rPr lang="en-US" sz="2400" dirty="0" smtClean="0">
                <a:latin typeface="Times New Roman"/>
                <a:cs typeface="Times New Roman"/>
              </a:rPr>
              <a:t>….</a:t>
            </a:r>
            <a:r>
              <a:rPr lang="en-US" sz="2400" dirty="0" err="1" smtClean="0">
                <a:latin typeface="Times New Roman"/>
                <a:cs typeface="Times New Roman"/>
              </a:rPr>
              <a:t>s</a:t>
            </a:r>
            <a:r>
              <a:rPr lang="en-US" sz="2400" baseline="-25000" dirty="0" err="1" smtClean="0">
                <a:latin typeface="Times New Roman"/>
                <a:cs typeface="Times New Roman"/>
              </a:rPr>
              <a:t>i</a:t>
            </a:r>
            <a:r>
              <a:rPr lang="en-US" sz="2400" dirty="0" smtClean="0">
                <a:latin typeface="Times New Roman"/>
                <a:cs typeface="Times New Roman"/>
              </a:rPr>
              <a:t>……</a:t>
            </a:r>
            <a:r>
              <a:rPr lang="en-US" sz="2400" dirty="0" err="1" smtClean="0">
                <a:latin typeface="Times New Roman"/>
                <a:cs typeface="Times New Roman"/>
              </a:rPr>
              <a:t>s</a:t>
            </a:r>
            <a:r>
              <a:rPr lang="en-US" sz="2400" baseline="-25000" dirty="0" err="1" smtClean="0">
                <a:latin typeface="Times New Roman"/>
                <a:cs typeface="Times New Roman"/>
              </a:rPr>
              <a:t>n</a:t>
            </a:r>
            <a:r>
              <a:rPr lang="en-US" sz="2400" dirty="0" smtClean="0">
                <a:latin typeface="Times New Roman"/>
                <a:cs typeface="Times New Roman"/>
              </a:rPr>
              <a:t>)</a:t>
            </a:r>
          </a:p>
          <a:p>
            <a:pPr algn="just">
              <a:buNone/>
            </a:pPr>
            <a:r>
              <a:rPr lang="en-US" sz="2400" b="1" dirty="0" smtClean="0">
                <a:latin typeface="Times New Roman"/>
                <a:cs typeface="Times New Roman"/>
              </a:rPr>
              <a:t>        </a:t>
            </a:r>
            <a:r>
              <a:rPr lang="en-US" sz="2400" dirty="0" smtClean="0">
                <a:latin typeface="Times New Roman"/>
                <a:cs typeface="Times New Roman"/>
              </a:rPr>
              <a:t>Output → t = (t</a:t>
            </a:r>
            <a:r>
              <a:rPr lang="en-US" sz="2400" baseline="-25000" dirty="0" smtClean="0">
                <a:latin typeface="Times New Roman"/>
                <a:cs typeface="Times New Roman"/>
              </a:rPr>
              <a:t>1</a:t>
            </a:r>
            <a:r>
              <a:rPr lang="en-US" sz="2400" dirty="0" smtClean="0">
                <a:latin typeface="Times New Roman"/>
                <a:cs typeface="Times New Roman"/>
              </a:rPr>
              <a:t>….</a:t>
            </a:r>
            <a:r>
              <a:rPr lang="en-US" sz="2400" dirty="0" err="1" smtClean="0">
                <a:latin typeface="Times New Roman"/>
                <a:cs typeface="Times New Roman"/>
              </a:rPr>
              <a:t>t</a:t>
            </a:r>
            <a:r>
              <a:rPr lang="en-US" sz="2400" baseline="-25000" dirty="0" err="1" smtClean="0">
                <a:latin typeface="Times New Roman"/>
                <a:cs typeface="Times New Roman"/>
              </a:rPr>
              <a:t>i</a:t>
            </a:r>
            <a:r>
              <a:rPr lang="en-US" sz="2400" dirty="0" smtClean="0">
                <a:latin typeface="Times New Roman"/>
                <a:cs typeface="Times New Roman"/>
              </a:rPr>
              <a:t>…..</a:t>
            </a:r>
            <a:r>
              <a:rPr lang="en-US" sz="2400" dirty="0" err="1" smtClean="0">
                <a:latin typeface="Times New Roman"/>
                <a:cs typeface="Times New Roman"/>
              </a:rPr>
              <a:t>t</a:t>
            </a:r>
            <a:r>
              <a:rPr lang="en-US" sz="2400" baseline="-25000" dirty="0" err="1" smtClean="0">
                <a:latin typeface="Times New Roman"/>
                <a:cs typeface="Times New Roman"/>
              </a:rPr>
              <a:t>n</a:t>
            </a:r>
            <a:r>
              <a:rPr lang="en-US" sz="2400" dirty="0" smtClean="0">
                <a:latin typeface="Times New Roman"/>
                <a:cs typeface="Times New Roman"/>
              </a:rPr>
              <a:t>)</a:t>
            </a:r>
          </a:p>
          <a:p>
            <a:pPr algn="just">
              <a:buNone/>
            </a:pPr>
            <a:r>
              <a:rPr lang="en-US" sz="2400" dirty="0" smtClean="0">
                <a:latin typeface="Times New Roman"/>
                <a:cs typeface="Times New Roman"/>
              </a:rPr>
              <a:t> The outer product of the two vectors is the product of the </a:t>
            </a:r>
            <a:r>
              <a:rPr lang="en-US" sz="2400" dirty="0" err="1" smtClean="0">
                <a:latin typeface="Times New Roman"/>
                <a:cs typeface="Times New Roman"/>
              </a:rPr>
              <a:t>matrics</a:t>
            </a:r>
            <a:r>
              <a:rPr lang="en-US" sz="2400" dirty="0" smtClean="0">
                <a:latin typeface="Times New Roman"/>
                <a:cs typeface="Times New Roman"/>
              </a:rPr>
              <a:t> S= </a:t>
            </a:r>
            <a:r>
              <a:rPr lang="en-US" sz="2400" dirty="0" err="1" smtClean="0">
                <a:latin typeface="Times New Roman"/>
                <a:cs typeface="Times New Roman"/>
              </a:rPr>
              <a:t>s</a:t>
            </a:r>
            <a:r>
              <a:rPr lang="en-US" sz="2400" baseline="30000" dirty="0" err="1" smtClean="0">
                <a:latin typeface="Times New Roman"/>
                <a:cs typeface="Times New Roman"/>
              </a:rPr>
              <a:t>T</a:t>
            </a:r>
            <a:r>
              <a:rPr lang="en-US" sz="2400" dirty="0" smtClean="0">
                <a:latin typeface="Times New Roman"/>
                <a:cs typeface="Times New Roman"/>
              </a:rPr>
              <a:t> and T = t.</a:t>
            </a:r>
          </a:p>
          <a:p>
            <a:pPr algn="just">
              <a:buNone/>
            </a:pPr>
            <a:endParaRPr lang="en-US" sz="2400" dirty="0" smtClean="0">
              <a:latin typeface="Times New Roman"/>
              <a:cs typeface="Times New Roman"/>
            </a:endParaRPr>
          </a:p>
          <a:p>
            <a:pPr algn="just">
              <a:buNone/>
            </a:pPr>
            <a:r>
              <a:rPr lang="en-US" sz="2400" dirty="0" smtClean="0">
                <a:latin typeface="Times New Roman"/>
                <a:cs typeface="Times New Roman"/>
              </a:rPr>
              <a:t>      </a:t>
            </a:r>
            <a:endParaRPr lang="en-US" sz="2400" dirty="0">
              <a:latin typeface="Times New Roman" pitchFamily="18" charset="0"/>
              <a:cs typeface="Times New Roman" pitchFamily="18" charset="0"/>
            </a:endParaRPr>
          </a:p>
        </p:txBody>
      </p:sp>
      <p:graphicFrame>
        <p:nvGraphicFramePr>
          <p:cNvPr id="4" name="Object 3"/>
          <p:cNvGraphicFramePr>
            <a:graphicFrameLocks noChangeAspect="1"/>
          </p:cNvGraphicFramePr>
          <p:nvPr/>
        </p:nvGraphicFramePr>
        <p:xfrm>
          <a:off x="2819400" y="3581400"/>
          <a:ext cx="3962400" cy="1295400"/>
        </p:xfrm>
        <a:graphic>
          <a:graphicData uri="http://schemas.openxmlformats.org/presentationml/2006/ole">
            <p:oleObj spid="_x0000_s167938" name="Equation" r:id="rId3" imgW="1155600" imgH="457200" progId="Equation.3">
              <p:embed/>
            </p:oleObj>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400288" cy="762000"/>
          </a:xfrm>
        </p:spPr>
        <p:txBody>
          <a:bodyPr>
            <a:normAutofit/>
          </a:bodyPr>
          <a:lstStyle/>
          <a:p>
            <a:r>
              <a:rPr lang="en-US" sz="3600" dirty="0" err="1" smtClean="0">
                <a:latin typeface="Times New Roman" pitchFamily="18" charset="0"/>
                <a:cs typeface="Times New Roman" pitchFamily="18" charset="0"/>
              </a:rPr>
              <a:t>Autoassociative</a:t>
            </a:r>
            <a:r>
              <a:rPr lang="en-US" sz="3600" dirty="0" smtClean="0">
                <a:latin typeface="Times New Roman" pitchFamily="18" charset="0"/>
                <a:cs typeface="Times New Roman" pitchFamily="18" charset="0"/>
              </a:rPr>
              <a:t> Memory Network</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685800" y="990600"/>
            <a:ext cx="8247888" cy="5486400"/>
          </a:xfrm>
        </p:spPr>
        <p:txBody>
          <a:bodyPr>
            <a:normAutofit/>
          </a:bodyPr>
          <a:lstStyle/>
          <a:p>
            <a:pPr algn="just"/>
            <a:r>
              <a:rPr lang="en-US" sz="2400" dirty="0" smtClean="0">
                <a:latin typeface="Times New Roman" pitchFamily="18" charset="0"/>
                <a:cs typeface="Times New Roman" pitchFamily="18" charset="0"/>
              </a:rPr>
              <a:t>In the case of an </a:t>
            </a:r>
            <a:r>
              <a:rPr lang="en-US" sz="2400" dirty="0" err="1" smtClean="0">
                <a:latin typeface="Times New Roman" pitchFamily="18" charset="0"/>
                <a:cs typeface="Times New Roman" pitchFamily="18" charset="0"/>
              </a:rPr>
              <a:t>autoassociative</a:t>
            </a:r>
            <a:r>
              <a:rPr lang="en-US" sz="2400" dirty="0" smtClean="0">
                <a:latin typeface="Times New Roman" pitchFamily="18" charset="0"/>
                <a:cs typeface="Times New Roman" pitchFamily="18" charset="0"/>
              </a:rPr>
              <a:t> neural net, the training input and the target output vectors are the same.</a:t>
            </a:r>
          </a:p>
          <a:p>
            <a:pPr algn="just"/>
            <a:r>
              <a:rPr lang="en-US" sz="2400" dirty="0" smtClean="0">
                <a:latin typeface="Times New Roman" pitchFamily="18" charset="0"/>
                <a:cs typeface="Times New Roman" pitchFamily="18" charset="0"/>
              </a:rPr>
              <a:t>The determination of  weights of the association net is called storing of vectors.</a:t>
            </a:r>
          </a:p>
          <a:p>
            <a:pPr algn="just"/>
            <a:r>
              <a:rPr lang="en-US" sz="2400" b="1" dirty="0" smtClean="0">
                <a:latin typeface="Times New Roman" pitchFamily="18" charset="0"/>
                <a:cs typeface="Times New Roman" pitchFamily="18" charset="0"/>
              </a:rPr>
              <a:t>Training algorithm</a:t>
            </a:r>
          </a:p>
          <a:p>
            <a:pPr algn="just">
              <a:buNone/>
            </a:pPr>
            <a:r>
              <a:rPr lang="en-US" sz="2400" b="1" dirty="0" smtClean="0">
                <a:latin typeface="Times New Roman" pitchFamily="18" charset="0"/>
                <a:cs typeface="Times New Roman" pitchFamily="18" charset="0"/>
              </a:rPr>
              <a:t>0: </a:t>
            </a:r>
            <a:r>
              <a:rPr lang="en-US" sz="2400" dirty="0" smtClean="0">
                <a:latin typeface="Times New Roman" pitchFamily="18" charset="0"/>
                <a:cs typeface="Times New Roman" pitchFamily="18" charset="0"/>
              </a:rPr>
              <a:t>Initialize all the weights to zero </a:t>
            </a:r>
            <a:r>
              <a:rPr lang="en-US" sz="2400"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 =0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=1 to n, j = 1 to n).</a:t>
            </a:r>
          </a:p>
          <a:p>
            <a:pPr algn="just">
              <a:buNone/>
            </a:pPr>
            <a:r>
              <a:rPr lang="en-US" sz="2400" b="1"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For each of the vector that has to be stored perform Step 2-4.</a:t>
            </a:r>
          </a:p>
          <a:p>
            <a:pPr algn="just">
              <a:buNone/>
            </a:pPr>
            <a:r>
              <a:rPr lang="en-US" sz="2400" b="1" dirty="0" smtClean="0">
                <a:latin typeface="Times New Roman" pitchFamily="18" charset="0"/>
                <a:cs typeface="Times New Roman" pitchFamily="18" charset="0"/>
              </a:rPr>
              <a:t>2: </a:t>
            </a:r>
            <a:r>
              <a:rPr lang="en-US" sz="2400" dirty="0" smtClean="0">
                <a:latin typeface="Times New Roman" pitchFamily="18" charset="0"/>
                <a:cs typeface="Times New Roman" pitchFamily="18" charset="0"/>
              </a:rPr>
              <a:t>Activate each of the input unit, xi = </a:t>
            </a:r>
            <a:r>
              <a:rPr lang="en-US" sz="2400" dirty="0" err="1" smtClean="0">
                <a:latin typeface="Times New Roman" pitchFamily="18" charset="0"/>
                <a:cs typeface="Times New Roman" pitchFamily="18" charset="0"/>
              </a:rPr>
              <a:t>si</a:t>
            </a:r>
            <a:endParaRPr lang="en-US" sz="2400" dirty="0" smtClean="0">
              <a:latin typeface="Times New Roman" pitchFamily="18" charset="0"/>
              <a:cs typeface="Times New Roman" pitchFamily="18" charset="0"/>
            </a:endParaRPr>
          </a:p>
          <a:p>
            <a:pPr algn="just">
              <a:buNone/>
            </a:pPr>
            <a:r>
              <a:rPr lang="en-US" sz="2400" b="1" dirty="0" smtClean="0">
                <a:latin typeface="Times New Roman" pitchFamily="18" charset="0"/>
                <a:cs typeface="Times New Roman" pitchFamily="18" charset="0"/>
              </a:rPr>
              <a:t>3: </a:t>
            </a:r>
            <a:r>
              <a:rPr lang="en-US" sz="2400" dirty="0" smtClean="0">
                <a:latin typeface="Times New Roman" pitchFamily="18" charset="0"/>
                <a:cs typeface="Times New Roman" pitchFamily="18" charset="0"/>
              </a:rPr>
              <a:t>Activate each of the output unit </a:t>
            </a:r>
            <a:r>
              <a:rPr lang="en-US" sz="2400" dirty="0" err="1" smtClean="0">
                <a:latin typeface="Times New Roman" pitchFamily="18" charset="0"/>
                <a:cs typeface="Times New Roman" pitchFamily="18" charset="0"/>
              </a:rPr>
              <a:t>yj</a:t>
            </a: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sj</a:t>
            </a:r>
            <a:endParaRPr lang="en-US" sz="2400" dirty="0" smtClean="0">
              <a:latin typeface="Times New Roman" pitchFamily="18" charset="0"/>
              <a:cs typeface="Times New Roman" pitchFamily="18" charset="0"/>
            </a:endParaRPr>
          </a:p>
          <a:p>
            <a:pPr algn="just">
              <a:buNone/>
            </a:pPr>
            <a:r>
              <a:rPr lang="en-US" sz="2400" b="1" dirty="0" smtClean="0">
                <a:latin typeface="Times New Roman" pitchFamily="18" charset="0"/>
                <a:cs typeface="Times New Roman" pitchFamily="18" charset="0"/>
              </a:rPr>
              <a:t>4: </a:t>
            </a:r>
            <a:r>
              <a:rPr lang="en-US" sz="2400" dirty="0" smtClean="0">
                <a:latin typeface="Times New Roman" pitchFamily="18" charset="0"/>
                <a:cs typeface="Times New Roman" pitchFamily="18" charset="0"/>
              </a:rPr>
              <a:t>Adjust the weights, </a:t>
            </a:r>
            <a:r>
              <a:rPr lang="en-US" sz="2400"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(new) = </a:t>
            </a:r>
            <a:r>
              <a:rPr lang="en-US" sz="2400" dirty="0" err="1" smtClean="0">
                <a:latin typeface="Times New Roman" pitchFamily="18" charset="0"/>
                <a:cs typeface="Times New Roman" pitchFamily="18" charset="0"/>
              </a:rPr>
              <a:t>w</a:t>
            </a:r>
            <a:r>
              <a:rPr lang="en-US" sz="2400" baseline="-25000" dirty="0" err="1" smtClean="0">
                <a:latin typeface="Times New Roman" pitchFamily="18" charset="0"/>
                <a:cs typeface="Times New Roman" pitchFamily="18" charset="0"/>
              </a:rPr>
              <a:t>ij</a:t>
            </a:r>
            <a:r>
              <a:rPr lang="en-US" sz="2400" dirty="0" smtClean="0">
                <a:latin typeface="Times New Roman" pitchFamily="18" charset="0"/>
                <a:cs typeface="Times New Roman" pitchFamily="18" charset="0"/>
              </a:rPr>
              <a:t>(old) +</a:t>
            </a:r>
            <a:r>
              <a:rPr lang="en-US" sz="2400" dirty="0" err="1" smtClean="0">
                <a:latin typeface="Times New Roman" pitchFamily="18" charset="0"/>
                <a:cs typeface="Times New Roman" pitchFamily="18" charset="0"/>
              </a:rPr>
              <a:t>x</a:t>
            </a:r>
            <a:r>
              <a:rPr lang="en-US" sz="2400" baseline="-25000" dirty="0" err="1" smtClean="0">
                <a:latin typeface="Times New Roman" pitchFamily="18" charset="0"/>
                <a:cs typeface="Times New Roman" pitchFamily="18" charset="0"/>
              </a:rPr>
              <a:t>i</a:t>
            </a:r>
            <a:r>
              <a:rPr lang="en-US" sz="2400" dirty="0" err="1" smtClean="0">
                <a:latin typeface="Times New Roman" pitchFamily="18" charset="0"/>
                <a:cs typeface="Times New Roman" pitchFamily="18" charset="0"/>
              </a:rPr>
              <a:t>y</a:t>
            </a:r>
            <a:r>
              <a:rPr lang="en-US" sz="2400" baseline="-25000" dirty="0" err="1" smtClean="0">
                <a:latin typeface="Times New Roman" pitchFamily="18" charset="0"/>
                <a:cs typeface="Times New Roman" pitchFamily="18" charset="0"/>
              </a:rPr>
              <a:t>j</a:t>
            </a:r>
            <a:endParaRPr lang="en-US" sz="2400" baseline="-25000" dirty="0" smtClean="0">
              <a:latin typeface="Times New Roman" pitchFamily="18" charset="0"/>
              <a:cs typeface="Times New Roman" pitchFamily="18" charset="0"/>
            </a:endParaRPr>
          </a:p>
          <a:p>
            <a:pPr algn="just">
              <a:buNone/>
            </a:pPr>
            <a:r>
              <a:rPr lang="en-US" sz="2400" b="1" baseline="-250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 The weight can also be determined by </a:t>
            </a:r>
            <a:endParaRPr lang="en-US" sz="2400" b="1" baseline="-250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graphicFrame>
        <p:nvGraphicFramePr>
          <p:cNvPr id="168962" name="Object 2"/>
          <p:cNvGraphicFramePr>
            <a:graphicFrameLocks noChangeAspect="1"/>
          </p:cNvGraphicFramePr>
          <p:nvPr/>
        </p:nvGraphicFramePr>
        <p:xfrm>
          <a:off x="2971800" y="5867400"/>
          <a:ext cx="3352800" cy="609600"/>
        </p:xfrm>
        <a:graphic>
          <a:graphicData uri="http://schemas.openxmlformats.org/presentationml/2006/ole">
            <p:oleObj spid="_x0000_s168962" name="Equation" r:id="rId3" imgW="1155600" imgH="457200" progId="Equation.3">
              <p:embed/>
            </p:oleObj>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8171688" cy="792162"/>
          </a:xfrm>
        </p:spPr>
        <p:txBody>
          <a:bodyPr>
            <a:normAutofit/>
          </a:bodyPr>
          <a:lstStyle/>
          <a:p>
            <a:r>
              <a:rPr lang="en-US" sz="3600" dirty="0" err="1" smtClean="0">
                <a:latin typeface="Times New Roman" pitchFamily="18" charset="0"/>
                <a:cs typeface="Times New Roman" pitchFamily="18" charset="0"/>
              </a:rPr>
              <a:t>Heteroassociative</a:t>
            </a:r>
            <a:r>
              <a:rPr lang="en-US" sz="3600" dirty="0" smtClean="0">
                <a:latin typeface="Times New Roman" pitchFamily="18" charset="0"/>
                <a:cs typeface="Times New Roman" pitchFamily="18" charset="0"/>
              </a:rPr>
              <a:t> Memory Network</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685800" y="914400"/>
            <a:ext cx="8247888" cy="5715000"/>
          </a:xfrm>
        </p:spPr>
        <p:txBody>
          <a:bodyPr>
            <a:normAutofit/>
          </a:bodyPr>
          <a:lstStyle/>
          <a:p>
            <a:pPr algn="just">
              <a:lnSpc>
                <a:spcPct val="150000"/>
              </a:lnSpc>
            </a:pPr>
            <a:r>
              <a:rPr lang="en-US" sz="2400" dirty="0" smtClean="0">
                <a:latin typeface="Times New Roman" pitchFamily="18" charset="0"/>
                <a:cs typeface="Times New Roman" pitchFamily="18" charset="0"/>
              </a:rPr>
              <a:t>In case of a </a:t>
            </a:r>
            <a:r>
              <a:rPr lang="en-US" sz="2400" dirty="0" err="1" smtClean="0">
                <a:latin typeface="Times New Roman" pitchFamily="18" charset="0"/>
                <a:cs typeface="Times New Roman" pitchFamily="18" charset="0"/>
              </a:rPr>
              <a:t>heteroassociative</a:t>
            </a:r>
            <a:r>
              <a:rPr lang="en-US" sz="2400" dirty="0" smtClean="0">
                <a:latin typeface="Times New Roman" pitchFamily="18" charset="0"/>
                <a:cs typeface="Times New Roman" pitchFamily="18" charset="0"/>
              </a:rPr>
              <a:t> neural net, the training input and the target output vector are different. </a:t>
            </a:r>
          </a:p>
          <a:p>
            <a:pPr algn="just">
              <a:lnSpc>
                <a:spcPct val="150000"/>
              </a:lnSpc>
            </a:pPr>
            <a:r>
              <a:rPr lang="en-US" sz="2400" dirty="0" smtClean="0">
                <a:latin typeface="Times New Roman" pitchFamily="18" charset="0"/>
                <a:cs typeface="Times New Roman" pitchFamily="18" charset="0"/>
              </a:rPr>
              <a:t>The weights are determined in a way that the net can store a set of pattern associations.</a:t>
            </a:r>
          </a:p>
          <a:p>
            <a:pPr algn="just">
              <a:lnSpc>
                <a:spcPct val="150000"/>
              </a:lnSpc>
            </a:pPr>
            <a:r>
              <a:rPr lang="en-US" sz="2400" dirty="0" smtClean="0">
                <a:latin typeface="Times New Roman" pitchFamily="18" charset="0"/>
                <a:cs typeface="Times New Roman" pitchFamily="18" charset="0"/>
              </a:rPr>
              <a:t>The association here is a pair of training input target output vector pairs (s(p), t(p)), with p=1,…..,p. Each vector s(p) has n components and each vectors t(p) has m components. </a:t>
            </a:r>
          </a:p>
          <a:p>
            <a:pPr algn="just">
              <a:lnSpc>
                <a:spcPct val="150000"/>
              </a:lnSpc>
            </a:pPr>
            <a:r>
              <a:rPr lang="en-US" sz="2400" dirty="0" smtClean="0">
                <a:latin typeface="Times New Roman" pitchFamily="18" charset="0"/>
                <a:cs typeface="Times New Roman" pitchFamily="18" charset="0"/>
              </a:rPr>
              <a:t>The determination of weights is done either by using </a:t>
            </a:r>
            <a:r>
              <a:rPr lang="en-US" sz="2400" dirty="0" err="1" smtClean="0">
                <a:latin typeface="Times New Roman" pitchFamily="18" charset="0"/>
                <a:cs typeface="Times New Roman" pitchFamily="18" charset="0"/>
              </a:rPr>
              <a:t>Hebb</a:t>
            </a:r>
            <a:r>
              <a:rPr lang="en-US" sz="2400" dirty="0" smtClean="0">
                <a:latin typeface="Times New Roman" pitchFamily="18" charset="0"/>
                <a:cs typeface="Times New Roman" pitchFamily="18" charset="0"/>
              </a:rPr>
              <a:t> rule or delta rule. </a:t>
            </a:r>
            <a:endParaRPr lang="en-US" sz="2400" dirty="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76200"/>
            <a:ext cx="8031480" cy="639762"/>
          </a:xfrm>
        </p:spPr>
        <p:txBody>
          <a:bodyPr>
            <a:noAutofit/>
          </a:bodyPr>
          <a:lstStyle/>
          <a:p>
            <a:r>
              <a:rPr lang="en-US" sz="3600" dirty="0" smtClean="0">
                <a:latin typeface="Times New Roman" pitchFamily="18" charset="0"/>
                <a:cs typeface="Times New Roman" pitchFamily="18" charset="0"/>
              </a:rPr>
              <a:t>Bidirectional Associative Memory (BAM)</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914400"/>
            <a:ext cx="8552688" cy="5638800"/>
          </a:xfrm>
        </p:spPr>
        <p:txBody>
          <a:bodyPr>
            <a:normAutofit/>
          </a:bodyPr>
          <a:lstStyle/>
          <a:p>
            <a:pPr algn="just">
              <a:lnSpc>
                <a:spcPct val="150000"/>
              </a:lnSpc>
            </a:pPr>
            <a:r>
              <a:rPr lang="en-US" sz="2400" dirty="0" smtClean="0">
                <a:latin typeface="Times New Roman" pitchFamily="18" charset="0"/>
                <a:cs typeface="Times New Roman" pitchFamily="18" charset="0"/>
              </a:rPr>
              <a:t>The BAM was developed by </a:t>
            </a:r>
            <a:r>
              <a:rPr lang="en-US" sz="2400" dirty="0" err="1" smtClean="0">
                <a:latin typeface="Times New Roman" pitchFamily="18" charset="0"/>
                <a:cs typeface="Times New Roman" pitchFamily="18" charset="0"/>
              </a:rPr>
              <a:t>Kosko</a:t>
            </a:r>
            <a:r>
              <a:rPr lang="en-US" sz="2400" dirty="0" smtClean="0">
                <a:latin typeface="Times New Roman" pitchFamily="18" charset="0"/>
                <a:cs typeface="Times New Roman" pitchFamily="18" charset="0"/>
              </a:rPr>
              <a:t> in the year 1988.</a:t>
            </a:r>
          </a:p>
          <a:p>
            <a:pPr algn="just">
              <a:lnSpc>
                <a:spcPct val="150000"/>
              </a:lnSpc>
            </a:pPr>
            <a:r>
              <a:rPr lang="en-US" sz="2400" dirty="0" smtClean="0">
                <a:latin typeface="Times New Roman" pitchFamily="18" charset="0"/>
                <a:cs typeface="Times New Roman" pitchFamily="18" charset="0"/>
              </a:rPr>
              <a:t>The BAM network performs forward and backward associative searches for stored stimulus responses.</a:t>
            </a:r>
          </a:p>
          <a:p>
            <a:pPr algn="just">
              <a:lnSpc>
                <a:spcPct val="150000"/>
              </a:lnSpc>
            </a:pPr>
            <a:r>
              <a:rPr lang="en-US" sz="2400" dirty="0" smtClean="0">
                <a:latin typeface="Times New Roman" pitchFamily="18" charset="0"/>
                <a:cs typeface="Times New Roman" pitchFamily="18" charset="0"/>
              </a:rPr>
              <a:t>The BAM is a recurrent </a:t>
            </a:r>
            <a:r>
              <a:rPr lang="en-US" sz="2400" dirty="0" err="1" smtClean="0">
                <a:latin typeface="Times New Roman" pitchFamily="18" charset="0"/>
                <a:cs typeface="Times New Roman" pitchFamily="18" charset="0"/>
              </a:rPr>
              <a:t>heteroassociative</a:t>
            </a:r>
            <a:r>
              <a:rPr lang="en-US" sz="2400" dirty="0" smtClean="0">
                <a:latin typeface="Times New Roman" pitchFamily="18" charset="0"/>
                <a:cs typeface="Times New Roman" pitchFamily="18" charset="0"/>
              </a:rPr>
              <a:t> pattern – matching network that encodes binary or bipolar patterns using </a:t>
            </a:r>
            <a:r>
              <a:rPr lang="en-US" sz="2400" dirty="0" err="1" smtClean="0">
                <a:latin typeface="Times New Roman" pitchFamily="18" charset="0"/>
                <a:cs typeface="Times New Roman" pitchFamily="18" charset="0"/>
              </a:rPr>
              <a:t>Hebbian</a:t>
            </a:r>
            <a:r>
              <a:rPr lang="en-US" sz="2400" dirty="0" smtClean="0">
                <a:latin typeface="Times New Roman" pitchFamily="18" charset="0"/>
                <a:cs typeface="Times New Roman" pitchFamily="18" charset="0"/>
              </a:rPr>
              <a:t> learning rule.</a:t>
            </a:r>
          </a:p>
          <a:p>
            <a:pPr algn="just">
              <a:lnSpc>
                <a:spcPct val="150000"/>
              </a:lnSpc>
            </a:pPr>
            <a:r>
              <a:rPr lang="en-US" sz="2400" dirty="0" smtClean="0">
                <a:latin typeface="Times New Roman" pitchFamily="18" charset="0"/>
                <a:cs typeface="Times New Roman" pitchFamily="18" charset="0"/>
              </a:rPr>
              <a:t>BAM neural nets can responds to input from either layers.</a:t>
            </a:r>
          </a:p>
          <a:p>
            <a:pPr algn="just">
              <a:lnSpc>
                <a:spcPct val="150000"/>
              </a:lnSpc>
            </a:pPr>
            <a:r>
              <a:rPr lang="en-US" sz="2400" dirty="0" smtClean="0">
                <a:latin typeface="Times New Roman" pitchFamily="18" charset="0"/>
                <a:cs typeface="Times New Roman" pitchFamily="18" charset="0"/>
              </a:rPr>
              <a:t>There exist two types of BAM called discrete and continuous BAM</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200"/>
            <a:ext cx="8095488" cy="762000"/>
          </a:xfrm>
        </p:spPr>
        <p:txBody>
          <a:bodyPr>
            <a:normAutofit/>
          </a:bodyPr>
          <a:lstStyle/>
          <a:p>
            <a:pPr algn="just"/>
            <a:r>
              <a:rPr lang="en-US" sz="3600" dirty="0" smtClean="0">
                <a:latin typeface="Times New Roman" pitchFamily="18" charset="0"/>
                <a:cs typeface="Times New Roman" pitchFamily="18" charset="0"/>
              </a:rPr>
              <a:t>Architecture of BAM</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476488" cy="5715000"/>
          </a:xfrm>
        </p:spPr>
        <p:txBody>
          <a:bodyPr>
            <a:normAutofit/>
          </a:bodyPr>
          <a:lstStyle/>
          <a:p>
            <a:pPr algn="just"/>
            <a:r>
              <a:rPr lang="en-US" sz="2400" dirty="0" smtClean="0">
                <a:latin typeface="Times New Roman" pitchFamily="18" charset="0"/>
                <a:cs typeface="Times New Roman" pitchFamily="18" charset="0"/>
              </a:rPr>
              <a:t>BAM consists of two layers of neurons which are connected by directed weighted path interconnections. The network dynamics involve two layers of interaction</a:t>
            </a:r>
            <a:r>
              <a:rPr lang="en-US"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The weights associated with the network are bidirectional.</a:t>
            </a:r>
          </a:p>
          <a:p>
            <a:pPr algn="just"/>
            <a:r>
              <a:rPr lang="en-US" sz="2400" b="1" dirty="0" smtClean="0">
                <a:latin typeface="Times New Roman" pitchFamily="18" charset="0"/>
                <a:cs typeface="Times New Roman" pitchFamily="18" charset="0"/>
              </a:rPr>
              <a:t>Discrete Bidirectional Associative Memory: </a:t>
            </a:r>
            <a:r>
              <a:rPr lang="en-US" sz="2400" dirty="0" smtClean="0">
                <a:latin typeface="Times New Roman" pitchFamily="18" charset="0"/>
                <a:cs typeface="Times New Roman" pitchFamily="18" charset="0"/>
              </a:rPr>
              <a:t>when </a:t>
            </a:r>
            <a:r>
              <a:rPr lang="en-US" sz="2400" smtClean="0">
                <a:latin typeface="Times New Roman" pitchFamily="18" charset="0"/>
                <a:cs typeface="Times New Roman" pitchFamily="18" charset="0"/>
              </a:rPr>
              <a:t>the memory </a:t>
            </a: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476488" cy="1143000"/>
          </a:xfrm>
        </p:spPr>
        <p:txBody>
          <a:bodyPr>
            <a:normAutofit/>
          </a:bodyPr>
          <a:lstStyle/>
          <a:p>
            <a:r>
              <a:rPr lang="en-US" sz="3600" dirty="0" smtClean="0">
                <a:effectLst>
                  <a:outerShdw blurRad="38100" dist="38100" dir="2700000" algn="tl">
                    <a:srgbClr val="000000">
                      <a:alpha val="43137"/>
                    </a:srgbClr>
                  </a:outerShdw>
                </a:effectLst>
                <a:latin typeface="Times New Roman" pitchFamily="18" charset="0"/>
                <a:cs typeface="Times New Roman" pitchFamily="18" charset="0"/>
              </a:rPr>
              <a:t>Basic model of Artificial Neural Network</a:t>
            </a:r>
            <a:endParaRPr lang="en-US" sz="36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609600" y="1143000"/>
            <a:ext cx="8458200" cy="4800600"/>
          </a:xfrm>
        </p:spPr>
        <p:txBody>
          <a:bodyPr>
            <a:normAutofit lnSpcReduction="10000"/>
          </a:bodyPr>
          <a:lstStyle/>
          <a:p>
            <a:pPr algn="just"/>
            <a:r>
              <a:rPr lang="en-US" sz="2400" dirty="0" smtClean="0"/>
              <a:t>How many stack are used for implementing the queue. </a:t>
            </a:r>
          </a:p>
          <a:p>
            <a:pPr algn="just"/>
            <a:r>
              <a:rPr lang="en-US" sz="2400" dirty="0" smtClean="0"/>
              <a:t>An evil king has a cellar containing n bottles of expensive wine, and his guards have just caught a spy trying to poison the </a:t>
            </a:r>
            <a:r>
              <a:rPr lang="en-US" sz="2400" dirty="0" err="1" smtClean="0"/>
              <a:t>king?s</a:t>
            </a:r>
            <a:r>
              <a:rPr lang="en-US" sz="2400" dirty="0" smtClean="0"/>
              <a:t> wine. Fortunately, the guards caught the spy after he succeeded in poisoning only one bottle. Unfortunately they </a:t>
            </a:r>
            <a:r>
              <a:rPr lang="en-US" sz="2400" dirty="0" err="1" smtClean="0"/>
              <a:t>don?t</a:t>
            </a:r>
            <a:r>
              <a:rPr lang="en-US" sz="2400" dirty="0" smtClean="0"/>
              <a:t> know which one. To make the matter worse the poison the spy used was very deadly. Just one drop diluted even to a billion will still kill someone. Even so, the poison works slowly. It takes a full month for the person to die. Design a scheme that allows the evil king to determine exactly which one of his wine bottles was poisoned in just one </a:t>
            </a:r>
            <a:r>
              <a:rPr lang="en-US" sz="2400" dirty="0" err="1" smtClean="0"/>
              <a:t>month?s</a:t>
            </a:r>
            <a:r>
              <a:rPr lang="en-US" sz="2400" dirty="0" smtClean="0"/>
              <a:t> time while expending at most O(</a:t>
            </a:r>
            <a:r>
              <a:rPr lang="en-US" sz="2400" dirty="0" err="1" smtClean="0"/>
              <a:t>logn</a:t>
            </a:r>
            <a:r>
              <a:rPr lang="en-US" sz="2400" dirty="0" smtClean="0"/>
              <a:t>) of his taste testers. First integer gives number of bottles and the sequence gives the number of taste testers who died.</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4131</TotalTime>
  <Words>6110</Words>
  <Application>Microsoft Office PowerPoint</Application>
  <PresentationFormat>On-screen Show (4:3)</PresentationFormat>
  <Paragraphs>591</Paragraphs>
  <Slides>63</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65" baseType="lpstr">
      <vt:lpstr>Solstice</vt:lpstr>
      <vt:lpstr>Equation</vt:lpstr>
      <vt:lpstr>SOFT COMPUTING </vt:lpstr>
      <vt:lpstr>Summary of Course </vt:lpstr>
      <vt:lpstr>What is Soft Computing</vt:lpstr>
      <vt:lpstr>What is Soft Computing</vt:lpstr>
      <vt:lpstr>What is Neural Network</vt:lpstr>
      <vt:lpstr>Neural Network</vt:lpstr>
      <vt:lpstr>Application of the neural network</vt:lpstr>
      <vt:lpstr>Model of An Artificial Neuron</vt:lpstr>
      <vt:lpstr>Model of An Artificial Neuron</vt:lpstr>
      <vt:lpstr>Evolution of the Neural network</vt:lpstr>
      <vt:lpstr>Evolution of the Neural network</vt:lpstr>
      <vt:lpstr>Brain vs. Computer</vt:lpstr>
      <vt:lpstr>Basic model of Artificial Neural Network</vt:lpstr>
      <vt:lpstr>Basic model of Artificial Neural Network</vt:lpstr>
      <vt:lpstr>Basic model of Artificial Neural Network</vt:lpstr>
      <vt:lpstr>Basic model of Artificial Neural Network</vt:lpstr>
      <vt:lpstr>Basic model of Artificial Neural Network</vt:lpstr>
      <vt:lpstr>Basic model of Artificial Neural Network</vt:lpstr>
      <vt:lpstr>Basic model of Artificial Neural Network</vt:lpstr>
      <vt:lpstr>Basic model of Artificial Neural Network</vt:lpstr>
      <vt:lpstr>Important Terminologies of ANNs</vt:lpstr>
      <vt:lpstr>Important Terminologies of ANNs</vt:lpstr>
      <vt:lpstr>McCulloch – Pitts Neuron</vt:lpstr>
      <vt:lpstr>McCulloch – Pitts Neuron</vt:lpstr>
      <vt:lpstr>McCulloch – Pitts Neuron</vt:lpstr>
      <vt:lpstr>McCulloch – Pitts Neuron</vt:lpstr>
      <vt:lpstr>Hebb Neural network</vt:lpstr>
      <vt:lpstr>Hebb Neural network</vt:lpstr>
      <vt:lpstr>Hebb Neural network</vt:lpstr>
      <vt:lpstr>Supervised learning network</vt:lpstr>
      <vt:lpstr>Perceptron Networks  </vt:lpstr>
      <vt:lpstr>Perceptron Networks  </vt:lpstr>
      <vt:lpstr>Perceptron Learning Rule  </vt:lpstr>
      <vt:lpstr>Perceptron Learning Rule  </vt:lpstr>
      <vt:lpstr>Perceptron training algorithm for single output classes</vt:lpstr>
      <vt:lpstr>Perceptron training algorithm for single output classes</vt:lpstr>
      <vt:lpstr>Perceptron training algorithm for single output classes</vt:lpstr>
      <vt:lpstr>Perceptron training algorithm for multiple output classes</vt:lpstr>
      <vt:lpstr>Perceptron training algorithm for multiple output classes</vt:lpstr>
      <vt:lpstr>Perceptron Network testing algorithm</vt:lpstr>
      <vt:lpstr>Adaptive Linear Neuron (Adaline)</vt:lpstr>
      <vt:lpstr>Delta Rule for Single Output Unit</vt:lpstr>
      <vt:lpstr>Training Algorithm</vt:lpstr>
      <vt:lpstr>Testing Algorithm</vt:lpstr>
      <vt:lpstr>Multiple Adaptive Linear Neurons (Madaline)</vt:lpstr>
      <vt:lpstr>Training Algorithm of Madaline</vt:lpstr>
      <vt:lpstr>Training Algorithm of Madaline</vt:lpstr>
      <vt:lpstr>Training Algorithm of Madaline</vt:lpstr>
      <vt:lpstr>Training Algorithm of Madaline</vt:lpstr>
      <vt:lpstr>Radial Basis Function network</vt:lpstr>
      <vt:lpstr>Training Algorithm</vt:lpstr>
      <vt:lpstr>Training Algorithm</vt:lpstr>
      <vt:lpstr>Back-propagation Network</vt:lpstr>
      <vt:lpstr>Training algorithm</vt:lpstr>
      <vt:lpstr>Training algorithm</vt:lpstr>
      <vt:lpstr>Training algorithm</vt:lpstr>
      <vt:lpstr>Associative memory Network</vt:lpstr>
      <vt:lpstr>Training Algorithms for pattern association</vt:lpstr>
      <vt:lpstr>Autoassociative Memory Network</vt:lpstr>
      <vt:lpstr>Heteroassociative Memory Network</vt:lpstr>
      <vt:lpstr>Bidirectional Associative Memory (BAM)</vt:lpstr>
      <vt:lpstr>Architecture of BAM</vt:lpstr>
      <vt:lpstr>Basic model of Artificial Neural Network</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 COMPUTING</dc:title>
  <dc:creator>Rahul</dc:creator>
  <cp:lastModifiedBy>Rahul</cp:lastModifiedBy>
  <cp:revision>90</cp:revision>
  <dcterms:created xsi:type="dcterms:W3CDTF">2015-01-02T17:29:53Z</dcterms:created>
  <dcterms:modified xsi:type="dcterms:W3CDTF">2015-04-19T16:06:55Z</dcterms:modified>
</cp:coreProperties>
</file>